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304" r:id="rId3"/>
    <p:sldId id="262" r:id="rId4"/>
    <p:sldId id="299" r:id="rId5"/>
    <p:sldId id="283" r:id="rId6"/>
    <p:sldId id="284" r:id="rId7"/>
    <p:sldId id="289" r:id="rId8"/>
    <p:sldId id="285" r:id="rId9"/>
    <p:sldId id="301" r:id="rId10"/>
    <p:sldId id="303" r:id="rId11"/>
    <p:sldId id="305" r:id="rId12"/>
    <p:sldId id="302" r:id="rId13"/>
    <p:sldId id="292" r:id="rId14"/>
    <p:sldId id="295" r:id="rId15"/>
    <p:sldId id="282" r:id="rId16"/>
    <p:sldId id="279" r:id="rId17"/>
    <p:sldId id="272" r:id="rId18"/>
    <p:sldId id="291" r:id="rId19"/>
    <p:sldId id="290" r:id="rId20"/>
    <p:sldId id="297" r:id="rId21"/>
    <p:sldId id="298" r:id="rId22"/>
    <p:sldId id="270"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FFFF"/>
    <a:srgbClr val="503D00"/>
    <a:srgbClr val="00CC00"/>
    <a:srgbClr val="37C945"/>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49" autoAdjust="0"/>
    <p:restoredTop sz="94660"/>
  </p:normalViewPr>
  <p:slideViewPr>
    <p:cSldViewPr snapToGrid="0">
      <p:cViewPr varScale="1">
        <p:scale>
          <a:sx n="74" d="100"/>
          <a:sy n="74" d="100"/>
        </p:scale>
        <p:origin x="58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BBEACE-9C07-46FA-850B-F70E3D40F971}"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1938929060"/>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BEACE-9C07-46FA-850B-F70E3D40F971}"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25797242"/>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4"/>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9"/>
            <a:ext cx="10515600" cy="1500187"/>
          </a:xfrm>
        </p:spPr>
        <p:txBody>
          <a:bodyPr/>
          <a:lstStyle>
            <a:lvl1pPr marL="0" indent="0">
              <a:buNone/>
              <a:defRPr sz="2400">
                <a:solidFill>
                  <a:schemeClr val="tx1">
                    <a:tint val="75000"/>
                  </a:schemeClr>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EBBEACE-9C07-46FA-850B-F70E3D40F971}"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70026748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BBEACE-9C07-46FA-850B-F70E3D40F971}" type="datetimeFigureOut">
              <a:rPr lang="en-US" smtClean="0"/>
              <a:t>9/21/2018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3414958445"/>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BBEACE-9C07-46FA-850B-F70E3D40F971}" type="datetimeFigureOut">
              <a:rPr lang="en-US" smtClean="0"/>
              <a:t>9/21/2018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1491812666"/>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BBEACE-9C07-46FA-850B-F70E3D40F971}" type="datetimeFigureOut">
              <a:rPr lang="en-US" smtClean="0"/>
              <a:t>9/21/2018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525778930"/>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BEACE-9C07-46FA-850B-F70E3D40F971}" type="datetimeFigureOut">
              <a:rPr lang="en-US" smtClean="0"/>
              <a:t>9/21/2018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2251857280"/>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1"/>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BBEACE-9C07-46FA-850B-F70E3D40F971}" type="datetimeFigureOut">
              <a:rPr lang="en-US" smtClean="0"/>
              <a:t>9/21/2018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3640398195"/>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31"/>
            <a:ext cx="6172200" cy="4873625"/>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EBBEACE-9C07-46FA-850B-F70E3D40F971}" type="datetimeFigureOut">
              <a:rPr lang="en-US" smtClean="0"/>
              <a:t>9/21/2018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3409666909"/>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BEACE-9C07-46FA-850B-F70E3D40F971}"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3125167063"/>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BEACE-9C07-46FA-850B-F70E3D40F971}"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6ADDF5-12BD-4C94-9588-4A4D65E7FE56}" type="slidenum">
              <a:rPr lang="en-US" smtClean="0"/>
              <a:t>‹#›</a:t>
            </a:fld>
            <a:endParaRPr lang="en-US"/>
          </a:p>
        </p:txBody>
      </p:sp>
    </p:spTree>
    <p:extLst>
      <p:ext uri="{BB962C8B-B14F-4D97-AF65-F5344CB8AC3E}">
        <p14:creationId xmlns:p14="http://schemas.microsoft.com/office/powerpoint/2010/main" val="207782668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6"/>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BEACE-9C07-46FA-850B-F70E3D40F971}" type="datetimeFigureOut">
              <a:rPr lang="en-US" smtClean="0"/>
              <a:t>9/21/2018</a:t>
            </a:fld>
            <a:endParaRPr lang="en-US"/>
          </a:p>
        </p:txBody>
      </p:sp>
      <p:sp>
        <p:nvSpPr>
          <p:cNvPr id="5" name="Footer Placeholder 4"/>
          <p:cNvSpPr>
            <a:spLocks noGrp="1"/>
          </p:cNvSpPr>
          <p:nvPr>
            <p:ph type="ftr" sz="quarter" idx="3"/>
          </p:nvPr>
        </p:nvSpPr>
        <p:spPr>
          <a:xfrm>
            <a:off x="4038600" y="6356356"/>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6ADDF5-12BD-4C94-9588-4A4D65E7FE56}" type="slidenum">
              <a:rPr lang="en-US" smtClean="0"/>
              <a:t>‹#›</a:t>
            </a:fld>
            <a:endParaRPr lang="en-US"/>
          </a:p>
        </p:txBody>
      </p:sp>
    </p:spTree>
    <p:extLst>
      <p:ext uri="{BB962C8B-B14F-4D97-AF65-F5344CB8AC3E}">
        <p14:creationId xmlns:p14="http://schemas.microsoft.com/office/powerpoint/2010/main" val="1126437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7505" y="-10541"/>
            <a:ext cx="10577947" cy="3118417"/>
          </a:xfrm>
          <a:solidFill>
            <a:srgbClr val="00CC00">
              <a:alpha val="0"/>
            </a:srgbClr>
          </a:solidFill>
        </p:spPr>
        <p:txBody>
          <a:bodyPr>
            <a:noAutofit/>
          </a:bodyPr>
          <a:lstStyle/>
          <a:p>
            <a:pPr>
              <a:lnSpc>
                <a:spcPct val="100000"/>
              </a:lnSpc>
              <a:spcAft>
                <a:spcPts val="1200"/>
              </a:spcAft>
            </a:pPr>
            <a:r>
              <a:rPr lang="en-GB" sz="4400" b="1" dirty="0">
                <a:solidFill>
                  <a:srgbClr val="00CC00"/>
                </a:solidFill>
                <a:latin typeface="Helvetica" panose="020B0604020202020204" pitchFamily="34" charset="0"/>
                <a:ea typeface="Tahoma" panose="020B0604030504040204" pitchFamily="34" charset="0"/>
                <a:cs typeface="Helvetica" panose="020B0604020202020204" pitchFamily="34" charset="0"/>
              </a:rPr>
              <a:t>APPLICATION OF FLOYD-WARSHAL’S ALGORITHM IN AIR FREIGHT SERVICES USING PYTHON.</a:t>
            </a:r>
            <a:br>
              <a:rPr lang="en-GB" sz="4400" b="1" dirty="0">
                <a:solidFill>
                  <a:srgbClr val="00CC00"/>
                </a:solidFill>
                <a:latin typeface="Helvetica" panose="020B0604020202020204" pitchFamily="34" charset="0"/>
                <a:ea typeface="Tahoma" panose="020B0604030504040204" pitchFamily="34" charset="0"/>
                <a:cs typeface="Helvetica" panose="020B0604020202020204" pitchFamily="34" charset="0"/>
              </a:rPr>
            </a:br>
            <a:r>
              <a:rPr lang="en-US" sz="4400" b="1" dirty="0">
                <a:solidFill>
                  <a:srgbClr val="00CC00"/>
                </a:solidFill>
                <a:latin typeface="Helvetica" panose="020B0604020202020204" pitchFamily="34" charset="0"/>
                <a:ea typeface="Tahoma" panose="020B0604030504040204" pitchFamily="34" charset="0"/>
                <a:cs typeface="Helvetica" panose="020B0604020202020204" pitchFamily="34" charset="0"/>
              </a:rPr>
              <a:t>PRESENTED</a:t>
            </a:r>
            <a:r>
              <a:rPr lang="en-US" sz="4000" b="1" dirty="0">
                <a:latin typeface="Helvetica" panose="020B0604020202020204" pitchFamily="34" charset="0"/>
                <a:ea typeface="Tahoma" panose="020B0604030504040204" pitchFamily="34" charset="0"/>
                <a:cs typeface="Helvetica" panose="020B0604020202020204" pitchFamily="34" charset="0"/>
              </a:rPr>
              <a:t> </a:t>
            </a:r>
            <a:r>
              <a:rPr lang="en-US" sz="3600" dirty="0">
                <a:solidFill>
                  <a:srgbClr val="00CC00"/>
                </a:solidFill>
                <a:latin typeface="Helvetica" panose="020B0604020202020204" pitchFamily="34" charset="0"/>
                <a:ea typeface="Tahoma" panose="020B0604030504040204" pitchFamily="34" charset="0"/>
                <a:cs typeface="Helvetica" panose="020B0604020202020204" pitchFamily="34" charset="0"/>
              </a:rPr>
              <a:t/>
            </a:r>
            <a:br>
              <a:rPr lang="en-US" sz="3600" dirty="0">
                <a:solidFill>
                  <a:srgbClr val="00CC00"/>
                </a:solidFill>
                <a:latin typeface="Helvetica" panose="020B0604020202020204" pitchFamily="34" charset="0"/>
                <a:ea typeface="Tahoma" panose="020B0604030504040204" pitchFamily="34" charset="0"/>
                <a:cs typeface="Helvetica" panose="020B0604020202020204" pitchFamily="34" charset="0"/>
              </a:rPr>
            </a:br>
            <a:r>
              <a:rPr lang="en-US" sz="2800" i="1" dirty="0">
                <a:solidFill>
                  <a:schemeClr val="accent4"/>
                </a:solidFill>
              </a:rPr>
              <a:t>By:</a:t>
            </a:r>
            <a:endParaRPr lang="en-US" sz="4400" i="1" dirty="0">
              <a:solidFill>
                <a:schemeClr val="accent4"/>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p:cNvSpPr>
            <a:spLocks noGrp="1"/>
          </p:cNvSpPr>
          <p:nvPr>
            <p:ph type="subTitle" idx="1"/>
          </p:nvPr>
        </p:nvSpPr>
        <p:spPr>
          <a:xfrm>
            <a:off x="-1" y="3107871"/>
            <a:ext cx="12192000" cy="1290637"/>
          </a:xfrm>
        </p:spPr>
        <p:txBody>
          <a:bodyPr>
            <a:normAutofit/>
          </a:bodyPr>
          <a:lstStyle/>
          <a:p>
            <a:pPr lvl="0"/>
            <a:r>
              <a:rPr lang="en-US" sz="4100" b="1" dirty="0" smtClean="0">
                <a:solidFill>
                  <a:srgbClr val="00CC00"/>
                </a:solidFill>
                <a:latin typeface="Helvetica" panose="020B0604020202020204" pitchFamily="34" charset="0"/>
                <a:ea typeface="Tahoma" panose="020B0604030504040204" pitchFamily="34" charset="0"/>
                <a:cs typeface="Helvetica" panose="020B0604020202020204" pitchFamily="34" charset="0"/>
              </a:rPr>
              <a:t>AYENI, OLARINDE LUCAS</a:t>
            </a:r>
            <a:endParaRPr lang="en-US" sz="3000" b="1" dirty="0" smtClean="0">
              <a:solidFill>
                <a:srgbClr val="00CC00"/>
              </a:solidFill>
              <a:latin typeface="Helvetica" panose="020B0604020202020204" pitchFamily="34" charset="0"/>
              <a:ea typeface="Tahoma" panose="020B0604030504040204" pitchFamily="34" charset="0"/>
              <a:cs typeface="Helvetica" panose="020B0604020202020204" pitchFamily="34" charset="0"/>
            </a:endParaRPr>
          </a:p>
          <a:p>
            <a:pPr lvl="0"/>
            <a:r>
              <a:rPr lang="en-US" sz="3000" b="1" dirty="0" smtClean="0">
                <a:solidFill>
                  <a:srgbClr val="00CC00"/>
                </a:solidFill>
                <a:latin typeface="Helvetica" panose="020B0604020202020204" pitchFamily="34" charset="0"/>
                <a:ea typeface="Tahoma" panose="020B0604030504040204" pitchFamily="34" charset="0"/>
                <a:cs typeface="Helvetica" panose="020B0604020202020204" pitchFamily="34" charset="0"/>
              </a:rPr>
              <a:t>Codename </a:t>
            </a:r>
            <a:r>
              <a:rPr lang="en-US" sz="3000" b="1" dirty="0" err="1" smtClean="0">
                <a:solidFill>
                  <a:srgbClr val="00CC00"/>
                </a:solidFill>
                <a:latin typeface="Helvetica" panose="020B0604020202020204" pitchFamily="34" charset="0"/>
                <a:ea typeface="Tahoma" panose="020B0604030504040204" pitchFamily="34" charset="0"/>
                <a:cs typeface="Helvetica" panose="020B0604020202020204" pitchFamily="34" charset="0"/>
              </a:rPr>
              <a:t>Vincode</a:t>
            </a:r>
            <a:endParaRPr lang="en-US" sz="4100" b="1" dirty="0">
              <a:solidFill>
                <a:srgbClr val="00CC00"/>
              </a:solidFill>
              <a:latin typeface="Helvetica" panose="020B0604020202020204" pitchFamily="34" charset="0"/>
              <a:ea typeface="Tahoma" panose="020B0604030504040204" pitchFamily="34" charset="0"/>
              <a:cs typeface="Helvetica" panose="020B0604020202020204" pitchFamily="34" charset="0"/>
            </a:endParaRPr>
          </a:p>
        </p:txBody>
      </p:sp>
      <p:sp>
        <p:nvSpPr>
          <p:cNvPr id="6" name="TextBox 5"/>
          <p:cNvSpPr txBox="1"/>
          <p:nvPr/>
        </p:nvSpPr>
        <p:spPr>
          <a:xfrm>
            <a:off x="30485" y="4414203"/>
            <a:ext cx="12131041" cy="1938992"/>
          </a:xfrm>
          <a:prstGeom prst="rect">
            <a:avLst/>
          </a:prstGeom>
          <a:noFill/>
        </p:spPr>
        <p:txBody>
          <a:bodyPr wrap="square" rtlCol="0">
            <a:spAutoFit/>
          </a:bodyPr>
          <a:lstStyle/>
          <a:p>
            <a:pPr algn="ctr"/>
            <a:r>
              <a:rPr lang="en-US" sz="4000" b="1" dirty="0" smtClean="0">
                <a:solidFill>
                  <a:srgbClr val="00CC00"/>
                </a:solidFill>
                <a:latin typeface="Helvetica" panose="020B0604020202020204" pitchFamily="34" charset="0"/>
                <a:ea typeface="Tahoma" panose="020B0604030504040204" pitchFamily="34" charset="0"/>
                <a:cs typeface="Helvetica" panose="020B0604020202020204" pitchFamily="34" charset="0"/>
              </a:rPr>
              <a:t> PYCON </a:t>
            </a:r>
            <a:r>
              <a:rPr lang="en-US" sz="4000" b="1" dirty="0">
                <a:solidFill>
                  <a:srgbClr val="00CC00"/>
                </a:solidFill>
                <a:latin typeface="Helvetica" panose="020B0604020202020204" pitchFamily="34" charset="0"/>
                <a:ea typeface="Tahoma" panose="020B0604030504040204" pitchFamily="34" charset="0"/>
                <a:cs typeface="Helvetica" panose="020B0604020202020204" pitchFamily="34" charset="0"/>
              </a:rPr>
              <a:t>NIGERIA </a:t>
            </a:r>
          </a:p>
          <a:p>
            <a:pPr algn="ctr"/>
            <a:r>
              <a:rPr lang="en-US" sz="4000" b="1" dirty="0">
                <a:solidFill>
                  <a:srgbClr val="00CC00"/>
                </a:solidFill>
                <a:latin typeface="Helvetica" panose="020B0604020202020204" pitchFamily="34" charset="0"/>
                <a:ea typeface="Tahoma" panose="020B0604030504040204" pitchFamily="34" charset="0"/>
                <a:cs typeface="Helvetica" panose="020B0604020202020204" pitchFamily="34" charset="0"/>
              </a:rPr>
              <a:t>PYCON,2018</a:t>
            </a:r>
          </a:p>
          <a:p>
            <a:pPr algn="ctr"/>
            <a:r>
              <a:rPr lang="en-US" sz="4000" b="1" dirty="0">
                <a:solidFill>
                  <a:srgbClr val="00CC00"/>
                </a:solidFill>
                <a:latin typeface="Helvetica" panose="020B0604020202020204" pitchFamily="34" charset="0"/>
                <a:ea typeface="Tahoma" panose="020B0604030504040204" pitchFamily="34" charset="0"/>
                <a:cs typeface="Helvetica" panose="020B0604020202020204" pitchFamily="34" charset="0"/>
              </a:rPr>
              <a:t>SEPTEMBER ,2018</a:t>
            </a:r>
            <a:endParaRPr lang="en-US" sz="4000" dirty="0">
              <a:solidFill>
                <a:srgbClr val="00CC00"/>
              </a:solidFill>
              <a:latin typeface="Helvetica" panose="020B0604020202020204" pitchFamily="34"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259098994"/>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circle(in)">
                                      <p:cBhvr>
                                        <p:cTn id="19" dur="500"/>
                                        <p:tgtEl>
                                          <p:spTgt spid="6">
                                            <p:txEl>
                                              <p:pRg st="0" end="0"/>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circle(in)">
                                      <p:cBhvr>
                                        <p:cTn id="22" dur="500"/>
                                        <p:tgtEl>
                                          <p:spTgt spid="6">
                                            <p:txEl>
                                              <p:pRg st="1" end="1"/>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circle(in)">
                                      <p:cBhvr>
                                        <p:cTn id="2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9744" y="169341"/>
            <a:ext cx="11302583" cy="6336390"/>
          </a:xfrm>
          <a:solidFill>
            <a:srgbClr val="00CC00">
              <a:alpha val="0"/>
            </a:srgbClr>
          </a:solidFill>
        </p:spPr>
        <p:txBody>
          <a:bodyPr>
            <a:noAutofit/>
          </a:bodyPr>
          <a:lstStyle/>
          <a:p>
            <a:pPr algn="l">
              <a:lnSpc>
                <a:spcPct val="100000"/>
              </a:lnSpc>
              <a:spcAft>
                <a:spcPts val="1200"/>
              </a:spcAft>
            </a:pPr>
            <a:r>
              <a:rPr lang="en-US" sz="3600" i="1" dirty="0" smtClean="0">
                <a:solidFill>
                  <a:srgbClr val="00FF00"/>
                </a:solidFill>
                <a:latin typeface="Tahoma" panose="020B0604030504040204" pitchFamily="34" charset="0"/>
                <a:ea typeface="Tahoma" panose="020B0604030504040204" pitchFamily="34" charset="0"/>
                <a:cs typeface="Tahoma" panose="020B0604030504040204" pitchFamily="34" charset="0"/>
              </a:rPr>
              <a:t>About me:</a:t>
            </a:r>
            <a:br>
              <a:rPr lang="en-US" sz="3600" i="1" dirty="0" smtClean="0">
                <a:solidFill>
                  <a:srgbClr val="00FF00"/>
                </a:solidFill>
                <a:latin typeface="Tahoma" panose="020B0604030504040204" pitchFamily="34" charset="0"/>
                <a:ea typeface="Tahoma" panose="020B0604030504040204" pitchFamily="34" charset="0"/>
                <a:cs typeface="Tahoma" panose="020B0604030504040204" pitchFamily="34" charset="0"/>
              </a:rPr>
            </a:br>
            <a:r>
              <a:rPr lang="en-US" sz="3600" i="1" dirty="0" smtClean="0">
                <a:solidFill>
                  <a:srgbClr val="00FF00"/>
                </a:solidFill>
                <a:latin typeface="Tahoma" panose="020B0604030504040204" pitchFamily="34" charset="0"/>
                <a:ea typeface="Tahoma" panose="020B0604030504040204" pitchFamily="34" charset="0"/>
                <a:cs typeface="Tahoma" panose="020B0604030504040204" pitchFamily="34" charset="0"/>
              </a:rPr>
              <a:t/>
            </a:r>
            <a:br>
              <a:rPr lang="en-US" sz="3600" i="1" dirty="0" smtClean="0">
                <a:solidFill>
                  <a:srgbClr val="00FF00"/>
                </a:solidFill>
                <a:latin typeface="Tahoma" panose="020B0604030504040204" pitchFamily="34" charset="0"/>
                <a:ea typeface="Tahoma" panose="020B0604030504040204" pitchFamily="34" charset="0"/>
                <a:cs typeface="Tahoma" panose="020B0604030504040204" pitchFamily="34" charset="0"/>
              </a:rPr>
            </a:br>
            <a:r>
              <a:rPr lang="en-GB" sz="3200" dirty="0" smtClean="0">
                <a:solidFill>
                  <a:srgbClr val="00FF00"/>
                </a:solidFill>
                <a:latin typeface="Tahoma" panose="020B0604030504040204" pitchFamily="34" charset="0"/>
                <a:ea typeface="Tahoma" panose="020B0604030504040204" pitchFamily="34" charset="0"/>
                <a:cs typeface="Tahoma" panose="020B0604030504040204" pitchFamily="34" charset="0"/>
              </a:rPr>
              <a:t>Software </a:t>
            </a: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Developer.</a:t>
            </a:r>
            <a:b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b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B.sc Computer Science @ Landmark University.</a:t>
            </a:r>
            <a:b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br>
            <a:r>
              <a:rPr lang="en-GB" sz="3200" dirty="0" smtClean="0">
                <a:solidFill>
                  <a:srgbClr val="00FF00"/>
                </a:solidFill>
                <a:latin typeface="Tahoma" panose="020B0604030504040204" pitchFamily="34" charset="0"/>
                <a:ea typeface="Tahoma" panose="020B0604030504040204" pitchFamily="34" charset="0"/>
                <a:cs typeface="Tahoma" panose="020B0604030504040204" pitchFamily="34" charset="0"/>
              </a:rPr>
              <a:t>A serving copper @ </a:t>
            </a:r>
            <a:r>
              <a:rPr lang="en-GB" sz="3200" dirty="0" err="1">
                <a:solidFill>
                  <a:srgbClr val="00FF00"/>
                </a:solidFill>
                <a:latin typeface="Tahoma" panose="020B0604030504040204" pitchFamily="34" charset="0"/>
                <a:ea typeface="Tahoma" panose="020B0604030504040204" pitchFamily="34" charset="0"/>
                <a:cs typeface="Tahoma" panose="020B0604030504040204" pitchFamily="34" charset="0"/>
              </a:rPr>
              <a:t>eket</a:t>
            </a: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 </a:t>
            </a:r>
            <a:r>
              <a:rPr lang="en-GB" sz="3200" dirty="0" err="1">
                <a:solidFill>
                  <a:srgbClr val="00FF00"/>
                </a:solidFill>
                <a:latin typeface="Tahoma" panose="020B0604030504040204" pitchFamily="34" charset="0"/>
                <a:ea typeface="Tahoma" panose="020B0604030504040204" pitchFamily="34" charset="0"/>
                <a:cs typeface="Tahoma" panose="020B0604030504040204" pitchFamily="34" charset="0"/>
              </a:rPr>
              <a:t>akwaibom</a:t>
            </a: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 state </a:t>
            </a:r>
            <a:b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b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
            </a:r>
            <a:b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b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Pioneer lecturer of the Department of Computer science in New Age College of Science and Technology </a:t>
            </a:r>
            <a:r>
              <a:rPr lang="en-GB" sz="3200" dirty="0" err="1">
                <a:solidFill>
                  <a:srgbClr val="00FF00"/>
                </a:solidFill>
                <a:latin typeface="Tahoma" panose="020B0604030504040204" pitchFamily="34" charset="0"/>
                <a:ea typeface="Tahoma" panose="020B0604030504040204" pitchFamily="34" charset="0"/>
                <a:cs typeface="Tahoma" panose="020B0604030504040204" pitchFamily="34" charset="0"/>
              </a:rPr>
              <a:t>Eket</a:t>
            </a: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 </a:t>
            </a:r>
            <a:b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b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Computer teacher in Girls High School, </a:t>
            </a:r>
            <a:r>
              <a:rPr lang="en-GB" sz="3200" dirty="0" err="1">
                <a:solidFill>
                  <a:srgbClr val="00FF00"/>
                </a:solidFill>
                <a:latin typeface="Tahoma" panose="020B0604030504040204" pitchFamily="34" charset="0"/>
                <a:ea typeface="Tahoma" panose="020B0604030504040204" pitchFamily="34" charset="0"/>
                <a:cs typeface="Tahoma" panose="020B0604030504040204" pitchFamily="34" charset="0"/>
              </a:rPr>
              <a:t>Eket</a:t>
            </a: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 </a:t>
            </a:r>
            <a:r>
              <a:rPr lang="en-GB" sz="3200" dirty="0" err="1">
                <a:solidFill>
                  <a:srgbClr val="00FF00"/>
                </a:solidFill>
                <a:latin typeface="Tahoma" panose="020B0604030504040204" pitchFamily="34" charset="0"/>
                <a:ea typeface="Tahoma" panose="020B0604030504040204" pitchFamily="34" charset="0"/>
                <a:cs typeface="Tahoma" panose="020B0604030504040204" pitchFamily="34" charset="0"/>
              </a:rPr>
              <a:t>Akwaibom</a:t>
            </a:r>
            <a:r>
              <a:rPr lang="en-GB" sz="3200" dirty="0">
                <a:solidFill>
                  <a:srgbClr val="00FF00"/>
                </a:solidFill>
                <a:latin typeface="Tahoma" panose="020B0604030504040204" pitchFamily="34" charset="0"/>
                <a:ea typeface="Tahoma" panose="020B0604030504040204" pitchFamily="34" charset="0"/>
                <a:cs typeface="Tahoma" panose="020B0604030504040204" pitchFamily="34" charset="0"/>
              </a:rPr>
              <a:t> State.(PPA</a:t>
            </a:r>
            <a:r>
              <a:rPr lang="en-GB" sz="3200" dirty="0" smtClean="0">
                <a:solidFill>
                  <a:srgbClr val="00FF00"/>
                </a:solidFill>
                <a:latin typeface="Tahoma" panose="020B0604030504040204" pitchFamily="34" charset="0"/>
                <a:ea typeface="Tahoma" panose="020B0604030504040204" pitchFamily="34" charset="0"/>
                <a:cs typeface="Tahoma" panose="020B0604030504040204" pitchFamily="34" charset="0"/>
              </a:rPr>
              <a:t>) phone: 07030779952 </a:t>
            </a:r>
            <a:endParaRPr lang="en-US" sz="3200" dirty="0">
              <a:solidFill>
                <a:srgbClr val="00FF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89993186"/>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6911" y="3008191"/>
            <a:ext cx="7483364" cy="3849809"/>
          </a:xfrm>
          <a:prstGeom prst="rect">
            <a:avLst/>
          </a:prstGeom>
        </p:spPr>
      </p:pic>
      <p:sp>
        <p:nvSpPr>
          <p:cNvPr id="3" name="Subtitle 2"/>
          <p:cNvSpPr>
            <a:spLocks noGrp="1"/>
          </p:cNvSpPr>
          <p:nvPr>
            <p:ph type="subTitle" idx="1"/>
          </p:nvPr>
        </p:nvSpPr>
        <p:spPr>
          <a:xfrm>
            <a:off x="-1726" y="1512917"/>
            <a:ext cx="12192000" cy="5673436"/>
          </a:xfrm>
        </p:spPr>
        <p:txBody>
          <a:bodyPr>
            <a:normAutofit/>
          </a:bodyPr>
          <a:lstStyle/>
          <a:p>
            <a:pPr marL="457178" indent="-457178" algn="l">
              <a:lnSpc>
                <a:spcPct val="100000"/>
              </a:lnSpc>
              <a:buFont typeface="Wingdings" panose="05000000000000000000" pitchFamily="2" charset="2"/>
              <a:buChar char="Ø"/>
            </a:pPr>
            <a:r>
              <a:rPr lang="en-GB" sz="3200" dirty="0">
                <a:solidFill>
                  <a:srgbClr val="00FF00"/>
                </a:solidFill>
                <a:latin typeface="Helvetica" panose="020B0604020202020204" pitchFamily="34" charset="0"/>
                <a:cs typeface="Helvetica" panose="020B0604020202020204" pitchFamily="34" charset="0"/>
              </a:rPr>
              <a:t>Freights can simply be referred </a:t>
            </a:r>
            <a:r>
              <a:rPr lang="en-GB" sz="3200" dirty="0" smtClean="0">
                <a:solidFill>
                  <a:srgbClr val="00FF00"/>
                </a:solidFill>
                <a:latin typeface="Helvetica" panose="020B0604020202020204" pitchFamily="34" charset="0"/>
                <a:cs typeface="Helvetica" panose="020B0604020202020204" pitchFamily="34" charset="0"/>
              </a:rPr>
              <a:t>to </a:t>
            </a:r>
            <a:r>
              <a:rPr lang="en-GB" sz="3200" dirty="0">
                <a:solidFill>
                  <a:srgbClr val="00FF00"/>
                </a:solidFill>
                <a:latin typeface="Helvetica" panose="020B0604020202020204" pitchFamily="34" charset="0"/>
                <a:cs typeface="Helvetica" panose="020B0604020202020204" pitchFamily="34" charset="0"/>
              </a:rPr>
              <a:t>as goods transported usually in bulk whether by ship, trains, trucks or aircraft. Air-freight: a system of transporting goods which can be commercial or non-commercial by aircraft</a:t>
            </a:r>
            <a:r>
              <a:rPr lang="en-GB" sz="3600" dirty="0" smtClean="0">
                <a:solidFill>
                  <a:srgbClr val="00FF00"/>
                </a:solidFill>
                <a:latin typeface="Helvetica" panose="020B0604020202020204" pitchFamily="34" charset="0"/>
                <a:cs typeface="Helvetica" panose="020B0604020202020204" pitchFamily="34" charset="0"/>
              </a:rPr>
              <a:t>.</a:t>
            </a:r>
            <a:endParaRPr lang="en-US" sz="3000" dirty="0">
              <a:solidFill>
                <a:srgbClr val="00FF00"/>
              </a:solidFill>
              <a:latin typeface="Helvetica" panose="020B0604020202020204" pitchFamily="34" charset="0"/>
              <a:cs typeface="Helvetica" panose="020B0604020202020204" pitchFamily="34" charset="0"/>
            </a:endParaRPr>
          </a:p>
          <a:p>
            <a:pPr lvl="0" algn="l"/>
            <a:endParaRPr lang="en-US" sz="3000" dirty="0">
              <a:solidFill>
                <a:srgbClr val="00CC0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6" y="228516"/>
            <a:ext cx="11751732" cy="938719"/>
          </a:xfrm>
          <a:prstGeom prst="rect">
            <a:avLst/>
          </a:prstGeom>
          <a:noFill/>
        </p:spPr>
        <p:txBody>
          <a:bodyPr wrap="square" rtlCol="0">
            <a:spAutoFit/>
          </a:bodyPr>
          <a:lstStyle/>
          <a:p>
            <a:r>
              <a:rPr lang="en-GB" sz="5500" b="1" dirty="0">
                <a:solidFill>
                  <a:srgbClr val="00FF00"/>
                </a:solidFill>
                <a:latin typeface="Rockwell" panose="02060603020205020403" pitchFamily="18" charset="0"/>
                <a:cs typeface="Helvetica" panose="020B0604020202020204" pitchFamily="34" charset="0"/>
              </a:rPr>
              <a:t>RELEVANCE OF THE STUDY</a:t>
            </a:r>
            <a:endParaRPr lang="en-US" sz="55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111868738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6" y="1512917"/>
            <a:ext cx="12192000" cy="5673436"/>
          </a:xfrm>
        </p:spPr>
        <p:txBody>
          <a:bodyPr>
            <a:normAutofit fontScale="85000" lnSpcReduction="20000"/>
          </a:bodyPr>
          <a:lstStyle/>
          <a:p>
            <a:pPr marL="457178" indent="-457178" algn="l">
              <a:lnSpc>
                <a:spcPct val="100000"/>
              </a:lnSpc>
              <a:buFont typeface="Wingdings" panose="05000000000000000000" pitchFamily="2" charset="2"/>
              <a:buChar char="Ø"/>
            </a:pPr>
            <a:r>
              <a:rPr lang="en-GB" sz="4300" dirty="0" smtClean="0">
                <a:solidFill>
                  <a:srgbClr val="00FF00"/>
                </a:solidFill>
                <a:latin typeface="Helvetica" panose="020B0604020202020204" pitchFamily="34" charset="0"/>
                <a:cs typeface="Helvetica" panose="020B0604020202020204" pitchFamily="34" charset="0"/>
              </a:rPr>
              <a:t>Air </a:t>
            </a:r>
            <a:r>
              <a:rPr lang="en-GB" sz="4300" dirty="0">
                <a:solidFill>
                  <a:srgbClr val="00FF00"/>
                </a:solidFill>
                <a:latin typeface="Helvetica" panose="020B0604020202020204" pitchFamily="34" charset="0"/>
                <a:cs typeface="Helvetica" panose="020B0604020202020204" pitchFamily="34" charset="0"/>
              </a:rPr>
              <a:t>freight services: Essential mode of transport for low density and relatively high-value commodities such as newspapers, parcels, perishable/short-lived products, precious metals and gemstones and low volume parcels. (BITRE, May 2014).</a:t>
            </a:r>
          </a:p>
          <a:p>
            <a:pPr marL="457178" indent="-457178" algn="l">
              <a:lnSpc>
                <a:spcPct val="100000"/>
              </a:lnSpc>
              <a:buFont typeface="Wingdings" panose="05000000000000000000" pitchFamily="2" charset="2"/>
              <a:buChar char="Ø"/>
            </a:pPr>
            <a:r>
              <a:rPr lang="en-GB" sz="4300" dirty="0">
                <a:solidFill>
                  <a:srgbClr val="00FF00"/>
                </a:solidFill>
                <a:latin typeface="Helvetica" panose="020B0604020202020204" pitchFamily="34" charset="0"/>
                <a:cs typeface="Helvetica" panose="020B0604020202020204" pitchFamily="34" charset="0"/>
              </a:rPr>
              <a:t>Advantages include: Fastest means of transportation, Quick deliver of time-sensitive and perishable goods to end buyers, Urgency  in  transporting some goods especially those for commercial purpose which are highly demanded by consumers will have no other better means of transport order than Air-Freight. </a:t>
            </a:r>
            <a:endParaRPr lang="en-US" sz="43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lvl="0" algn="l"/>
            <a:endParaRPr lang="en-US" sz="3000" dirty="0">
              <a:solidFill>
                <a:srgbClr val="00CC0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6" y="228516"/>
            <a:ext cx="11751732" cy="938719"/>
          </a:xfrm>
          <a:prstGeom prst="rect">
            <a:avLst/>
          </a:prstGeom>
          <a:noFill/>
        </p:spPr>
        <p:txBody>
          <a:bodyPr wrap="square" rtlCol="0">
            <a:spAutoFit/>
          </a:bodyPr>
          <a:lstStyle/>
          <a:p>
            <a:r>
              <a:rPr lang="en-GB" sz="5500" b="1" dirty="0">
                <a:solidFill>
                  <a:srgbClr val="00FF00"/>
                </a:solidFill>
                <a:latin typeface="Rockwell" panose="02060603020205020403" pitchFamily="18" charset="0"/>
                <a:cs typeface="Helvetica" panose="020B0604020202020204" pitchFamily="34" charset="0"/>
              </a:rPr>
              <a:t>RELEVANCE OF THE STUDY</a:t>
            </a:r>
            <a:endParaRPr lang="en-US" sz="55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1645025718"/>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69492"/>
            <a:ext cx="12190274" cy="5288507"/>
          </a:xfrm>
        </p:spPr>
        <p:txBody>
          <a:bodyPr>
            <a:normAutofit fontScale="92500" lnSpcReduction="10000"/>
          </a:bodyPr>
          <a:lstStyle/>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	</a:t>
            </a:r>
            <a:r>
              <a:rPr lang="en-GB" sz="4000" dirty="0">
                <a:solidFill>
                  <a:srgbClr val="00FF00"/>
                </a:solidFill>
                <a:latin typeface="Helvetica" panose="020B0604020202020204" pitchFamily="34" charset="0"/>
                <a:cs typeface="Helvetica" panose="020B0604020202020204" pitchFamily="34" charset="0"/>
              </a:rPr>
              <a:t>Aircraft can travel for a certain number of kilometres to deliver freight form one location to another. </a:t>
            </a:r>
          </a:p>
          <a:p>
            <a:pPr marL="457178" indent="-457178" algn="l">
              <a:lnSpc>
                <a:spcPct val="100000"/>
              </a:lnSpc>
              <a:buFont typeface="Wingdings" panose="05000000000000000000" pitchFamily="2" charset="2"/>
              <a:buChar char="Ø"/>
            </a:pPr>
            <a:r>
              <a:rPr lang="en-GB" sz="4000" dirty="0">
                <a:solidFill>
                  <a:srgbClr val="00FF00"/>
                </a:solidFill>
                <a:latin typeface="Helvetica" panose="020B0604020202020204" pitchFamily="34" charset="0"/>
                <a:cs typeface="Helvetica" panose="020B0604020202020204" pitchFamily="34" charset="0"/>
              </a:rPr>
              <a:t>    Higher Cost incurred due to frequent stop overs for refuelling when traveling long distance </a:t>
            </a:r>
          </a:p>
          <a:p>
            <a:pPr algn="l">
              <a:lnSpc>
                <a:spcPct val="100000"/>
              </a:lnSpc>
            </a:pPr>
            <a:endParaRPr lang="en-GB" sz="4000" dirty="0">
              <a:solidFill>
                <a:srgbClr val="00FF00"/>
              </a:solidFill>
              <a:latin typeface="Helvetica" panose="020B0604020202020204" pitchFamily="34" charset="0"/>
              <a:cs typeface="Helvetica" panose="020B0604020202020204" pitchFamily="34" charset="0"/>
            </a:endParaRPr>
          </a:p>
          <a:p>
            <a:pPr marL="457178" indent="-457178" algn="l">
              <a:lnSpc>
                <a:spcPct val="100000"/>
              </a:lnSpc>
              <a:buFont typeface="Wingdings" panose="05000000000000000000" pitchFamily="2" charset="2"/>
              <a:buChar char="Ø"/>
            </a:pPr>
            <a:r>
              <a:rPr lang="en-GB" sz="4000" dirty="0">
                <a:solidFill>
                  <a:srgbClr val="00FF00"/>
                </a:solidFill>
                <a:latin typeface="Helvetica" panose="020B0604020202020204" pitchFamily="34" charset="0"/>
                <a:cs typeface="Helvetica" panose="020B0604020202020204" pitchFamily="34" charset="0"/>
              </a:rPr>
              <a:t>    The problem however, is an optimization problem to cut down the distances travelled, minimized number of stops-over so as to optimize the time for delivery of time-sensitive goods and minimize the total cost.</a:t>
            </a:r>
          </a:p>
          <a:p>
            <a:pPr marL="457178" indent="-457178" algn="l">
              <a:lnSpc>
                <a:spcPct val="100000"/>
              </a:lnSpc>
              <a:buFont typeface="Wingdings" panose="05000000000000000000" pitchFamily="2" charset="2"/>
              <a:buChar char="Ø"/>
            </a:pPr>
            <a:endParaRPr lang="en-GB" sz="30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lvl="0" algn="l"/>
            <a:endParaRPr lang="en-US" sz="3000" dirty="0">
              <a:solidFill>
                <a:srgbClr val="00CC0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95536" y="282188"/>
            <a:ext cx="11163869" cy="1015663"/>
          </a:xfrm>
          <a:prstGeom prst="rect">
            <a:avLst/>
          </a:prstGeom>
          <a:noFill/>
        </p:spPr>
        <p:txBody>
          <a:bodyPr wrap="square" rtlCol="0">
            <a:spAutoFit/>
          </a:bodyPr>
          <a:lstStyle/>
          <a:p>
            <a:r>
              <a:rPr lang="en-GB" sz="6000" b="1" dirty="0">
                <a:solidFill>
                  <a:srgbClr val="00FF00"/>
                </a:solidFill>
                <a:latin typeface="Rockwell" panose="02060603020205020403" pitchFamily="18" charset="0"/>
                <a:cs typeface="Helvetica" panose="020B0604020202020204" pitchFamily="34" charset="0"/>
              </a:rPr>
              <a:t>CHALLENGES</a:t>
            </a:r>
            <a:r>
              <a:rPr lang="en-US" sz="60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rPr>
              <a:t>:</a:t>
            </a:r>
            <a:r>
              <a:rPr lang="en-US" sz="55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rPr>
              <a:t> </a:t>
            </a:r>
          </a:p>
        </p:txBody>
      </p:sp>
    </p:spTree>
    <p:extLst>
      <p:ext uri="{BB962C8B-B14F-4D97-AF65-F5344CB8AC3E}">
        <p14:creationId xmlns:p14="http://schemas.microsoft.com/office/powerpoint/2010/main" val="2946295308"/>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36512"/>
            <a:ext cx="12190274" cy="5521488"/>
          </a:xfrm>
        </p:spPr>
        <p:txBody>
          <a:bodyPr>
            <a:normAutofit/>
          </a:bodyPr>
          <a:lstStyle/>
          <a:p>
            <a:pPr algn="l">
              <a:lnSpc>
                <a:spcPct val="100000"/>
              </a:lnSpc>
            </a:pPr>
            <a:r>
              <a:rPr lang="en-GB" sz="3500" dirty="0">
                <a:solidFill>
                  <a:srgbClr val="00FF00"/>
                </a:solidFill>
                <a:latin typeface="Helvetica" panose="020B0604020202020204" pitchFamily="34" charset="0"/>
                <a:cs typeface="Helvetica" panose="020B0604020202020204" pitchFamily="34" charset="0"/>
              </a:rPr>
              <a:t>The main goal of this research work is to apply Floyd Warshall’s algorithm to air freight services and the objectives are to</a:t>
            </a:r>
            <a:r>
              <a:rPr lang="en-GB" sz="4000" dirty="0">
                <a:solidFill>
                  <a:srgbClr val="00FF00"/>
                </a:solidFill>
                <a:latin typeface="Helvetica" panose="020B0604020202020204" pitchFamily="34" charset="0"/>
                <a:cs typeface="Helvetica" panose="020B0604020202020204" pitchFamily="34" charset="0"/>
              </a:rPr>
              <a:t>:</a:t>
            </a:r>
          </a:p>
          <a:p>
            <a:pPr algn="l">
              <a:lnSpc>
                <a:spcPct val="100000"/>
              </a:lnSpc>
            </a:pPr>
            <a:endParaRPr lang="en-GB" sz="3500" dirty="0">
              <a:solidFill>
                <a:srgbClr val="00FF00"/>
              </a:solidFill>
              <a:latin typeface="Helvetica" panose="020B0604020202020204" pitchFamily="34" charset="0"/>
              <a:cs typeface="Helvetica" panose="020B0604020202020204" pitchFamily="34" charset="0"/>
            </a:endParaRPr>
          </a:p>
          <a:p>
            <a:pPr algn="l">
              <a:lnSpc>
                <a:spcPct val="100000"/>
              </a:lnSpc>
            </a:pPr>
            <a:r>
              <a:rPr lang="en-GB" sz="3500" dirty="0">
                <a:solidFill>
                  <a:srgbClr val="00FF00"/>
                </a:solidFill>
                <a:latin typeface="Helvetica" panose="020B0604020202020204" pitchFamily="34" charset="0"/>
                <a:cs typeface="Helvetica" panose="020B0604020202020204" pitchFamily="34" charset="0"/>
              </a:rPr>
              <a:t>   1. 	 Implement the Algorithm using PYTHON.</a:t>
            </a:r>
          </a:p>
          <a:p>
            <a:pPr algn="l">
              <a:lnSpc>
                <a:spcPct val="100000"/>
              </a:lnSpc>
            </a:pPr>
            <a:endParaRPr lang="en-GB" sz="3500" dirty="0">
              <a:solidFill>
                <a:srgbClr val="00FF00"/>
              </a:solidFill>
              <a:latin typeface="Helvetica" panose="020B0604020202020204" pitchFamily="34" charset="0"/>
              <a:cs typeface="Helvetica" panose="020B0604020202020204" pitchFamily="34" charset="0"/>
            </a:endParaRPr>
          </a:p>
          <a:p>
            <a:pPr algn="l">
              <a:lnSpc>
                <a:spcPct val="100000"/>
              </a:lnSpc>
            </a:pPr>
            <a:r>
              <a:rPr lang="en-GB" sz="3500" dirty="0">
                <a:solidFill>
                  <a:srgbClr val="00FF00"/>
                </a:solidFill>
                <a:latin typeface="Helvetica" panose="020B0604020202020204" pitchFamily="34" charset="0"/>
                <a:cs typeface="Helvetica" panose="020B0604020202020204" pitchFamily="34" charset="0"/>
              </a:rPr>
              <a:t>   2. Suggest optimal routes to minimize costs and save time.</a:t>
            </a:r>
          </a:p>
          <a:p>
            <a:pPr algn="l">
              <a:lnSpc>
                <a:spcPct val="100000"/>
              </a:lnSpc>
            </a:pPr>
            <a:endParaRPr lang="en-GB" sz="35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lvl="0" algn="l"/>
            <a:endParaRPr lang="en-US" sz="3000" dirty="0">
              <a:solidFill>
                <a:srgbClr val="00CC0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472440" y="145389"/>
            <a:ext cx="10317480" cy="1107996"/>
          </a:xfrm>
          <a:prstGeom prst="rect">
            <a:avLst/>
          </a:prstGeom>
          <a:noFill/>
        </p:spPr>
        <p:txBody>
          <a:bodyPr wrap="square" rtlCol="0">
            <a:spAutoFit/>
          </a:bodyPr>
          <a:lstStyle/>
          <a:p>
            <a:r>
              <a:rPr lang="en-GB" sz="6600" b="1" dirty="0">
                <a:solidFill>
                  <a:srgbClr val="00FF00"/>
                </a:solidFill>
                <a:latin typeface="Rockwell" panose="02060603020205020403" pitchFamily="18" charset="0"/>
                <a:cs typeface="Helvetica" panose="020B0604020202020204" pitchFamily="34" charset="0"/>
              </a:rPr>
              <a:t>TERGETS</a:t>
            </a:r>
            <a:r>
              <a:rPr lang="en-US" sz="60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rPr>
              <a:t>: </a:t>
            </a:r>
          </a:p>
        </p:txBody>
      </p:sp>
    </p:spTree>
    <p:extLst>
      <p:ext uri="{BB962C8B-B14F-4D97-AF65-F5344CB8AC3E}">
        <p14:creationId xmlns:p14="http://schemas.microsoft.com/office/powerpoint/2010/main" val="24613088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6" y="1476727"/>
            <a:ext cx="12192000" cy="5303520"/>
          </a:xfrm>
        </p:spPr>
        <p:txBody>
          <a:bodyPr>
            <a:noAutofit/>
          </a:bodyPr>
          <a:lstStyle/>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Intelligent navigation systems know the current location using GPS and guide cars along the shortest route to minimize travel time, distance, or fuel and energy consumption. Some of these systems also react to changing traffic conditions and, in the future, cars may communicate with each other and negotiate routes to regulate the overall traffic flow and manage congestion. The end users are often interested in trip planning, which means that they want to know the distance and the shortest, cheapest, or most reliable path between two specific points. (C </a:t>
            </a:r>
            <a:r>
              <a:rPr lang="en-GB" sz="3000" dirty="0" err="1">
                <a:solidFill>
                  <a:srgbClr val="00FF00"/>
                </a:solidFill>
                <a:latin typeface="Helvetica" panose="020B0604020202020204" pitchFamily="34" charset="0"/>
                <a:cs typeface="Helvetica" panose="020B0604020202020204" pitchFamily="34" charset="0"/>
              </a:rPr>
              <a:t>Sommer</a:t>
            </a:r>
            <a:r>
              <a:rPr lang="en-GB" sz="3000" dirty="0">
                <a:solidFill>
                  <a:srgbClr val="00FF00"/>
                </a:solidFill>
                <a:latin typeface="Helvetica" panose="020B0604020202020204" pitchFamily="34" charset="0"/>
                <a:cs typeface="Helvetica" panose="020B0604020202020204" pitchFamily="34" charset="0"/>
              </a:rPr>
              <a:t>, 2010)</a:t>
            </a:r>
          </a:p>
        </p:txBody>
      </p:sp>
      <p:sp>
        <p:nvSpPr>
          <p:cNvPr id="12" name="TextBox 11"/>
          <p:cNvSpPr txBox="1"/>
          <p:nvPr/>
        </p:nvSpPr>
        <p:spPr>
          <a:xfrm>
            <a:off x="-1726" y="153288"/>
            <a:ext cx="10123626" cy="923330"/>
          </a:xfrm>
          <a:prstGeom prst="rect">
            <a:avLst/>
          </a:prstGeom>
          <a:solidFill>
            <a:srgbClr val="503D00"/>
          </a:solidFill>
        </p:spPr>
        <p:txBody>
          <a:bodyPr wrap="square" rtlCol="0">
            <a:spAutoFit/>
          </a:bodyPr>
          <a:lstStyle/>
          <a:p>
            <a:pPr algn="ctr"/>
            <a:r>
              <a:rPr lang="en-US" sz="5400" b="1" cap="all" spc="51" dirty="0">
                <a:solidFill>
                  <a:srgbClr val="00FF00"/>
                </a:solidFill>
                <a:latin typeface="Rockwell" panose="02060603020205020403" pitchFamily="18" charset="0"/>
                <a:ea typeface="Tahoma" panose="020B0604030504040204" pitchFamily="34" charset="0"/>
                <a:cs typeface="Helvetica" panose="020B0604020202020204" pitchFamily="34" charset="0"/>
              </a:rPr>
              <a:t>ADDITIONAL INFO</a:t>
            </a:r>
          </a:p>
        </p:txBody>
      </p:sp>
    </p:spTree>
    <p:extLst>
      <p:ext uri="{BB962C8B-B14F-4D97-AF65-F5344CB8AC3E}">
        <p14:creationId xmlns:p14="http://schemas.microsoft.com/office/powerpoint/2010/main" val="2020706427"/>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72440" y="228520"/>
            <a:ext cx="10317480" cy="1323439"/>
          </a:xfrm>
          <a:prstGeom prst="rect">
            <a:avLst/>
          </a:prstGeom>
          <a:noFill/>
        </p:spPr>
        <p:txBody>
          <a:bodyPr wrap="square" rtlCol="0">
            <a:spAutoFit/>
          </a:bodyPr>
          <a:lstStyle/>
          <a:p>
            <a:r>
              <a:rPr lang="en-GB" sz="4800" dirty="0">
                <a:solidFill>
                  <a:srgbClr val="00FF00"/>
                </a:solidFill>
                <a:latin typeface="Rockwell" panose="02060603020205020403" pitchFamily="18" charset="0"/>
                <a:cs typeface="Helvetica" panose="020B0604020202020204" pitchFamily="34" charset="0"/>
              </a:rPr>
              <a:t>	Shortest Path Problem: </a:t>
            </a:r>
          </a:p>
          <a:p>
            <a:r>
              <a:rPr lang="en-GB" sz="3200" dirty="0">
                <a:solidFill>
                  <a:srgbClr val="00FF00"/>
                </a:solidFill>
                <a:latin typeface="Rockwell" panose="02060603020205020403" pitchFamily="18" charset="0"/>
                <a:cs typeface="Helvetica" panose="020B0604020202020204" pitchFamily="34" charset="0"/>
              </a:rPr>
              <a:t>Shortest Path Problems are Graph problem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 y="1551959"/>
            <a:ext cx="11469859" cy="5009925"/>
          </a:xfrm>
          <a:prstGeom prst="rect">
            <a:avLst/>
          </a:prstGeom>
        </p:spPr>
      </p:pic>
    </p:spTree>
    <p:extLst>
      <p:ext uri="{BB962C8B-B14F-4D97-AF65-F5344CB8AC3E}">
        <p14:creationId xmlns:p14="http://schemas.microsoft.com/office/powerpoint/2010/main" val="1161893180"/>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72440" y="228520"/>
            <a:ext cx="10317480" cy="1323439"/>
          </a:xfrm>
          <a:prstGeom prst="rect">
            <a:avLst/>
          </a:prstGeom>
          <a:noFill/>
        </p:spPr>
        <p:txBody>
          <a:bodyPr wrap="square" rtlCol="0">
            <a:spAutoFit/>
          </a:bodyPr>
          <a:lstStyle/>
          <a:p>
            <a:r>
              <a:rPr lang="en-GB" sz="4800" dirty="0">
                <a:solidFill>
                  <a:srgbClr val="00FF00"/>
                </a:solidFill>
                <a:latin typeface="Rockwell" panose="02060603020205020403" pitchFamily="18" charset="0"/>
                <a:cs typeface="Helvetica" panose="020B0604020202020204" pitchFamily="34" charset="0"/>
              </a:rPr>
              <a:t>	Shortest Path Problem: </a:t>
            </a:r>
          </a:p>
          <a:p>
            <a:r>
              <a:rPr lang="en-GB" sz="3200" dirty="0">
                <a:solidFill>
                  <a:srgbClr val="00FF00"/>
                </a:solidFill>
                <a:latin typeface="Rockwell" panose="02060603020205020403" pitchFamily="18" charset="0"/>
                <a:cs typeface="Helvetica" panose="020B0604020202020204" pitchFamily="34" charset="0"/>
              </a:rPr>
              <a:t>Shortest Path Problems are Graph problem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 y="1472843"/>
            <a:ext cx="10845134" cy="5203566"/>
          </a:xfrm>
          <a:prstGeom prst="rect">
            <a:avLst/>
          </a:prstGeom>
        </p:spPr>
      </p:pic>
    </p:spTree>
    <p:extLst>
      <p:ext uri="{BB962C8B-B14F-4D97-AF65-F5344CB8AC3E}">
        <p14:creationId xmlns:p14="http://schemas.microsoft.com/office/powerpoint/2010/main" val="1472997403"/>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72440" y="228520"/>
            <a:ext cx="10317480" cy="1323439"/>
          </a:xfrm>
          <a:prstGeom prst="rect">
            <a:avLst/>
          </a:prstGeom>
          <a:noFill/>
        </p:spPr>
        <p:txBody>
          <a:bodyPr wrap="square" rtlCol="0">
            <a:spAutoFit/>
          </a:bodyPr>
          <a:lstStyle/>
          <a:p>
            <a:r>
              <a:rPr lang="en-GB" sz="4800" dirty="0">
                <a:solidFill>
                  <a:srgbClr val="00FF00"/>
                </a:solidFill>
                <a:latin typeface="Rockwell" panose="02060603020205020403" pitchFamily="18" charset="0"/>
                <a:cs typeface="Helvetica" panose="020B0604020202020204" pitchFamily="34" charset="0"/>
              </a:rPr>
              <a:t>	Shortest Path Problem: </a:t>
            </a:r>
          </a:p>
          <a:p>
            <a:r>
              <a:rPr lang="en-GB" sz="3200" dirty="0">
                <a:solidFill>
                  <a:srgbClr val="00FF00"/>
                </a:solidFill>
                <a:latin typeface="Rockwell" panose="02060603020205020403" pitchFamily="18" charset="0"/>
                <a:cs typeface="Helvetica" panose="020B0604020202020204" pitchFamily="34" charset="0"/>
              </a:rPr>
              <a:t>Shortest Path Problems are Graph problem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 y="1551959"/>
            <a:ext cx="11204897" cy="4968762"/>
          </a:xfrm>
          <a:prstGeom prst="rect">
            <a:avLst/>
          </a:prstGeom>
        </p:spPr>
      </p:pic>
    </p:spTree>
    <p:extLst>
      <p:ext uri="{BB962C8B-B14F-4D97-AF65-F5344CB8AC3E}">
        <p14:creationId xmlns:p14="http://schemas.microsoft.com/office/powerpoint/2010/main" val="288250220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72440" y="228520"/>
            <a:ext cx="10317480" cy="1323439"/>
          </a:xfrm>
          <a:prstGeom prst="rect">
            <a:avLst/>
          </a:prstGeom>
          <a:noFill/>
        </p:spPr>
        <p:txBody>
          <a:bodyPr wrap="square" rtlCol="0">
            <a:spAutoFit/>
          </a:bodyPr>
          <a:lstStyle/>
          <a:p>
            <a:r>
              <a:rPr lang="en-GB" sz="4800" dirty="0">
                <a:solidFill>
                  <a:srgbClr val="00FF00"/>
                </a:solidFill>
                <a:latin typeface="Rockwell" panose="02060603020205020403" pitchFamily="18" charset="0"/>
                <a:cs typeface="Helvetica" panose="020B0604020202020204" pitchFamily="34" charset="0"/>
              </a:rPr>
              <a:t>	Shortest Path Problem: </a:t>
            </a:r>
          </a:p>
          <a:p>
            <a:r>
              <a:rPr lang="en-GB" sz="3200" dirty="0">
                <a:solidFill>
                  <a:srgbClr val="00FF00"/>
                </a:solidFill>
                <a:latin typeface="Rockwell" panose="02060603020205020403" pitchFamily="18" charset="0"/>
                <a:cs typeface="Helvetica" panose="020B0604020202020204" pitchFamily="34" charset="0"/>
              </a:rPr>
              <a:t>Shortest Path Problems are Graph problem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460" y="1551958"/>
            <a:ext cx="10246459" cy="5306041"/>
          </a:xfrm>
          <a:prstGeom prst="rect">
            <a:avLst/>
          </a:prstGeom>
        </p:spPr>
      </p:pic>
    </p:spTree>
    <p:extLst>
      <p:ext uri="{BB962C8B-B14F-4D97-AF65-F5344CB8AC3E}">
        <p14:creationId xmlns:p14="http://schemas.microsoft.com/office/powerpoint/2010/main" val="1649986878"/>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7" y="1727200"/>
            <a:ext cx="12190275" cy="6248400"/>
          </a:xfrm>
        </p:spPr>
        <p:txBody>
          <a:bodyPr>
            <a:normAutofit/>
          </a:bodyPr>
          <a:lstStyle/>
          <a:p>
            <a:pPr marL="457178" indent="-457178" algn="l">
              <a:lnSpc>
                <a:spcPct val="100000"/>
              </a:lnSpc>
              <a:buFont typeface="Wingdings" panose="05000000000000000000" pitchFamily="2" charset="2"/>
              <a:buChar char="Ø"/>
            </a:pPr>
            <a:r>
              <a:rPr lang="en-US" sz="3000" dirty="0">
                <a:solidFill>
                  <a:srgbClr val="00FF00"/>
                </a:solidFill>
                <a:latin typeface="Helvetica" panose="020B0604020202020204" pitchFamily="34" charset="0"/>
                <a:cs typeface="Helvetica" panose="020B0604020202020204" pitchFamily="34" charset="0"/>
              </a:rPr>
              <a:t>The </a:t>
            </a:r>
            <a:r>
              <a:rPr lang="en-GB" sz="3000" dirty="0">
                <a:solidFill>
                  <a:srgbClr val="00FF00"/>
                </a:solidFill>
                <a:latin typeface="Helvetica" panose="020B0604020202020204" pitchFamily="34" charset="0"/>
                <a:cs typeface="Helvetica" panose="020B0604020202020204" pitchFamily="34" charset="0"/>
              </a:rPr>
              <a:t>Suppose we are given a directed graph G=(V,E) and a weight function w: E-&gt;R. We assume that G does not contain cycles of weight 0 or less. </a:t>
            </a:r>
          </a:p>
          <a:p>
            <a:pPr algn="l">
              <a:lnSpc>
                <a:spcPct val="100000"/>
              </a:lnSpc>
            </a:pPr>
            <a:endParaRPr lang="en-GB" sz="3000" dirty="0">
              <a:solidFill>
                <a:srgbClr val="00FF00"/>
              </a:solidFill>
              <a:latin typeface="Helvetica" panose="020B0604020202020204" pitchFamily="34" charset="0"/>
              <a:cs typeface="Helvetica" panose="020B0604020202020204" pitchFamily="34" charset="0"/>
            </a:endParaRPr>
          </a:p>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The All-Pairs Shortest Path Problem asks to find the length of the shortest path between any pair of vertices in G.</a:t>
            </a:r>
          </a:p>
          <a:p>
            <a:pPr algn="l">
              <a:lnSpc>
                <a:spcPct val="100000"/>
              </a:lnSpc>
            </a:pPr>
            <a:endParaRPr lang="en-GB" sz="3000" dirty="0">
              <a:solidFill>
                <a:srgbClr val="00FF00"/>
              </a:solidFill>
              <a:latin typeface="Helvetica" panose="020B0604020202020204" pitchFamily="34" charset="0"/>
              <a:cs typeface="Helvetica" panose="020B0604020202020204" pitchFamily="34" charset="0"/>
            </a:endParaRPr>
          </a:p>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This yields an O(n3) algorithm on graphs with N vertices</a:t>
            </a:r>
            <a:endParaRPr lang="en-US" sz="30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lvl="0" algn="l"/>
            <a:endParaRPr lang="en-US" sz="3000" dirty="0">
              <a:solidFill>
                <a:srgbClr val="00CC0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472440" y="228520"/>
            <a:ext cx="10317480" cy="1323439"/>
          </a:xfrm>
          <a:prstGeom prst="rect">
            <a:avLst/>
          </a:prstGeom>
          <a:noFill/>
        </p:spPr>
        <p:txBody>
          <a:bodyPr wrap="square" rtlCol="0">
            <a:spAutoFit/>
          </a:bodyPr>
          <a:lstStyle/>
          <a:p>
            <a:r>
              <a:rPr lang="en-GB" sz="4800" dirty="0">
                <a:solidFill>
                  <a:srgbClr val="00FF00"/>
                </a:solidFill>
                <a:latin typeface="Rockwell" panose="02060603020205020403" pitchFamily="18" charset="0"/>
                <a:cs typeface="Helvetica" panose="020B0604020202020204" pitchFamily="34" charset="0"/>
              </a:rPr>
              <a:t>	Shortest Path Problem: </a:t>
            </a:r>
          </a:p>
          <a:p>
            <a:r>
              <a:rPr lang="en-GB" sz="3200" dirty="0">
                <a:solidFill>
                  <a:srgbClr val="00FF00"/>
                </a:solidFill>
                <a:latin typeface="Rockwell" panose="02060603020205020403" pitchFamily="18" charset="0"/>
                <a:cs typeface="Helvetica" panose="020B0604020202020204" pitchFamily="34" charset="0"/>
              </a:rPr>
              <a:t>Shortest Path Problems are Graph problem</a:t>
            </a:r>
          </a:p>
        </p:txBody>
      </p:sp>
    </p:spTree>
    <p:extLst>
      <p:ext uri="{BB962C8B-B14F-4D97-AF65-F5344CB8AC3E}">
        <p14:creationId xmlns:p14="http://schemas.microsoft.com/office/powerpoint/2010/main" val="123372625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
            <a:ext cx="12192000" cy="1085849"/>
          </a:xfrm>
        </p:spPr>
        <p:txBody>
          <a:bodyPr>
            <a:normAutofit/>
          </a:bodyPr>
          <a:lstStyle/>
          <a:p>
            <a:r>
              <a:rPr lang="en-US" sz="5400" dirty="0">
                <a:solidFill>
                  <a:srgbClr val="00FF00"/>
                </a:solidFill>
                <a:latin typeface="Rockwell" panose="02060603020205020403" pitchFamily="18" charset="0"/>
              </a:rPr>
              <a:t>Graph:</a:t>
            </a:r>
            <a:endParaRPr lang="en-GB" sz="5400" dirty="0">
              <a:solidFill>
                <a:srgbClr val="00FF00"/>
              </a:solidFill>
              <a:latin typeface="Rockwell" panose="02060603020205020403" pitchFamily="18" charset="0"/>
            </a:endParaRPr>
          </a:p>
        </p:txBody>
      </p:sp>
      <p:sp>
        <p:nvSpPr>
          <p:cNvPr id="15" name="Title 1"/>
          <p:cNvSpPr txBox="1">
            <a:spLocks/>
          </p:cNvSpPr>
          <p:nvPr/>
        </p:nvSpPr>
        <p:spPr>
          <a:xfrm>
            <a:off x="0" y="1162053"/>
            <a:ext cx="12192000" cy="52482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dirty="0"/>
          </a:p>
        </p:txBody>
      </p:sp>
      <p:sp>
        <p:nvSpPr>
          <p:cNvPr id="16" name="Title 1"/>
          <p:cNvSpPr txBox="1">
            <a:spLocks/>
          </p:cNvSpPr>
          <p:nvPr/>
        </p:nvSpPr>
        <p:spPr>
          <a:xfrm>
            <a:off x="152400" y="152408"/>
            <a:ext cx="12192000" cy="64960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dirty="0"/>
          </a:p>
        </p:txBody>
      </p:sp>
      <p:pic>
        <p:nvPicPr>
          <p:cNvPr id="23" name="Picture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 y="847315"/>
            <a:ext cx="4455641" cy="2724560"/>
          </a:xfrm>
          <a:prstGeom prst="rect">
            <a:avLst/>
          </a:prstGeom>
          <a:ln>
            <a:noFill/>
          </a:ln>
          <a:effectLst>
            <a:softEdge rad="112500"/>
          </a:effectLst>
        </p:spPr>
      </p:pic>
      <p:pic>
        <p:nvPicPr>
          <p:cNvPr id="24" name="Pictur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5644" y="771122"/>
            <a:ext cx="4076701" cy="2627681"/>
          </a:xfrm>
          <a:prstGeom prst="rect">
            <a:avLst/>
          </a:prstGeom>
          <a:ln>
            <a:noFill/>
          </a:ln>
          <a:effectLst>
            <a:softEdge rad="112500"/>
          </a:effectLst>
        </p:spPr>
      </p:pic>
      <p:pic>
        <p:nvPicPr>
          <p:cNvPr id="25" name="Picture 24"/>
          <p:cNvPicPr>
            <a:picLocks noChangeAspect="1"/>
          </p:cNvPicPr>
          <p:nvPr/>
        </p:nvPicPr>
        <p:blipFill rotWithShape="1">
          <a:blip r:embed="rId4" cstate="print">
            <a:extLst>
              <a:ext uri="{28A0092B-C50C-407E-A947-70E740481C1C}">
                <a14:useLocalDpi xmlns:a14="http://schemas.microsoft.com/office/drawing/2010/main" val="0"/>
              </a:ext>
            </a:extLst>
          </a:blip>
          <a:srcRect l="428" t="-761" r="18292" b="16586"/>
          <a:stretch/>
        </p:blipFill>
        <p:spPr>
          <a:xfrm>
            <a:off x="8532349" y="847321"/>
            <a:ext cx="3621559" cy="2581687"/>
          </a:xfrm>
          <a:prstGeom prst="rect">
            <a:avLst/>
          </a:prstGeom>
        </p:spPr>
      </p:pic>
      <p:pic>
        <p:nvPicPr>
          <p:cNvPr id="26" name="Picture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7705" y="3771901"/>
            <a:ext cx="5524500" cy="2914651"/>
          </a:xfrm>
          <a:prstGeom prst="rect">
            <a:avLst/>
          </a:prstGeom>
          <a:ln>
            <a:noFill/>
          </a:ln>
          <a:effectLst>
            <a:softEdge rad="112500"/>
          </a:effectLst>
        </p:spPr>
      </p:pic>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4604" y="3713127"/>
            <a:ext cx="5465291" cy="2973431"/>
          </a:xfrm>
          <a:prstGeom prst="rect">
            <a:avLst/>
          </a:prstGeom>
          <a:ln>
            <a:noFill/>
          </a:ln>
          <a:effectLst>
            <a:softEdge rad="112500"/>
          </a:effectLst>
        </p:spPr>
      </p:pic>
    </p:spTree>
    <p:extLst>
      <p:ext uri="{BB962C8B-B14F-4D97-AF65-F5344CB8AC3E}">
        <p14:creationId xmlns:p14="http://schemas.microsoft.com/office/powerpoint/2010/main" val="10064633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1+#ppt_w/2"/>
                                          </p:val>
                                        </p:tav>
                                        <p:tav tm="100000">
                                          <p:val>
                                            <p:strVal val="#ppt_x"/>
                                          </p:val>
                                        </p:tav>
                                      </p:tavLst>
                                    </p:anim>
                                    <p:anim calcmode="lin" valueType="num">
                                      <p:cBhvr additive="base">
                                        <p:cTn id="20"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additive="base">
                                        <p:cTn id="31" dur="500" fill="hold"/>
                                        <p:tgtEl>
                                          <p:spTgt spid="27"/>
                                        </p:tgtEl>
                                        <p:attrNameLst>
                                          <p:attrName>ppt_x</p:attrName>
                                        </p:attrNameLst>
                                      </p:cBhvr>
                                      <p:tavLst>
                                        <p:tav tm="0">
                                          <p:val>
                                            <p:strVal val="#ppt_x"/>
                                          </p:val>
                                        </p:tav>
                                        <p:tav tm="100000">
                                          <p:val>
                                            <p:strVal val="#ppt_x"/>
                                          </p:val>
                                        </p:tav>
                                      </p:tavLst>
                                    </p:anim>
                                    <p:anim calcmode="lin" valueType="num">
                                      <p:cBhvr additive="base">
                                        <p:cTn id="3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851" y="106364"/>
            <a:ext cx="9144000" cy="1060451"/>
          </a:xfrm>
        </p:spPr>
        <p:txBody>
          <a:bodyPr/>
          <a:lstStyle/>
          <a:p>
            <a:r>
              <a:rPr lang="en-US" dirty="0" smtClean="0">
                <a:solidFill>
                  <a:srgbClr val="00FF00"/>
                </a:solidFill>
                <a:latin typeface="Rockwell" panose="02060603020205020403" pitchFamily="18" charset="0"/>
              </a:rPr>
              <a:t>Representation of Graph </a:t>
            </a:r>
            <a:endParaRPr lang="en-GB" dirty="0">
              <a:solidFill>
                <a:srgbClr val="00FF00"/>
              </a:solidFill>
              <a:latin typeface="Rockwell" panose="02060603020205020403" pitchFamily="18" charset="0"/>
            </a:endParaRPr>
          </a:p>
        </p:txBody>
      </p:sp>
      <p:sp>
        <p:nvSpPr>
          <p:cNvPr id="3" name="Subtitle 2"/>
          <p:cNvSpPr>
            <a:spLocks noGrp="1"/>
          </p:cNvSpPr>
          <p:nvPr>
            <p:ph type="subTitle" idx="1"/>
          </p:nvPr>
        </p:nvSpPr>
        <p:spPr>
          <a:xfrm>
            <a:off x="76205" y="1474045"/>
            <a:ext cx="11925300" cy="5383955"/>
          </a:xfrm>
        </p:spPr>
        <p:txBody>
          <a:bodyPr numCol="2"/>
          <a:lstStyle/>
          <a:p>
            <a:pPr algn="l"/>
            <a:endParaRPr lang="en-US" dirty="0" smtClean="0">
              <a:solidFill>
                <a:srgbClr val="00FF00"/>
              </a:solidFill>
            </a:endParaRPr>
          </a:p>
          <a:p>
            <a:pPr algn="l"/>
            <a:endParaRPr lang="en-US" dirty="0">
              <a:solidFill>
                <a:srgbClr val="00FF00"/>
              </a:solidFill>
            </a:endParaRPr>
          </a:p>
          <a:p>
            <a:pPr algn="l"/>
            <a:endParaRPr lang="en-US" dirty="0" smtClean="0">
              <a:solidFill>
                <a:srgbClr val="00FF00"/>
              </a:solidFill>
            </a:endParaRPr>
          </a:p>
          <a:p>
            <a:pPr algn="l"/>
            <a:endParaRPr lang="en-US" dirty="0">
              <a:solidFill>
                <a:srgbClr val="00FF00"/>
              </a:solidFill>
            </a:endParaRPr>
          </a:p>
          <a:p>
            <a:pPr algn="l"/>
            <a:endParaRPr lang="en-US" dirty="0" smtClean="0">
              <a:solidFill>
                <a:srgbClr val="00FF00"/>
              </a:solidFill>
            </a:endParaRPr>
          </a:p>
          <a:p>
            <a:pPr algn="l"/>
            <a:endParaRPr lang="en-US" dirty="0">
              <a:solidFill>
                <a:srgbClr val="00FF00"/>
              </a:solidFill>
            </a:endParaRPr>
          </a:p>
          <a:p>
            <a:pPr algn="l"/>
            <a:endParaRPr lang="en-US" dirty="0" smtClean="0">
              <a:solidFill>
                <a:srgbClr val="00FF00"/>
              </a:solidFill>
            </a:endParaRPr>
          </a:p>
          <a:p>
            <a:pPr algn="l"/>
            <a:endParaRPr lang="en-US" dirty="0">
              <a:solidFill>
                <a:srgbClr val="00FF00"/>
              </a:solidFill>
            </a:endParaRPr>
          </a:p>
          <a:p>
            <a:pPr algn="l"/>
            <a:endParaRPr lang="en-US" dirty="0" smtClean="0">
              <a:solidFill>
                <a:srgbClr val="00FF00"/>
              </a:solidFill>
            </a:endParaRPr>
          </a:p>
          <a:p>
            <a:pPr algn="l"/>
            <a:r>
              <a:rPr lang="en-US" dirty="0" smtClean="0">
                <a:solidFill>
                  <a:srgbClr val="00FF00"/>
                </a:solidFill>
              </a:rPr>
              <a:t>1. Graph 		          2. Adjacency Matric</a:t>
            </a:r>
            <a:endParaRPr lang="en-GB" dirty="0">
              <a:solidFill>
                <a:srgbClr val="00FF00"/>
              </a:solidFill>
            </a:endParaRPr>
          </a:p>
        </p:txBody>
      </p:sp>
      <p:sp>
        <p:nvSpPr>
          <p:cNvPr id="15" name="Title 1"/>
          <p:cNvSpPr txBox="1">
            <a:spLocks/>
          </p:cNvSpPr>
          <p:nvPr/>
        </p:nvSpPr>
        <p:spPr>
          <a:xfrm>
            <a:off x="0" y="1590677"/>
            <a:ext cx="12192000" cy="48196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dirty="0"/>
          </a:p>
        </p:txBody>
      </p:sp>
      <p:sp>
        <p:nvSpPr>
          <p:cNvPr id="16" name="Title 1"/>
          <p:cNvSpPr txBox="1">
            <a:spLocks/>
          </p:cNvSpPr>
          <p:nvPr/>
        </p:nvSpPr>
        <p:spPr>
          <a:xfrm>
            <a:off x="152400" y="152408"/>
            <a:ext cx="12192000" cy="64960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dirty="0"/>
          </a:p>
        </p:txBody>
      </p:sp>
      <p:pic>
        <p:nvPicPr>
          <p:cNvPr id="1026" name="Picture 2" descr="image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474050"/>
            <a:ext cx="3581400" cy="3917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p:cNvGraphicFramePr>
            <a:graphicFrameLocks noGrp="1"/>
          </p:cNvGraphicFramePr>
          <p:nvPr>
            <p:extLst>
              <p:ext uri="{D42A27DB-BD31-4B8C-83A1-F6EECF244321}">
                <p14:modId xmlns:p14="http://schemas.microsoft.com/office/powerpoint/2010/main" val="805791015"/>
              </p:ext>
            </p:extLst>
          </p:nvPr>
        </p:nvGraphicFramePr>
        <p:xfrm>
          <a:off x="4005947" y="1453122"/>
          <a:ext cx="5965377" cy="3907584"/>
        </p:xfrm>
        <a:graphic>
          <a:graphicData uri="http://schemas.openxmlformats.org/drawingml/2006/table">
            <a:tbl>
              <a:tblPr firstRow="1" firstCol="1" bandRow="1">
                <a:tableStyleId>{5C22544A-7EE6-4342-B048-85BDC9FD1C3A}</a:tableStyleId>
              </a:tblPr>
              <a:tblGrid>
                <a:gridCol w="850643"/>
                <a:gridCol w="850643"/>
                <a:gridCol w="850643"/>
                <a:gridCol w="850643"/>
                <a:gridCol w="850643"/>
                <a:gridCol w="850643"/>
                <a:gridCol w="861519"/>
              </a:tblGrid>
              <a:tr h="463903">
                <a:tc>
                  <a:txBody>
                    <a:bodyPr/>
                    <a:lstStyle/>
                    <a:p>
                      <a:pPr marL="0" marR="0">
                        <a:spcBef>
                          <a:spcPts val="0"/>
                        </a:spcBef>
                        <a:spcAft>
                          <a:spcPts val="0"/>
                        </a:spcAft>
                      </a:pPr>
                      <a:r>
                        <a:rPr lang="en-US" sz="1100" dirty="0">
                          <a:solidFill>
                            <a:srgbClr val="00FF00"/>
                          </a:solidFill>
                          <a:effectLst/>
                        </a:rPr>
                        <a:t> </a:t>
                      </a:r>
                      <a:endParaRPr lang="en-GB" sz="3200" dirty="0">
                        <a:solidFill>
                          <a:srgbClr val="00FF00"/>
                        </a:solidFill>
                        <a:effectLst/>
                        <a:latin typeface="Arial Unicode MS" panose="020B0604020202020204" pitchFamily="34" charset="-128"/>
                        <a:ea typeface="Arial Unicode MS" panose="020B0604020202020204" pitchFamily="34" charset="-128"/>
                      </a:endParaRPr>
                    </a:p>
                  </a:txBody>
                  <a:tcPr marL="6351" marR="6351" marT="0" marB="0"/>
                </a:tc>
                <a:tc>
                  <a:txBody>
                    <a:bodyPr/>
                    <a:lstStyle/>
                    <a:p>
                      <a:pPr marL="0" marR="0" algn="l">
                        <a:lnSpc>
                          <a:spcPts val="950"/>
                        </a:lnSpc>
                        <a:spcBef>
                          <a:spcPts val="0"/>
                        </a:spcBef>
                        <a:spcAft>
                          <a:spcPts val="0"/>
                        </a:spcAft>
                      </a:pPr>
                      <a:r>
                        <a:rPr lang="en-US" sz="1900" spc="0">
                          <a:solidFill>
                            <a:srgbClr val="00FF00"/>
                          </a:solidFill>
                          <a:effectLst/>
                        </a:rPr>
                        <a:t>abuja</a:t>
                      </a:r>
                      <a:endParaRPr lang="en-GB" sz="320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l">
                        <a:lnSpc>
                          <a:spcPts val="950"/>
                        </a:lnSpc>
                        <a:spcBef>
                          <a:spcPts val="0"/>
                        </a:spcBef>
                        <a:spcAft>
                          <a:spcPts val="0"/>
                        </a:spcAft>
                      </a:pPr>
                      <a:r>
                        <a:rPr lang="en-US" sz="1900" spc="0" dirty="0" err="1">
                          <a:solidFill>
                            <a:srgbClr val="00FF00"/>
                          </a:solidFill>
                          <a:effectLst/>
                        </a:rPr>
                        <a:t>lokoja</a:t>
                      </a:r>
                      <a:endParaRPr lang="en-GB" sz="3200" dirty="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l">
                        <a:lnSpc>
                          <a:spcPts val="950"/>
                        </a:lnSpc>
                        <a:spcBef>
                          <a:spcPts val="0"/>
                        </a:spcBef>
                        <a:spcAft>
                          <a:spcPts val="0"/>
                        </a:spcAft>
                      </a:pPr>
                      <a:r>
                        <a:rPr lang="en-US" sz="1900" spc="0">
                          <a:solidFill>
                            <a:srgbClr val="00FF00"/>
                          </a:solidFill>
                          <a:effectLst/>
                        </a:rPr>
                        <a:t>kano</a:t>
                      </a:r>
                      <a:endParaRPr lang="en-GB" sz="320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l">
                        <a:lnSpc>
                          <a:spcPts val="950"/>
                        </a:lnSpc>
                        <a:spcBef>
                          <a:spcPts val="0"/>
                        </a:spcBef>
                        <a:spcAft>
                          <a:spcPts val="0"/>
                        </a:spcAft>
                      </a:pPr>
                      <a:r>
                        <a:rPr lang="en-US" sz="1900" spc="0" dirty="0" err="1">
                          <a:solidFill>
                            <a:srgbClr val="00FF00"/>
                          </a:solidFill>
                          <a:effectLst/>
                        </a:rPr>
                        <a:t>calaba</a:t>
                      </a:r>
                      <a:endParaRPr lang="en-GB" sz="3200" dirty="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l">
                        <a:lnSpc>
                          <a:spcPts val="950"/>
                        </a:lnSpc>
                        <a:spcBef>
                          <a:spcPts val="0"/>
                        </a:spcBef>
                        <a:spcAft>
                          <a:spcPts val="0"/>
                        </a:spcAft>
                      </a:pPr>
                      <a:r>
                        <a:rPr lang="en-US" sz="1900" spc="0">
                          <a:solidFill>
                            <a:srgbClr val="00FF00"/>
                          </a:solidFill>
                          <a:effectLst/>
                        </a:rPr>
                        <a:t>ekiti</a:t>
                      </a:r>
                      <a:endParaRPr lang="en-GB" sz="320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l">
                        <a:lnSpc>
                          <a:spcPts val="950"/>
                        </a:lnSpc>
                        <a:spcBef>
                          <a:spcPts val="0"/>
                        </a:spcBef>
                        <a:spcAft>
                          <a:spcPts val="0"/>
                        </a:spcAft>
                      </a:pPr>
                      <a:r>
                        <a:rPr lang="en-US" sz="1900" spc="0" dirty="0" err="1">
                          <a:solidFill>
                            <a:srgbClr val="00FF00"/>
                          </a:solidFill>
                          <a:effectLst/>
                        </a:rPr>
                        <a:t>lagos</a:t>
                      </a:r>
                      <a:endParaRPr lang="en-GB" sz="3200" dirty="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r>
              <a:tr h="573279">
                <a:tc>
                  <a:txBody>
                    <a:bodyPr/>
                    <a:lstStyle/>
                    <a:p>
                      <a:pPr marL="0" marR="0" algn="l">
                        <a:lnSpc>
                          <a:spcPts val="950"/>
                        </a:lnSpc>
                        <a:spcBef>
                          <a:spcPts val="0"/>
                        </a:spcBef>
                        <a:spcAft>
                          <a:spcPts val="0"/>
                        </a:spcAft>
                      </a:pPr>
                      <a:r>
                        <a:rPr lang="en-US" sz="2400" b="1" spc="0">
                          <a:solidFill>
                            <a:srgbClr val="00FF00"/>
                          </a:solidFill>
                          <a:effectLst/>
                        </a:rPr>
                        <a:t>abuja</a:t>
                      </a:r>
                      <a:endParaRPr lang="en-GB" sz="4000" b="1">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solidFill>
                            <a:srgbClr val="FF0000"/>
                          </a:solidFill>
                          <a:effectLst/>
                        </a:rPr>
                        <a:t>0</a:t>
                      </a:r>
                      <a:endParaRPr lang="en-GB" sz="1200" dirty="0">
                        <a:solidFill>
                          <a:srgbClr val="FF00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effectLst/>
                        </a:rPr>
                        <a:t>219</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300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90500" marR="0" algn="l">
                        <a:lnSpc>
                          <a:spcPts val="900"/>
                        </a:lnSpc>
                        <a:spcBef>
                          <a:spcPts val="0"/>
                        </a:spcBef>
                        <a:spcAft>
                          <a:spcPts val="0"/>
                        </a:spcAft>
                      </a:pPr>
                      <a:r>
                        <a:rPr lang="en-US" sz="900" spc="0">
                          <a:effectLst/>
                        </a:rPr>
                        <a:t>245</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210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192</a:t>
                      </a:r>
                      <a:endParaRPr lang="en-GB" sz="1200">
                        <a:effectLst/>
                        <a:latin typeface="Times New Roman" panose="02020603050405020304" pitchFamily="18" charset="0"/>
                        <a:ea typeface="Times New Roman" panose="02020603050405020304" pitchFamily="18" charset="0"/>
                      </a:endParaRPr>
                    </a:p>
                  </a:txBody>
                  <a:tcPr marL="6351" marR="6351" marT="0" marB="0" anchor="ctr"/>
                </a:tc>
              </a:tr>
              <a:tr h="573279">
                <a:tc>
                  <a:txBody>
                    <a:bodyPr/>
                    <a:lstStyle/>
                    <a:p>
                      <a:pPr marL="0" marR="0" algn="l">
                        <a:lnSpc>
                          <a:spcPts val="950"/>
                        </a:lnSpc>
                        <a:spcBef>
                          <a:spcPts val="0"/>
                        </a:spcBef>
                        <a:spcAft>
                          <a:spcPts val="0"/>
                        </a:spcAft>
                      </a:pPr>
                      <a:r>
                        <a:rPr lang="en-US" sz="2400" b="1" spc="0" dirty="0" err="1" smtClean="0">
                          <a:solidFill>
                            <a:srgbClr val="00FF00"/>
                          </a:solidFill>
                          <a:effectLst/>
                        </a:rPr>
                        <a:t>lokoja</a:t>
                      </a:r>
                      <a:endParaRPr lang="en-GB" sz="4000" b="1" dirty="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119</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effectLst/>
                        </a:rPr>
                        <a:t>11</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90500" marR="0" algn="l">
                        <a:lnSpc>
                          <a:spcPts val="900"/>
                        </a:lnSpc>
                        <a:spcBef>
                          <a:spcPts val="0"/>
                        </a:spcBef>
                        <a:spcAft>
                          <a:spcPts val="0"/>
                        </a:spcAft>
                      </a:pPr>
                      <a:r>
                        <a:rPr lang="en-US" sz="900" spc="0">
                          <a:effectLst/>
                        </a:rPr>
                        <a:t>22</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98</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217</a:t>
                      </a:r>
                      <a:endParaRPr lang="en-GB" sz="1200">
                        <a:effectLst/>
                        <a:latin typeface="Times New Roman" panose="02020603050405020304" pitchFamily="18" charset="0"/>
                        <a:ea typeface="Times New Roman" panose="02020603050405020304" pitchFamily="18" charset="0"/>
                      </a:endParaRPr>
                    </a:p>
                  </a:txBody>
                  <a:tcPr marL="6351" marR="6351" marT="0" marB="0" anchor="ctr"/>
                </a:tc>
              </a:tr>
              <a:tr h="569269">
                <a:tc>
                  <a:txBody>
                    <a:bodyPr/>
                    <a:lstStyle/>
                    <a:p>
                      <a:pPr marL="0" marR="0" algn="l">
                        <a:lnSpc>
                          <a:spcPts val="950"/>
                        </a:lnSpc>
                        <a:spcBef>
                          <a:spcPts val="0"/>
                        </a:spcBef>
                        <a:spcAft>
                          <a:spcPts val="0"/>
                        </a:spcAft>
                      </a:pPr>
                      <a:r>
                        <a:rPr lang="en-US" sz="2400" b="1" spc="0">
                          <a:solidFill>
                            <a:srgbClr val="00FF00"/>
                          </a:solidFill>
                          <a:effectLst/>
                        </a:rPr>
                        <a:t>kano</a:t>
                      </a:r>
                      <a:endParaRPr lang="en-GB" sz="4000" b="1">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219</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effectLst/>
                        </a:rPr>
                        <a:t>111</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effectLst/>
                        </a:rPr>
                        <a:t>0</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90500" marR="0" algn="l">
                        <a:lnSpc>
                          <a:spcPts val="900"/>
                        </a:lnSpc>
                        <a:spcBef>
                          <a:spcPts val="0"/>
                        </a:spcBef>
                        <a:spcAft>
                          <a:spcPts val="0"/>
                        </a:spcAft>
                      </a:pPr>
                      <a:r>
                        <a:rPr lang="en-US" sz="900" spc="0" dirty="0">
                          <a:effectLst/>
                        </a:rPr>
                        <a:t>132</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209</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effectLst/>
                        </a:rPr>
                        <a:t>201</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r>
              <a:tr h="573279">
                <a:tc>
                  <a:txBody>
                    <a:bodyPr/>
                    <a:lstStyle/>
                    <a:p>
                      <a:pPr marL="0" marR="0" algn="l">
                        <a:lnSpc>
                          <a:spcPts val="950"/>
                        </a:lnSpc>
                        <a:spcBef>
                          <a:spcPts val="0"/>
                        </a:spcBef>
                        <a:spcAft>
                          <a:spcPts val="0"/>
                        </a:spcAft>
                      </a:pPr>
                      <a:r>
                        <a:rPr lang="en-US" sz="2400" b="1" spc="0">
                          <a:solidFill>
                            <a:srgbClr val="00FF00"/>
                          </a:solidFill>
                          <a:effectLst/>
                        </a:rPr>
                        <a:t>calaba</a:t>
                      </a:r>
                      <a:endParaRPr lang="en-GB" sz="4000" b="1">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200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65100" marR="0" algn="l">
                        <a:lnSpc>
                          <a:spcPts val="900"/>
                        </a:lnSpc>
                        <a:spcBef>
                          <a:spcPts val="0"/>
                        </a:spcBef>
                        <a:spcAft>
                          <a:spcPts val="0"/>
                        </a:spcAft>
                      </a:pPr>
                      <a:r>
                        <a:rPr lang="en-US" sz="900" spc="0">
                          <a:effectLst/>
                        </a:rPr>
                        <a:t>187</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999</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90500" marR="0" algn="l">
                        <a:lnSpc>
                          <a:spcPts val="900"/>
                        </a:lnSpc>
                        <a:spcBef>
                          <a:spcPts val="0"/>
                        </a:spcBef>
                        <a:spcAft>
                          <a:spcPts val="0"/>
                        </a:spcAft>
                      </a:pPr>
                      <a:r>
                        <a:rPr lang="en-US" sz="900" spc="0">
                          <a:effectLst/>
                        </a:rPr>
                        <a:t>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7</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dirty="0">
                          <a:effectLst/>
                        </a:rPr>
                        <a:t>292</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r>
              <a:tr h="573279">
                <a:tc>
                  <a:txBody>
                    <a:bodyPr/>
                    <a:lstStyle/>
                    <a:p>
                      <a:pPr marL="0" marR="0" algn="l">
                        <a:lnSpc>
                          <a:spcPts val="950"/>
                        </a:lnSpc>
                        <a:spcBef>
                          <a:spcPts val="0"/>
                        </a:spcBef>
                        <a:spcAft>
                          <a:spcPts val="0"/>
                        </a:spcAft>
                      </a:pPr>
                      <a:r>
                        <a:rPr lang="en-US" sz="2400" b="1" spc="0">
                          <a:solidFill>
                            <a:srgbClr val="00FF00"/>
                          </a:solidFill>
                          <a:effectLst/>
                        </a:rPr>
                        <a:t>ekiti</a:t>
                      </a:r>
                      <a:endParaRPr lang="en-GB" sz="4000" b="1">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116</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65100" marR="0" algn="l">
                        <a:lnSpc>
                          <a:spcPts val="900"/>
                        </a:lnSpc>
                        <a:spcBef>
                          <a:spcPts val="0"/>
                        </a:spcBef>
                        <a:spcAft>
                          <a:spcPts val="0"/>
                        </a:spcAft>
                      </a:pPr>
                      <a:r>
                        <a:rPr lang="en-US" sz="900" spc="0">
                          <a:effectLst/>
                        </a:rPr>
                        <a:t>90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319</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90500" marR="0" algn="l">
                        <a:lnSpc>
                          <a:spcPts val="900"/>
                        </a:lnSpc>
                        <a:spcBef>
                          <a:spcPts val="0"/>
                        </a:spcBef>
                        <a:spcAft>
                          <a:spcPts val="0"/>
                        </a:spcAft>
                      </a:pPr>
                      <a:r>
                        <a:rPr lang="en-US" sz="900" spc="0">
                          <a:effectLst/>
                        </a:rPr>
                        <a:t>265</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113</a:t>
                      </a:r>
                      <a:endParaRPr lang="en-GB" sz="1200">
                        <a:effectLst/>
                        <a:latin typeface="Times New Roman" panose="02020603050405020304" pitchFamily="18" charset="0"/>
                        <a:ea typeface="Times New Roman" panose="02020603050405020304" pitchFamily="18" charset="0"/>
                      </a:endParaRPr>
                    </a:p>
                  </a:txBody>
                  <a:tcPr marL="6351" marR="6351" marT="0" marB="0" anchor="ctr"/>
                </a:tc>
              </a:tr>
              <a:tr h="581296">
                <a:tc>
                  <a:txBody>
                    <a:bodyPr/>
                    <a:lstStyle/>
                    <a:p>
                      <a:pPr marL="0" marR="0" algn="l">
                        <a:lnSpc>
                          <a:spcPts val="950"/>
                        </a:lnSpc>
                        <a:spcBef>
                          <a:spcPts val="0"/>
                        </a:spcBef>
                        <a:spcAft>
                          <a:spcPts val="0"/>
                        </a:spcAft>
                      </a:pPr>
                      <a:r>
                        <a:rPr lang="en-US" sz="2400" b="1" spc="0" dirty="0" err="1">
                          <a:solidFill>
                            <a:srgbClr val="00FF00"/>
                          </a:solidFill>
                          <a:effectLst/>
                        </a:rPr>
                        <a:t>lagos</a:t>
                      </a:r>
                      <a:endParaRPr lang="en-GB" sz="4000" b="1" dirty="0">
                        <a:solidFill>
                          <a:srgbClr val="00FF00"/>
                        </a:solidFill>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77800" marR="0" algn="l">
                        <a:lnSpc>
                          <a:spcPts val="900"/>
                        </a:lnSpc>
                        <a:spcBef>
                          <a:spcPts val="0"/>
                        </a:spcBef>
                        <a:spcAft>
                          <a:spcPts val="0"/>
                        </a:spcAft>
                      </a:pPr>
                      <a:r>
                        <a:rPr lang="en-US" sz="900" spc="0">
                          <a:effectLst/>
                        </a:rPr>
                        <a:t>301</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65100" marR="0" algn="l">
                        <a:lnSpc>
                          <a:spcPts val="900"/>
                        </a:lnSpc>
                        <a:spcBef>
                          <a:spcPts val="0"/>
                        </a:spcBef>
                        <a:spcAft>
                          <a:spcPts val="0"/>
                        </a:spcAft>
                      </a:pPr>
                      <a:r>
                        <a:rPr lang="en-US" sz="900" spc="0">
                          <a:effectLst/>
                        </a:rPr>
                        <a:t>300</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201</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190500" marR="0" algn="l">
                        <a:lnSpc>
                          <a:spcPts val="900"/>
                        </a:lnSpc>
                        <a:spcBef>
                          <a:spcPts val="0"/>
                        </a:spcBef>
                        <a:spcAft>
                          <a:spcPts val="0"/>
                        </a:spcAft>
                      </a:pPr>
                      <a:r>
                        <a:rPr lang="en-US" sz="900" spc="0">
                          <a:effectLst/>
                        </a:rPr>
                        <a:t>292</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a:effectLst/>
                        </a:rPr>
                        <a:t>113</a:t>
                      </a:r>
                      <a:endParaRPr lang="en-GB" sz="1200">
                        <a:effectLst/>
                        <a:latin typeface="Times New Roman" panose="02020603050405020304" pitchFamily="18" charset="0"/>
                        <a:ea typeface="Times New Roman" panose="02020603050405020304" pitchFamily="18" charset="0"/>
                      </a:endParaRPr>
                    </a:p>
                  </a:txBody>
                  <a:tcPr marL="6351" marR="6351" marT="0" marB="0" anchor="ctr"/>
                </a:tc>
                <a:tc>
                  <a:txBody>
                    <a:bodyPr/>
                    <a:lstStyle/>
                    <a:p>
                      <a:pPr marL="0" marR="0" algn="ctr">
                        <a:lnSpc>
                          <a:spcPts val="900"/>
                        </a:lnSpc>
                        <a:spcBef>
                          <a:spcPts val="0"/>
                        </a:spcBef>
                        <a:spcAft>
                          <a:spcPts val="0"/>
                        </a:spcAft>
                      </a:pPr>
                      <a:r>
                        <a:rPr lang="en-US" sz="900" spc="0" dirty="0">
                          <a:effectLst/>
                        </a:rPr>
                        <a:t>0</a:t>
                      </a:r>
                      <a:endParaRPr lang="en-GB" sz="1200" dirty="0">
                        <a:effectLst/>
                        <a:latin typeface="Times New Roman" panose="02020603050405020304" pitchFamily="18" charset="0"/>
                        <a:ea typeface="Times New Roman" panose="02020603050405020304" pitchFamily="18" charset="0"/>
                      </a:endParaRPr>
                    </a:p>
                  </a:txBody>
                  <a:tcPr marL="6351" marR="6351" marT="0" marB="0" anchor="ctr"/>
                </a:tc>
              </a:tr>
            </a:tbl>
          </a:graphicData>
        </a:graphic>
      </p:graphicFrame>
    </p:spTree>
    <p:extLst>
      <p:ext uri="{BB962C8B-B14F-4D97-AF65-F5344CB8AC3E}">
        <p14:creationId xmlns:p14="http://schemas.microsoft.com/office/powerpoint/2010/main" val="1051992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6" y="1476727"/>
            <a:ext cx="12192000" cy="5303520"/>
          </a:xfrm>
        </p:spPr>
        <p:txBody>
          <a:bodyPr>
            <a:noAutofit/>
          </a:bodyPr>
          <a:lstStyle/>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Floyd-</a:t>
            </a:r>
            <a:r>
              <a:rPr lang="en-GB" sz="2000" dirty="0" err="1">
                <a:solidFill>
                  <a:srgbClr val="00FF00"/>
                </a:solidFill>
                <a:latin typeface="Helvetica" panose="020B0604020202020204" pitchFamily="34" charset="0"/>
                <a:cs typeface="Helvetica" panose="020B0604020202020204" pitchFamily="34" charset="0"/>
              </a:rPr>
              <a:t>Warshall</a:t>
            </a:r>
            <a:r>
              <a:rPr lang="en-GB" sz="2000" dirty="0">
                <a:solidFill>
                  <a:srgbClr val="00FF00"/>
                </a:solidFill>
                <a:latin typeface="Helvetica" panose="020B0604020202020204" pitchFamily="34" charset="0"/>
                <a:cs typeface="Helvetica" panose="020B0604020202020204" pitchFamily="34" charset="0"/>
              </a:rPr>
              <a:t>(W)</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n = numbers of rows of W; </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D(0) = W; </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for k = 1 to n do {</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	for </a:t>
            </a:r>
            <a:r>
              <a:rPr lang="en-GB" sz="2000" dirty="0" err="1">
                <a:solidFill>
                  <a:srgbClr val="00FF00"/>
                </a:solidFill>
                <a:latin typeface="Helvetica" panose="020B0604020202020204" pitchFamily="34" charset="0"/>
                <a:cs typeface="Helvetica" panose="020B0604020202020204" pitchFamily="34" charset="0"/>
              </a:rPr>
              <a:t>i</a:t>
            </a:r>
            <a:r>
              <a:rPr lang="en-GB" sz="2000" dirty="0">
                <a:solidFill>
                  <a:srgbClr val="00FF00"/>
                </a:solidFill>
                <a:latin typeface="Helvetica" panose="020B0604020202020204" pitchFamily="34" charset="0"/>
                <a:cs typeface="Helvetica" panose="020B0604020202020204" pitchFamily="34" charset="0"/>
              </a:rPr>
              <a:t> = 1 to n do {</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		for j = 1 to n do{</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			</a:t>
            </a:r>
            <a:r>
              <a:rPr lang="en-GB" b="1" dirty="0" err="1">
                <a:solidFill>
                  <a:srgbClr val="00FF00"/>
                </a:solidFill>
                <a:latin typeface="Helvetica" panose="020B0604020202020204" pitchFamily="34" charset="0"/>
                <a:cs typeface="Helvetica" panose="020B0604020202020204" pitchFamily="34" charset="0"/>
              </a:rPr>
              <a:t>d</a:t>
            </a:r>
            <a:r>
              <a:rPr lang="en-GB" b="1" baseline="-25000" dirty="0" err="1">
                <a:solidFill>
                  <a:srgbClr val="00FF00"/>
                </a:solidFill>
                <a:latin typeface="Helvetica" panose="020B0604020202020204" pitchFamily="34" charset="0"/>
                <a:cs typeface="Helvetica" panose="020B0604020202020204" pitchFamily="34" charset="0"/>
              </a:rPr>
              <a:t>ij</a:t>
            </a:r>
            <a:r>
              <a:rPr lang="en-GB" b="1" dirty="0">
                <a:solidFill>
                  <a:srgbClr val="00FF00"/>
                </a:solidFill>
                <a:latin typeface="Helvetica" panose="020B0604020202020204" pitchFamily="34" charset="0"/>
                <a:cs typeface="Helvetica" panose="020B0604020202020204" pitchFamily="34" charset="0"/>
              </a:rPr>
              <a:t>(k) = min{</a:t>
            </a:r>
            <a:r>
              <a:rPr lang="en-GB" b="1" dirty="0" err="1">
                <a:solidFill>
                  <a:srgbClr val="00FF00"/>
                </a:solidFill>
                <a:latin typeface="Helvetica" panose="020B0604020202020204" pitchFamily="34" charset="0"/>
                <a:cs typeface="Helvetica" panose="020B0604020202020204" pitchFamily="34" charset="0"/>
              </a:rPr>
              <a:t>d</a:t>
            </a:r>
            <a:r>
              <a:rPr lang="en-GB" b="1" baseline="-25000" dirty="0" err="1">
                <a:solidFill>
                  <a:srgbClr val="00FF00"/>
                </a:solidFill>
                <a:latin typeface="Helvetica" panose="020B0604020202020204" pitchFamily="34" charset="0"/>
                <a:cs typeface="Helvetica" panose="020B0604020202020204" pitchFamily="34" charset="0"/>
              </a:rPr>
              <a:t>ij</a:t>
            </a:r>
            <a:r>
              <a:rPr lang="en-GB" b="1" dirty="0">
                <a:solidFill>
                  <a:srgbClr val="00FF00"/>
                </a:solidFill>
                <a:latin typeface="Helvetica" panose="020B0604020202020204" pitchFamily="34" charset="0"/>
                <a:cs typeface="Helvetica" panose="020B0604020202020204" pitchFamily="34" charset="0"/>
              </a:rPr>
              <a:t>(k-1) , </a:t>
            </a:r>
            <a:r>
              <a:rPr lang="en-GB" b="1" dirty="0" err="1">
                <a:solidFill>
                  <a:srgbClr val="00FF00"/>
                </a:solidFill>
                <a:latin typeface="Helvetica" panose="020B0604020202020204" pitchFamily="34" charset="0"/>
                <a:cs typeface="Helvetica" panose="020B0604020202020204" pitchFamily="34" charset="0"/>
              </a:rPr>
              <a:t>d</a:t>
            </a:r>
            <a:r>
              <a:rPr lang="en-GB" b="1" baseline="-25000" dirty="0" err="1">
                <a:solidFill>
                  <a:srgbClr val="00FF00"/>
                </a:solidFill>
                <a:latin typeface="Helvetica" panose="020B0604020202020204" pitchFamily="34" charset="0"/>
                <a:cs typeface="Helvetica" panose="020B0604020202020204" pitchFamily="34" charset="0"/>
              </a:rPr>
              <a:t>ik</a:t>
            </a:r>
            <a:r>
              <a:rPr lang="en-GB" b="1" dirty="0">
                <a:solidFill>
                  <a:srgbClr val="00FF00"/>
                </a:solidFill>
                <a:latin typeface="Helvetica" panose="020B0604020202020204" pitchFamily="34" charset="0"/>
                <a:cs typeface="Helvetica" panose="020B0604020202020204" pitchFamily="34" charset="0"/>
              </a:rPr>
              <a:t>(k-1) + </a:t>
            </a:r>
            <a:r>
              <a:rPr lang="en-GB" b="1" dirty="0" err="1">
                <a:solidFill>
                  <a:srgbClr val="00FF00"/>
                </a:solidFill>
                <a:latin typeface="Helvetica" panose="020B0604020202020204" pitchFamily="34" charset="0"/>
                <a:cs typeface="Helvetica" panose="020B0604020202020204" pitchFamily="34" charset="0"/>
              </a:rPr>
              <a:t>d</a:t>
            </a:r>
            <a:r>
              <a:rPr lang="en-GB" b="1" baseline="-25000" dirty="0" err="1">
                <a:solidFill>
                  <a:srgbClr val="00FF00"/>
                </a:solidFill>
                <a:latin typeface="Helvetica" panose="020B0604020202020204" pitchFamily="34" charset="0"/>
                <a:cs typeface="Helvetica" panose="020B0604020202020204" pitchFamily="34" charset="0"/>
              </a:rPr>
              <a:t>kj</a:t>
            </a:r>
            <a:r>
              <a:rPr lang="en-GB" b="1" dirty="0">
                <a:solidFill>
                  <a:srgbClr val="00FF00"/>
                </a:solidFill>
                <a:latin typeface="Helvetica" panose="020B0604020202020204" pitchFamily="34" charset="0"/>
                <a:cs typeface="Helvetica" panose="020B0604020202020204" pitchFamily="34" charset="0"/>
              </a:rPr>
              <a:t>(k-1)</a:t>
            </a:r>
            <a:r>
              <a:rPr lang="en-GB" sz="2000" dirty="0">
                <a:solidFill>
                  <a:srgbClr val="00FF00"/>
                </a:solidFill>
                <a:latin typeface="Helvetica" panose="020B0604020202020204" pitchFamily="34" charset="0"/>
                <a:cs typeface="Helvetica" panose="020B0604020202020204" pitchFamily="34" charset="0"/>
              </a:rPr>
              <a:t>};</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		} </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      	} </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a:t>
            </a:r>
          </a:p>
          <a:p>
            <a:pPr marL="457178" indent="-457178" algn="l">
              <a:lnSpc>
                <a:spcPct val="100000"/>
              </a:lnSpc>
              <a:buFont typeface="Wingdings" panose="05000000000000000000" pitchFamily="2" charset="2"/>
              <a:buChar char="Ø"/>
            </a:pPr>
            <a:r>
              <a:rPr lang="en-GB" sz="2000" dirty="0">
                <a:solidFill>
                  <a:srgbClr val="00FF00"/>
                </a:solidFill>
                <a:latin typeface="Helvetica" panose="020B0604020202020204" pitchFamily="34" charset="0"/>
                <a:cs typeface="Helvetica" panose="020B0604020202020204" pitchFamily="34" charset="0"/>
              </a:rPr>
              <a:t> return D(n);</a:t>
            </a:r>
          </a:p>
        </p:txBody>
      </p:sp>
      <p:sp>
        <p:nvSpPr>
          <p:cNvPr id="12" name="TextBox 11"/>
          <p:cNvSpPr txBox="1"/>
          <p:nvPr/>
        </p:nvSpPr>
        <p:spPr>
          <a:xfrm>
            <a:off x="1036320" y="368731"/>
            <a:ext cx="9250680" cy="1015663"/>
          </a:xfrm>
          <a:prstGeom prst="rect">
            <a:avLst/>
          </a:prstGeom>
          <a:solidFill>
            <a:srgbClr val="503D00"/>
          </a:solidFill>
        </p:spPr>
        <p:txBody>
          <a:bodyPr wrap="square" rtlCol="0">
            <a:spAutoFit/>
          </a:bodyPr>
          <a:lstStyle/>
          <a:p>
            <a:pPr algn="ctr"/>
            <a:r>
              <a:rPr lang="en-GB" sz="6000" dirty="0">
                <a:solidFill>
                  <a:srgbClr val="00FF00"/>
                </a:solidFill>
                <a:latin typeface="Helvetica" panose="020B0604020202020204" pitchFamily="34" charset="0"/>
                <a:cs typeface="Helvetica" panose="020B0604020202020204" pitchFamily="34" charset="0"/>
              </a:rPr>
              <a:t>Floyd-</a:t>
            </a:r>
            <a:r>
              <a:rPr lang="en-GB" sz="6000" dirty="0" err="1">
                <a:solidFill>
                  <a:srgbClr val="00FF00"/>
                </a:solidFill>
                <a:latin typeface="Helvetica" panose="020B0604020202020204" pitchFamily="34" charset="0"/>
                <a:cs typeface="Helvetica" panose="020B0604020202020204" pitchFamily="34" charset="0"/>
              </a:rPr>
              <a:t>Warshall</a:t>
            </a:r>
            <a:r>
              <a:rPr lang="en-GB" sz="6000" dirty="0">
                <a:solidFill>
                  <a:srgbClr val="00FF00"/>
                </a:solidFill>
                <a:latin typeface="Helvetica" panose="020B0604020202020204" pitchFamily="34" charset="0"/>
                <a:cs typeface="Helvetica" panose="020B0604020202020204" pitchFamily="34" charset="0"/>
              </a:rPr>
              <a:t> Algorithm</a:t>
            </a:r>
            <a:endParaRPr lang="en-US" sz="6000" b="1" cap="all" spc="51" dirty="0">
              <a:solidFill>
                <a:srgbClr val="00CC00"/>
              </a:solidFill>
              <a:latin typeface="Helvetica" panose="020B0604020202020204" pitchFamily="34"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1628727187"/>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93040" y="1534624"/>
            <a:ext cx="11821160" cy="5816977"/>
          </a:xfrm>
          <a:prstGeom prst="rect">
            <a:avLst/>
          </a:prstGeom>
          <a:noFill/>
        </p:spPr>
        <p:txBody>
          <a:bodyPr wrap="square" rtlCol="0">
            <a:spAutoFit/>
          </a:bodyPr>
          <a:lstStyle/>
          <a:p>
            <a:r>
              <a:rPr lang="en-GB" sz="3900" spc="51" dirty="0">
                <a:solidFill>
                  <a:srgbClr val="00FF00"/>
                </a:solidFill>
                <a:latin typeface="Helvetica" panose="020B0604020202020204" pitchFamily="34" charset="0"/>
                <a:ea typeface="Tahoma" panose="020B0604030504040204" pitchFamily="34" charset="0"/>
                <a:cs typeface="Helvetica" panose="020B0604020202020204" pitchFamily="34" charset="0"/>
              </a:rPr>
              <a:t>Consider a shortest path P from </a:t>
            </a:r>
            <a:r>
              <a:rPr lang="en-GB" sz="3900"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i</a:t>
            </a:r>
            <a:r>
              <a:rPr lang="en-GB" sz="3900" spc="51" dirty="0">
                <a:solidFill>
                  <a:srgbClr val="00FF00"/>
                </a:solidFill>
                <a:latin typeface="Helvetica" panose="020B0604020202020204" pitchFamily="34" charset="0"/>
                <a:ea typeface="Tahoma" panose="020B0604030504040204" pitchFamily="34" charset="0"/>
                <a:cs typeface="Helvetica" panose="020B0604020202020204" pitchFamily="34" charset="0"/>
              </a:rPr>
              <a:t> to j such that the intermediate vertices are from the set {1,…,k} then;</a:t>
            </a:r>
            <a:r>
              <a:rPr lang="en-GB" sz="3900" cap="all" spc="51" dirty="0">
                <a:solidFill>
                  <a:srgbClr val="00FF00"/>
                </a:solidFill>
                <a:latin typeface="Helvetica" panose="020B0604020202020204" pitchFamily="34" charset="0"/>
                <a:ea typeface="Tahoma" panose="020B0604030504040204" pitchFamily="34" charset="0"/>
                <a:cs typeface="Helvetica" panose="020B0604020202020204" pitchFamily="34" charset="0"/>
              </a:rPr>
              <a:t> </a:t>
            </a:r>
          </a:p>
          <a:p>
            <a:pPr marL="571472" indent="-571472">
              <a:buFont typeface="Wingdings" panose="05000000000000000000" pitchFamily="2" charset="2"/>
              <a:buChar char="v"/>
            </a:pPr>
            <a:r>
              <a:rPr lang="en-GB" sz="3900" spc="51" dirty="0">
                <a:solidFill>
                  <a:srgbClr val="00FF00"/>
                </a:solidFill>
                <a:latin typeface="Helvetica" panose="020B0604020202020204" pitchFamily="34" charset="0"/>
                <a:ea typeface="Tahoma" panose="020B0604030504040204" pitchFamily="34" charset="0"/>
                <a:cs typeface="Helvetica" panose="020B0604020202020204" pitchFamily="34" charset="0"/>
              </a:rPr>
              <a:t> If the vertex k is not an intermediate vertex on the path P, then </a:t>
            </a:r>
            <a:r>
              <a:rPr lang="en-GB" sz="3900" b="1"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d</a:t>
            </a:r>
            <a:r>
              <a:rPr lang="en-GB" sz="3900" b="1" spc="51" baseline="-25000" dirty="0" err="1">
                <a:solidFill>
                  <a:srgbClr val="00FF00"/>
                </a:solidFill>
                <a:latin typeface="Helvetica" panose="020B0604020202020204" pitchFamily="34" charset="0"/>
                <a:ea typeface="Tahoma" panose="020B0604030504040204" pitchFamily="34" charset="0"/>
                <a:cs typeface="Helvetica" panose="020B0604020202020204" pitchFamily="34" charset="0"/>
              </a:rPr>
              <a:t>ij</a:t>
            </a:r>
            <a:r>
              <a:rPr lang="en-GB" sz="3900" b="1" spc="51" dirty="0">
                <a:solidFill>
                  <a:srgbClr val="00FF00"/>
                </a:solidFill>
                <a:latin typeface="Helvetica" panose="020B0604020202020204" pitchFamily="34" charset="0"/>
                <a:ea typeface="Tahoma" panose="020B0604030504040204" pitchFamily="34" charset="0"/>
                <a:cs typeface="Helvetica" panose="020B0604020202020204" pitchFamily="34" charset="0"/>
              </a:rPr>
              <a:t>(k) = </a:t>
            </a:r>
            <a:r>
              <a:rPr lang="en-GB" sz="3900" b="1"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d</a:t>
            </a:r>
            <a:r>
              <a:rPr lang="en-GB" sz="3900" b="1" spc="51" baseline="-25000" dirty="0" err="1">
                <a:solidFill>
                  <a:srgbClr val="00FF00"/>
                </a:solidFill>
                <a:latin typeface="Helvetica" panose="020B0604020202020204" pitchFamily="34" charset="0"/>
                <a:ea typeface="Tahoma" panose="020B0604030504040204" pitchFamily="34" charset="0"/>
                <a:cs typeface="Helvetica" panose="020B0604020202020204" pitchFamily="34" charset="0"/>
              </a:rPr>
              <a:t>ij</a:t>
            </a:r>
            <a:r>
              <a:rPr lang="en-GB" sz="3900" b="1" spc="51" dirty="0">
                <a:solidFill>
                  <a:srgbClr val="00FF00"/>
                </a:solidFill>
                <a:latin typeface="Helvetica" panose="020B0604020202020204" pitchFamily="34" charset="0"/>
                <a:ea typeface="Tahoma" panose="020B0604030504040204" pitchFamily="34" charset="0"/>
                <a:cs typeface="Helvetica" panose="020B0604020202020204" pitchFamily="34" charset="0"/>
              </a:rPr>
              <a:t>(k-1)</a:t>
            </a:r>
          </a:p>
          <a:p>
            <a:pPr marL="571472" indent="-571472">
              <a:buFont typeface="Wingdings" panose="05000000000000000000" pitchFamily="2" charset="2"/>
              <a:buChar char="v"/>
            </a:pPr>
            <a:r>
              <a:rPr lang="en-GB" sz="3900" cap="all" spc="51" dirty="0">
                <a:solidFill>
                  <a:srgbClr val="00FF00"/>
                </a:solidFill>
                <a:latin typeface="Helvetica" panose="020B0604020202020204" pitchFamily="34" charset="0"/>
                <a:ea typeface="Tahoma" panose="020B0604030504040204" pitchFamily="34" charset="0"/>
                <a:cs typeface="Helvetica" panose="020B0604020202020204" pitchFamily="34" charset="0"/>
              </a:rPr>
              <a:t>  </a:t>
            </a:r>
            <a:r>
              <a:rPr lang="en-GB" sz="3900" spc="51" dirty="0">
                <a:solidFill>
                  <a:srgbClr val="00FF00"/>
                </a:solidFill>
                <a:latin typeface="Helvetica" panose="020B0604020202020204" pitchFamily="34" charset="0"/>
                <a:ea typeface="Tahoma" panose="020B0604030504040204" pitchFamily="34" charset="0"/>
                <a:cs typeface="Helvetica" panose="020B0604020202020204" pitchFamily="34" charset="0"/>
              </a:rPr>
              <a:t>If the vertex k is an intermediate vertex on the path P, then </a:t>
            </a:r>
            <a:r>
              <a:rPr lang="en-GB" sz="3900" b="1"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d</a:t>
            </a:r>
            <a:r>
              <a:rPr lang="en-GB" sz="3900" b="1" spc="51" baseline="-25000" dirty="0" err="1">
                <a:solidFill>
                  <a:srgbClr val="00FF00"/>
                </a:solidFill>
                <a:latin typeface="Helvetica" panose="020B0604020202020204" pitchFamily="34" charset="0"/>
                <a:ea typeface="Tahoma" panose="020B0604030504040204" pitchFamily="34" charset="0"/>
                <a:cs typeface="Helvetica" panose="020B0604020202020204" pitchFamily="34" charset="0"/>
              </a:rPr>
              <a:t>ij</a:t>
            </a:r>
            <a:r>
              <a:rPr lang="en-GB" sz="3900" b="1" spc="51" dirty="0">
                <a:solidFill>
                  <a:srgbClr val="00FF00"/>
                </a:solidFill>
                <a:latin typeface="Helvetica" panose="020B0604020202020204" pitchFamily="34" charset="0"/>
                <a:ea typeface="Tahoma" panose="020B0604030504040204" pitchFamily="34" charset="0"/>
                <a:cs typeface="Helvetica" panose="020B0604020202020204" pitchFamily="34" charset="0"/>
              </a:rPr>
              <a:t>(k) = </a:t>
            </a:r>
            <a:r>
              <a:rPr lang="en-GB" sz="3900" b="1"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d</a:t>
            </a:r>
            <a:r>
              <a:rPr lang="en-GB" sz="3900" b="1" spc="51" baseline="-25000" dirty="0" err="1">
                <a:solidFill>
                  <a:srgbClr val="00FF00"/>
                </a:solidFill>
                <a:latin typeface="Helvetica" panose="020B0604020202020204" pitchFamily="34" charset="0"/>
                <a:ea typeface="Tahoma" panose="020B0604030504040204" pitchFamily="34" charset="0"/>
                <a:cs typeface="Helvetica" panose="020B0604020202020204" pitchFamily="34" charset="0"/>
              </a:rPr>
              <a:t>ik</a:t>
            </a:r>
            <a:r>
              <a:rPr lang="en-GB" sz="3900" b="1" spc="51" dirty="0">
                <a:solidFill>
                  <a:srgbClr val="00FF00"/>
                </a:solidFill>
                <a:latin typeface="Helvetica" panose="020B0604020202020204" pitchFamily="34" charset="0"/>
                <a:ea typeface="Tahoma" panose="020B0604030504040204" pitchFamily="34" charset="0"/>
                <a:cs typeface="Helvetica" panose="020B0604020202020204" pitchFamily="34" charset="0"/>
              </a:rPr>
              <a:t>(k-1) + </a:t>
            </a:r>
            <a:r>
              <a:rPr lang="en-GB" sz="3900" b="1"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d</a:t>
            </a:r>
            <a:r>
              <a:rPr lang="en-GB" sz="3900" b="1" spc="51" baseline="-25000" dirty="0" err="1">
                <a:solidFill>
                  <a:srgbClr val="00FF00"/>
                </a:solidFill>
                <a:latin typeface="Helvetica" panose="020B0604020202020204" pitchFamily="34" charset="0"/>
                <a:ea typeface="Tahoma" panose="020B0604030504040204" pitchFamily="34" charset="0"/>
                <a:cs typeface="Helvetica" panose="020B0604020202020204" pitchFamily="34" charset="0"/>
              </a:rPr>
              <a:t>kj</a:t>
            </a:r>
            <a:r>
              <a:rPr lang="en-GB" sz="3900" b="1" spc="51" dirty="0">
                <a:solidFill>
                  <a:srgbClr val="00FF00"/>
                </a:solidFill>
                <a:latin typeface="Helvetica" panose="020B0604020202020204" pitchFamily="34" charset="0"/>
                <a:ea typeface="Tahoma" panose="020B0604030504040204" pitchFamily="34" charset="0"/>
                <a:cs typeface="Helvetica" panose="020B0604020202020204" pitchFamily="34" charset="0"/>
              </a:rPr>
              <a:t>(k-1)</a:t>
            </a:r>
          </a:p>
          <a:p>
            <a:r>
              <a:rPr lang="en-GB" sz="3900" spc="51" dirty="0">
                <a:solidFill>
                  <a:srgbClr val="00FF00"/>
                </a:solidFill>
                <a:latin typeface="Helvetica" panose="020B0604020202020204" pitchFamily="34" charset="0"/>
                <a:ea typeface="Tahoma" panose="020B0604030504040204" pitchFamily="34" charset="0"/>
                <a:cs typeface="Helvetica" panose="020B0604020202020204" pitchFamily="34" charset="0"/>
              </a:rPr>
              <a:t>Interestingly, in either case, the </a:t>
            </a:r>
            <a:r>
              <a:rPr lang="en-GB" sz="3900" spc="51" dirty="0" err="1">
                <a:solidFill>
                  <a:srgbClr val="00FF00"/>
                </a:solidFill>
                <a:latin typeface="Helvetica" panose="020B0604020202020204" pitchFamily="34" charset="0"/>
                <a:ea typeface="Tahoma" panose="020B0604030504040204" pitchFamily="34" charset="0"/>
                <a:cs typeface="Helvetica" panose="020B0604020202020204" pitchFamily="34" charset="0"/>
              </a:rPr>
              <a:t>subpaths</a:t>
            </a:r>
            <a:r>
              <a:rPr lang="en-GB" sz="3900" spc="51" dirty="0">
                <a:solidFill>
                  <a:srgbClr val="00FF00"/>
                </a:solidFill>
                <a:latin typeface="Helvetica" panose="020B0604020202020204" pitchFamily="34" charset="0"/>
                <a:ea typeface="Tahoma" panose="020B0604030504040204" pitchFamily="34" charset="0"/>
                <a:cs typeface="Helvetica" panose="020B0604020202020204" pitchFamily="34" charset="0"/>
              </a:rPr>
              <a:t> contain merely nodes from {1,…,k-1}</a:t>
            </a:r>
            <a:r>
              <a:rPr lang="en-GB" sz="3900" spc="51" dirty="0">
                <a:solidFill>
                  <a:srgbClr val="00CC00"/>
                </a:solidFill>
                <a:latin typeface="Helvetica" panose="020B0604020202020204" pitchFamily="34" charset="0"/>
                <a:ea typeface="Tahoma" panose="020B0604030504040204" pitchFamily="34" charset="0"/>
                <a:cs typeface="Helvetica" panose="020B0604020202020204" pitchFamily="34" charset="0"/>
              </a:rPr>
              <a:t>. </a:t>
            </a:r>
            <a:endParaRPr lang="en-GB" sz="3900" cap="all" spc="51" dirty="0">
              <a:solidFill>
                <a:srgbClr val="00CC00"/>
              </a:solidFill>
              <a:latin typeface="Helvetica" panose="020B0604020202020204" pitchFamily="34" charset="0"/>
              <a:ea typeface="Tahoma" panose="020B0604030504040204" pitchFamily="34" charset="0"/>
              <a:cs typeface="Helvetica" panose="020B0604020202020204" pitchFamily="34" charset="0"/>
            </a:endParaRPr>
          </a:p>
          <a:p>
            <a:endParaRPr lang="en-US" sz="60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endParaRPr>
          </a:p>
        </p:txBody>
      </p:sp>
      <p:sp>
        <p:nvSpPr>
          <p:cNvPr id="6" name="Title 5"/>
          <p:cNvSpPr txBox="1">
            <a:spLocks noGrp="1"/>
          </p:cNvSpPr>
          <p:nvPr>
            <p:ph type="title"/>
          </p:nvPr>
        </p:nvSpPr>
        <p:spPr>
          <a:xfrm>
            <a:off x="88900" y="269375"/>
            <a:ext cx="10515600" cy="1006429"/>
          </a:xfrm>
          <a:prstGeom prst="rect">
            <a:avLst/>
          </a:prstGeom>
          <a:solidFill>
            <a:srgbClr val="503D00"/>
          </a:solidFill>
        </p:spPr>
        <p:txBody>
          <a:bodyPr wrap="square" rtlCol="0">
            <a:spAutoFit/>
          </a:bodyPr>
          <a:lstStyle/>
          <a:p>
            <a:pPr algn="ctr"/>
            <a:r>
              <a:rPr lang="en-US" sz="6600" b="1" cap="all" spc="51" dirty="0">
                <a:solidFill>
                  <a:srgbClr val="00CC00"/>
                </a:solidFill>
                <a:latin typeface="Helvetica" panose="020B0604020202020204" pitchFamily="34" charset="0"/>
                <a:ea typeface="Tahoma" panose="020B0604030504040204" pitchFamily="34" charset="0"/>
                <a:cs typeface="Helvetica" panose="020B0604020202020204" pitchFamily="34" charset="0"/>
              </a:rPr>
              <a:t>HOW IT WORKS</a:t>
            </a:r>
          </a:p>
        </p:txBody>
      </p:sp>
    </p:spTree>
    <p:extLst>
      <p:ext uri="{BB962C8B-B14F-4D97-AF65-F5344CB8AC3E}">
        <p14:creationId xmlns:p14="http://schemas.microsoft.com/office/powerpoint/2010/main" val="3928496445"/>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6" y="1476727"/>
            <a:ext cx="12192000" cy="5303520"/>
          </a:xfrm>
        </p:spPr>
        <p:txBody>
          <a:bodyPr>
            <a:noAutofit/>
          </a:bodyPr>
          <a:lstStyle/>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Therefore, we can conclude that</a:t>
            </a:r>
          </a:p>
          <a:p>
            <a:pPr lvl="0" algn="l">
              <a:lnSpc>
                <a:spcPct val="100000"/>
              </a:lnSpc>
            </a:pPr>
            <a:endParaRPr lang="en-GB" sz="3000" dirty="0">
              <a:solidFill>
                <a:srgbClr val="00FF00"/>
              </a:solidFill>
              <a:latin typeface="Helvetica" panose="020B0604020202020204" pitchFamily="34" charset="0"/>
              <a:cs typeface="Helvetica" panose="020B0604020202020204" pitchFamily="34" charset="0"/>
            </a:endParaRPr>
          </a:p>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	</a:t>
            </a:r>
            <a:r>
              <a:rPr lang="en-GB" sz="4000" dirty="0" err="1">
                <a:solidFill>
                  <a:srgbClr val="00FF00"/>
                </a:solidFill>
                <a:latin typeface="Helvetica" panose="020B0604020202020204" pitchFamily="34" charset="0"/>
                <a:cs typeface="Helvetica" panose="020B0604020202020204" pitchFamily="34" charset="0"/>
              </a:rPr>
              <a:t>d</a:t>
            </a:r>
            <a:r>
              <a:rPr lang="en-GB" sz="4000" baseline="-25000" dirty="0" err="1">
                <a:solidFill>
                  <a:srgbClr val="00FF00"/>
                </a:solidFill>
                <a:latin typeface="Helvetica" panose="020B0604020202020204" pitchFamily="34" charset="0"/>
                <a:cs typeface="Helvetica" panose="020B0604020202020204" pitchFamily="34" charset="0"/>
              </a:rPr>
              <a:t>ij</a:t>
            </a:r>
            <a:r>
              <a:rPr lang="en-GB" sz="4000" dirty="0">
                <a:solidFill>
                  <a:srgbClr val="00FF00"/>
                </a:solidFill>
                <a:latin typeface="Helvetica" panose="020B0604020202020204" pitchFamily="34" charset="0"/>
                <a:cs typeface="Helvetica" panose="020B0604020202020204" pitchFamily="34" charset="0"/>
              </a:rPr>
              <a:t>(k) = min{</a:t>
            </a:r>
            <a:r>
              <a:rPr lang="en-GB" sz="4000" dirty="0" err="1">
                <a:solidFill>
                  <a:srgbClr val="00FF00"/>
                </a:solidFill>
                <a:latin typeface="Helvetica" panose="020B0604020202020204" pitchFamily="34" charset="0"/>
                <a:cs typeface="Helvetica" panose="020B0604020202020204" pitchFamily="34" charset="0"/>
              </a:rPr>
              <a:t>d</a:t>
            </a:r>
            <a:r>
              <a:rPr lang="en-GB" sz="4000" baseline="-25000" dirty="0" err="1">
                <a:solidFill>
                  <a:srgbClr val="00FF00"/>
                </a:solidFill>
                <a:latin typeface="Helvetica" panose="020B0604020202020204" pitchFamily="34" charset="0"/>
                <a:cs typeface="Helvetica" panose="020B0604020202020204" pitchFamily="34" charset="0"/>
              </a:rPr>
              <a:t>ij</a:t>
            </a:r>
            <a:r>
              <a:rPr lang="en-GB" sz="4000" dirty="0">
                <a:solidFill>
                  <a:srgbClr val="00FF00"/>
                </a:solidFill>
                <a:latin typeface="Helvetica" panose="020B0604020202020204" pitchFamily="34" charset="0"/>
                <a:cs typeface="Helvetica" panose="020B0604020202020204" pitchFamily="34" charset="0"/>
              </a:rPr>
              <a:t>(k-1) , </a:t>
            </a:r>
            <a:r>
              <a:rPr lang="en-GB" sz="4000" dirty="0" err="1">
                <a:solidFill>
                  <a:srgbClr val="00FF00"/>
                </a:solidFill>
                <a:latin typeface="Helvetica" panose="020B0604020202020204" pitchFamily="34" charset="0"/>
                <a:cs typeface="Helvetica" panose="020B0604020202020204" pitchFamily="34" charset="0"/>
              </a:rPr>
              <a:t>d</a:t>
            </a:r>
            <a:r>
              <a:rPr lang="en-GB" sz="4000" baseline="-25000" dirty="0" err="1">
                <a:solidFill>
                  <a:srgbClr val="00FF00"/>
                </a:solidFill>
                <a:latin typeface="Helvetica" panose="020B0604020202020204" pitchFamily="34" charset="0"/>
                <a:cs typeface="Helvetica" panose="020B0604020202020204" pitchFamily="34" charset="0"/>
              </a:rPr>
              <a:t>ik</a:t>
            </a:r>
            <a:r>
              <a:rPr lang="en-GB" sz="4000" dirty="0">
                <a:solidFill>
                  <a:srgbClr val="00FF00"/>
                </a:solidFill>
                <a:latin typeface="Helvetica" panose="020B0604020202020204" pitchFamily="34" charset="0"/>
                <a:cs typeface="Helvetica" panose="020B0604020202020204" pitchFamily="34" charset="0"/>
              </a:rPr>
              <a:t>(k-1) + </a:t>
            </a:r>
            <a:r>
              <a:rPr lang="en-GB" sz="4000" dirty="0" err="1">
                <a:solidFill>
                  <a:srgbClr val="00FF00"/>
                </a:solidFill>
                <a:latin typeface="Helvetica" panose="020B0604020202020204" pitchFamily="34" charset="0"/>
                <a:cs typeface="Helvetica" panose="020B0604020202020204" pitchFamily="34" charset="0"/>
              </a:rPr>
              <a:t>d</a:t>
            </a:r>
            <a:r>
              <a:rPr lang="en-GB" sz="4000" baseline="-25000" dirty="0" err="1">
                <a:solidFill>
                  <a:srgbClr val="00FF00"/>
                </a:solidFill>
                <a:latin typeface="Helvetica" panose="020B0604020202020204" pitchFamily="34" charset="0"/>
                <a:cs typeface="Helvetica" panose="020B0604020202020204" pitchFamily="34" charset="0"/>
              </a:rPr>
              <a:t>kj</a:t>
            </a:r>
            <a:r>
              <a:rPr lang="en-GB" sz="4000" dirty="0">
                <a:solidFill>
                  <a:srgbClr val="00FF00"/>
                </a:solidFill>
                <a:latin typeface="Helvetica" panose="020B0604020202020204" pitchFamily="34" charset="0"/>
                <a:cs typeface="Helvetica" panose="020B0604020202020204" pitchFamily="34" charset="0"/>
              </a:rPr>
              <a:t>(k-1)}</a:t>
            </a:r>
          </a:p>
          <a:p>
            <a:pPr marL="457178" indent="-457178" algn="l">
              <a:lnSpc>
                <a:spcPct val="100000"/>
              </a:lnSpc>
              <a:buFont typeface="Wingdings" panose="05000000000000000000" pitchFamily="2" charset="2"/>
              <a:buChar char="Ø"/>
            </a:pPr>
            <a:endParaRPr lang="en-US" sz="3000" dirty="0">
              <a:solidFill>
                <a:srgbClr val="00FF00"/>
              </a:solidFill>
              <a:latin typeface="Helvetica" panose="020B0604020202020204" pitchFamily="34" charset="0"/>
              <a:cs typeface="Helvetica" panose="020B0604020202020204" pitchFamily="34" charset="0"/>
            </a:endParaRPr>
          </a:p>
        </p:txBody>
      </p:sp>
      <p:sp>
        <p:nvSpPr>
          <p:cNvPr id="12" name="TextBox 11"/>
          <p:cNvSpPr txBox="1"/>
          <p:nvPr/>
        </p:nvSpPr>
        <p:spPr>
          <a:xfrm>
            <a:off x="1036320" y="368731"/>
            <a:ext cx="9250680" cy="1107996"/>
          </a:xfrm>
          <a:prstGeom prst="rect">
            <a:avLst/>
          </a:prstGeom>
          <a:solidFill>
            <a:srgbClr val="503D00"/>
          </a:solidFill>
        </p:spPr>
        <p:txBody>
          <a:bodyPr wrap="square" rtlCol="0">
            <a:spAutoFit/>
          </a:bodyPr>
          <a:lstStyle/>
          <a:p>
            <a:pPr algn="ctr"/>
            <a:r>
              <a:rPr lang="en-US" sz="6600" b="1" cap="all" spc="51" dirty="0">
                <a:solidFill>
                  <a:srgbClr val="00CC00"/>
                </a:solidFill>
                <a:latin typeface="Helvetica" panose="020B0604020202020204" pitchFamily="34" charset="0"/>
                <a:ea typeface="Tahoma" panose="020B0604030504040204" pitchFamily="34" charset="0"/>
                <a:cs typeface="Helvetica" panose="020B0604020202020204" pitchFamily="34" charset="0"/>
              </a:rPr>
              <a:t>Deduction:&gt;</a:t>
            </a:r>
          </a:p>
        </p:txBody>
      </p:sp>
      <p:grpSp>
        <p:nvGrpSpPr>
          <p:cNvPr id="2" name="Group 1"/>
          <p:cNvGrpSpPr/>
          <p:nvPr/>
        </p:nvGrpSpPr>
        <p:grpSpPr>
          <a:xfrm>
            <a:off x="1213917" y="3489470"/>
            <a:ext cx="8052919" cy="2561436"/>
            <a:chOff x="1172968" y="4103616"/>
            <a:chExt cx="8052919" cy="2561436"/>
          </a:xfrm>
        </p:grpSpPr>
        <p:sp>
          <p:nvSpPr>
            <p:cNvPr id="5" name="Oval 3"/>
            <p:cNvSpPr>
              <a:spLocks noChangeArrowheads="1"/>
            </p:cNvSpPr>
            <p:nvPr/>
          </p:nvSpPr>
          <p:spPr bwMode="auto">
            <a:xfrm>
              <a:off x="8315159" y="5246616"/>
              <a:ext cx="910728" cy="673100"/>
            </a:xfrm>
            <a:prstGeom prst="ellipse">
              <a:avLst/>
            </a:prstGeom>
            <a:solidFill>
              <a:schemeClr val="bg1"/>
            </a:solidFill>
            <a:ln w="12700">
              <a:solidFill>
                <a:schemeClr val="tx1"/>
              </a:solidFill>
              <a:round/>
              <a:headEnd/>
              <a:tailEnd/>
            </a:ln>
          </p:spPr>
          <p:txBody>
            <a:bodyPr wrap="none" lIns="92075" tIns="46039" rIns="92075" bIns="46039"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800" dirty="0"/>
                <a:t>Lag</a:t>
              </a:r>
            </a:p>
          </p:txBody>
        </p:sp>
        <p:sp>
          <p:nvSpPr>
            <p:cNvPr id="6" name="Oval 4"/>
            <p:cNvSpPr>
              <a:spLocks noChangeArrowheads="1"/>
            </p:cNvSpPr>
            <p:nvPr/>
          </p:nvSpPr>
          <p:spPr bwMode="auto">
            <a:xfrm>
              <a:off x="5049671" y="4103616"/>
              <a:ext cx="673100" cy="673100"/>
            </a:xfrm>
            <a:prstGeom prst="ellipse">
              <a:avLst/>
            </a:prstGeom>
            <a:solidFill>
              <a:schemeClr val="bg1"/>
            </a:solidFill>
            <a:ln w="12700">
              <a:solidFill>
                <a:schemeClr val="tx1"/>
              </a:solidFill>
              <a:round/>
              <a:headEnd/>
              <a:tailEnd/>
            </a:ln>
          </p:spPr>
          <p:txBody>
            <a:bodyPr wrap="none" lIns="92075" tIns="46039" rIns="92075" bIns="46039"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800" dirty="0"/>
                <a:t>k</a:t>
              </a:r>
            </a:p>
          </p:txBody>
        </p:sp>
        <p:sp>
          <p:nvSpPr>
            <p:cNvPr id="7" name="Line 5"/>
            <p:cNvSpPr>
              <a:spLocks noChangeShapeType="1"/>
            </p:cNvSpPr>
            <p:nvPr/>
          </p:nvSpPr>
          <p:spPr bwMode="auto">
            <a:xfrm>
              <a:off x="2149309" y="5545066"/>
              <a:ext cx="9890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8" name="Oval 6"/>
            <p:cNvSpPr>
              <a:spLocks noChangeArrowheads="1"/>
            </p:cNvSpPr>
            <p:nvPr/>
          </p:nvSpPr>
          <p:spPr bwMode="auto">
            <a:xfrm>
              <a:off x="1172968" y="4935466"/>
              <a:ext cx="1273203" cy="908050"/>
            </a:xfrm>
            <a:prstGeom prst="ellipse">
              <a:avLst/>
            </a:prstGeom>
            <a:solidFill>
              <a:schemeClr val="bg1"/>
            </a:solidFill>
            <a:ln w="12700">
              <a:solidFill>
                <a:schemeClr val="tx1"/>
              </a:solidFill>
              <a:round/>
              <a:headEnd/>
              <a:tailEnd/>
            </a:ln>
          </p:spPr>
          <p:txBody>
            <a:bodyPr wrap="none" lIns="92075" tIns="46039" rIns="92075" bIns="46039"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800" dirty="0" err="1"/>
                <a:t>Abj</a:t>
              </a:r>
              <a:endParaRPr lang="en-US" sz="2800" dirty="0"/>
            </a:p>
          </p:txBody>
        </p:sp>
        <p:sp>
          <p:nvSpPr>
            <p:cNvPr id="9" name="Line 7"/>
            <p:cNvSpPr>
              <a:spLocks noChangeShapeType="1"/>
            </p:cNvSpPr>
            <p:nvPr/>
          </p:nvSpPr>
          <p:spPr bwMode="auto">
            <a:xfrm>
              <a:off x="3444709" y="5545066"/>
              <a:ext cx="9890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10" name="Oval 8"/>
            <p:cNvSpPr>
              <a:spLocks noChangeArrowheads="1"/>
            </p:cNvSpPr>
            <p:nvPr/>
          </p:nvSpPr>
          <p:spPr bwMode="auto">
            <a:xfrm>
              <a:off x="2868587" y="5170416"/>
              <a:ext cx="968234" cy="673100"/>
            </a:xfrm>
            <a:prstGeom prst="ellipse">
              <a:avLst/>
            </a:prstGeom>
            <a:solidFill>
              <a:schemeClr val="bg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LKJ</a:t>
              </a:r>
            </a:p>
          </p:txBody>
        </p:sp>
        <p:sp>
          <p:nvSpPr>
            <p:cNvPr id="11" name="Line 9"/>
            <p:cNvSpPr>
              <a:spLocks noChangeShapeType="1"/>
            </p:cNvSpPr>
            <p:nvPr/>
          </p:nvSpPr>
          <p:spPr bwMode="auto">
            <a:xfrm>
              <a:off x="7345253" y="5546298"/>
              <a:ext cx="9890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13" name="Oval 10"/>
            <p:cNvSpPr>
              <a:spLocks noChangeArrowheads="1"/>
            </p:cNvSpPr>
            <p:nvPr/>
          </p:nvSpPr>
          <p:spPr bwMode="auto">
            <a:xfrm>
              <a:off x="4479761" y="5132316"/>
              <a:ext cx="1158107" cy="819150"/>
            </a:xfrm>
            <a:prstGeom prst="ellipse">
              <a:avLst/>
            </a:prstGeom>
            <a:solidFill>
              <a:schemeClr val="bg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EKITI</a:t>
              </a:r>
            </a:p>
          </p:txBody>
        </p:sp>
        <p:sp>
          <p:nvSpPr>
            <p:cNvPr id="14" name="Line 11"/>
            <p:cNvSpPr>
              <a:spLocks noChangeShapeType="1"/>
            </p:cNvSpPr>
            <p:nvPr/>
          </p:nvSpPr>
          <p:spPr bwMode="auto">
            <a:xfrm>
              <a:off x="5637868" y="5545966"/>
              <a:ext cx="9128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16" name="Oval 14"/>
            <p:cNvSpPr>
              <a:spLocks noChangeArrowheads="1"/>
            </p:cNvSpPr>
            <p:nvPr/>
          </p:nvSpPr>
          <p:spPr bwMode="auto">
            <a:xfrm>
              <a:off x="6540273" y="5198249"/>
              <a:ext cx="1168514" cy="673100"/>
            </a:xfrm>
            <a:prstGeom prst="ellipse">
              <a:avLst/>
            </a:prstGeom>
            <a:solidFill>
              <a:schemeClr val="bg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 IBADAN</a:t>
              </a:r>
            </a:p>
          </p:txBody>
        </p:sp>
        <p:sp>
          <p:nvSpPr>
            <p:cNvPr id="17" name="Line 15"/>
            <p:cNvSpPr>
              <a:spLocks noChangeShapeType="1"/>
            </p:cNvSpPr>
            <p:nvPr/>
          </p:nvSpPr>
          <p:spPr bwMode="auto">
            <a:xfrm flipV="1">
              <a:off x="4054309" y="4479854"/>
              <a:ext cx="989012" cy="4556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18" name="Line 16"/>
            <p:cNvSpPr>
              <a:spLocks noChangeShapeType="1"/>
            </p:cNvSpPr>
            <p:nvPr/>
          </p:nvSpPr>
          <p:spPr bwMode="auto">
            <a:xfrm>
              <a:off x="5730709" y="4403654"/>
              <a:ext cx="912812" cy="531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19" name="Oval 17"/>
            <p:cNvSpPr>
              <a:spLocks noChangeArrowheads="1"/>
            </p:cNvSpPr>
            <p:nvPr/>
          </p:nvSpPr>
          <p:spPr bwMode="auto">
            <a:xfrm>
              <a:off x="2670085" y="4742637"/>
              <a:ext cx="5245100" cy="1739900"/>
            </a:xfrm>
            <a:prstGeom prst="ellipse">
              <a:avLst/>
            </a:prstGeom>
            <a:noFill/>
            <a:ln w="12700">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20" name="Line 7"/>
            <p:cNvSpPr>
              <a:spLocks noChangeShapeType="1"/>
            </p:cNvSpPr>
            <p:nvPr/>
          </p:nvSpPr>
          <p:spPr bwMode="auto">
            <a:xfrm>
              <a:off x="2687470" y="5633967"/>
              <a:ext cx="1993711" cy="703261"/>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sp>
          <p:nvSpPr>
            <p:cNvPr id="21" name="Oval 14"/>
            <p:cNvSpPr>
              <a:spLocks noChangeArrowheads="1"/>
            </p:cNvSpPr>
            <p:nvPr/>
          </p:nvSpPr>
          <p:spPr bwMode="auto">
            <a:xfrm>
              <a:off x="4680336" y="5991952"/>
              <a:ext cx="1168514" cy="673100"/>
            </a:xfrm>
            <a:prstGeom prst="ellipse">
              <a:avLst/>
            </a:prstGeom>
            <a:solidFill>
              <a:schemeClr val="bg1"/>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 </a:t>
              </a:r>
              <a:r>
                <a:rPr lang="en-US" dirty="0" err="1"/>
                <a:t>akure</a:t>
              </a:r>
              <a:endParaRPr lang="en-US" dirty="0"/>
            </a:p>
          </p:txBody>
        </p:sp>
        <p:sp>
          <p:nvSpPr>
            <p:cNvPr id="22" name="Line 11"/>
            <p:cNvSpPr>
              <a:spLocks noChangeShapeType="1"/>
            </p:cNvSpPr>
            <p:nvPr/>
          </p:nvSpPr>
          <p:spPr bwMode="auto">
            <a:xfrm flipV="1">
              <a:off x="5848849" y="5633967"/>
              <a:ext cx="2325021" cy="688137"/>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en-GB"/>
            </a:p>
          </p:txBody>
        </p:sp>
      </p:grpSp>
    </p:spTree>
    <p:extLst>
      <p:ext uri="{BB962C8B-B14F-4D97-AF65-F5344CB8AC3E}">
        <p14:creationId xmlns:p14="http://schemas.microsoft.com/office/powerpoint/2010/main" val="2103749831"/>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6" y="1476727"/>
            <a:ext cx="12192000" cy="5303520"/>
          </a:xfrm>
        </p:spPr>
        <p:txBody>
          <a:bodyPr>
            <a:noAutofit/>
          </a:bodyPr>
          <a:lstStyle/>
          <a:p>
            <a:pPr lvl="0"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p:txBody>
      </p:sp>
      <p:sp>
        <p:nvSpPr>
          <p:cNvPr id="12" name="TextBox 11"/>
          <p:cNvSpPr txBox="1"/>
          <p:nvPr/>
        </p:nvSpPr>
        <p:spPr>
          <a:xfrm>
            <a:off x="533400" y="368735"/>
            <a:ext cx="9753600" cy="584775"/>
          </a:xfrm>
          <a:prstGeom prst="rect">
            <a:avLst/>
          </a:prstGeom>
          <a:solidFill>
            <a:srgbClr val="503D00"/>
          </a:solidFill>
        </p:spPr>
        <p:txBody>
          <a:bodyPr wrap="square" rtlCol="0">
            <a:spAutoFit/>
          </a:bodyPr>
          <a:lstStyle/>
          <a:p>
            <a:pPr algn="ctr"/>
            <a:r>
              <a:rPr lang="en-US" sz="32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rPr>
              <a:t>Floyd </a:t>
            </a:r>
            <a:r>
              <a:rPr lang="en-US" sz="3200" b="1" cap="all" spc="51" dirty="0" err="1">
                <a:solidFill>
                  <a:srgbClr val="00CC00"/>
                </a:solidFill>
                <a:latin typeface="Rockwell" panose="02060603020205020403" pitchFamily="18" charset="0"/>
                <a:ea typeface="Tahoma" panose="020B0604030504040204" pitchFamily="34" charset="0"/>
                <a:cs typeface="Helvetica" panose="020B0604020202020204" pitchFamily="34" charset="0"/>
              </a:rPr>
              <a:t>Warshall</a:t>
            </a:r>
            <a:r>
              <a:rPr lang="en-US" sz="32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rPr>
              <a:t> Algorithm - Example</a:t>
            </a:r>
          </a:p>
        </p:txBody>
      </p:sp>
      <p:pic>
        <p:nvPicPr>
          <p:cNvPr id="23" name="Picture 10" descr="floyd0.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50868" y="1246658"/>
            <a:ext cx="254079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3" descr="floyd1.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0870" y="2542427"/>
            <a:ext cx="256698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floyd2.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0868" y="3941855"/>
            <a:ext cx="254079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descr="floyd3.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50868" y="5328065"/>
            <a:ext cx="254079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4" descr="floyd4.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634249" y="1713261"/>
            <a:ext cx="4114800" cy="21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27"/>
          <p:cNvSpPr txBox="1">
            <a:spLocks noChangeArrowheads="1"/>
          </p:cNvSpPr>
          <p:nvPr/>
        </p:nvSpPr>
        <p:spPr bwMode="auto">
          <a:xfrm>
            <a:off x="4346511" y="5498873"/>
            <a:ext cx="22109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b="1" u="sng" dirty="0">
                <a:solidFill>
                  <a:srgbClr val="00FF00"/>
                </a:solidFill>
              </a:rPr>
              <a:t>Consider Vertex 3:</a:t>
            </a:r>
          </a:p>
          <a:p>
            <a:pPr eaLnBrk="1" hangingPunct="1"/>
            <a:r>
              <a:rPr lang="en-US" dirty="0">
                <a:solidFill>
                  <a:srgbClr val="00FF00"/>
                </a:solidFill>
              </a:rPr>
              <a:t>   Nothing changes.</a:t>
            </a:r>
          </a:p>
        </p:txBody>
      </p:sp>
      <p:sp>
        <p:nvSpPr>
          <p:cNvPr id="29" name="TextBox 28"/>
          <p:cNvSpPr txBox="1">
            <a:spLocks noChangeArrowheads="1"/>
          </p:cNvSpPr>
          <p:nvPr/>
        </p:nvSpPr>
        <p:spPr bwMode="auto">
          <a:xfrm>
            <a:off x="4071083" y="4032693"/>
            <a:ext cx="27622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b="1" u="sng" dirty="0">
                <a:solidFill>
                  <a:srgbClr val="00FF00"/>
                </a:solidFill>
              </a:rPr>
              <a:t>Consider Vertex 2:</a:t>
            </a:r>
          </a:p>
          <a:p>
            <a:pPr eaLnBrk="1" hangingPunct="1"/>
            <a:r>
              <a:rPr lang="en-US" dirty="0">
                <a:solidFill>
                  <a:srgbClr val="00FF00"/>
                </a:solidFill>
              </a:rPr>
              <a:t>  D(1,3) = D(1,2) + D(2,3)</a:t>
            </a:r>
          </a:p>
        </p:txBody>
      </p:sp>
      <p:sp>
        <p:nvSpPr>
          <p:cNvPr id="30" name="TextBox 29"/>
          <p:cNvSpPr txBox="1">
            <a:spLocks noChangeArrowheads="1"/>
          </p:cNvSpPr>
          <p:nvPr/>
        </p:nvSpPr>
        <p:spPr bwMode="auto">
          <a:xfrm>
            <a:off x="4013157" y="2743457"/>
            <a:ext cx="276229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b="1" u="sng" dirty="0">
                <a:solidFill>
                  <a:srgbClr val="00FF00"/>
                </a:solidFill>
              </a:rPr>
              <a:t>Consider Vertex 1:</a:t>
            </a:r>
          </a:p>
          <a:p>
            <a:pPr eaLnBrk="1" hangingPunct="1"/>
            <a:r>
              <a:rPr lang="en-US" dirty="0">
                <a:solidFill>
                  <a:srgbClr val="00FF00"/>
                </a:solidFill>
              </a:rPr>
              <a:t>  D(3,2) = D(3,1) + D(1,2)</a:t>
            </a:r>
          </a:p>
        </p:txBody>
      </p:sp>
      <p:sp>
        <p:nvSpPr>
          <p:cNvPr id="31" name="TextBox 18"/>
          <p:cNvSpPr txBox="1">
            <a:spLocks noChangeArrowheads="1"/>
          </p:cNvSpPr>
          <p:nvPr/>
        </p:nvSpPr>
        <p:spPr bwMode="auto">
          <a:xfrm>
            <a:off x="4209945" y="1730439"/>
            <a:ext cx="18902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solidFill>
                  <a:srgbClr val="00FF00"/>
                </a:solidFill>
              </a:rPr>
              <a:t>Original weights</a:t>
            </a:r>
            <a:r>
              <a:rPr lang="en-US" dirty="0"/>
              <a:t>.</a:t>
            </a:r>
          </a:p>
        </p:txBody>
      </p:sp>
      <p:sp>
        <p:nvSpPr>
          <p:cNvPr id="32" name="Oval 31"/>
          <p:cNvSpPr/>
          <p:nvPr/>
        </p:nvSpPr>
        <p:spPr>
          <a:xfrm>
            <a:off x="2514600" y="3505200"/>
            <a:ext cx="457200" cy="4572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Oval 32"/>
          <p:cNvSpPr/>
          <p:nvPr/>
        </p:nvSpPr>
        <p:spPr>
          <a:xfrm>
            <a:off x="2895600" y="3886200"/>
            <a:ext cx="457200" cy="4572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5043951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2" grpId="0" animBg="1"/>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26" y="1105469"/>
            <a:ext cx="12192000" cy="5674778"/>
          </a:xfrm>
        </p:spPr>
        <p:txBody>
          <a:bodyPr>
            <a:noAutofit/>
          </a:bodyPr>
          <a:lstStyle/>
          <a:p>
            <a:pPr marL="274306" lvl="1" algn="l">
              <a:lnSpc>
                <a:spcPct val="100000"/>
              </a:lnSpc>
              <a:spcBef>
                <a:spcPts val="600"/>
              </a:spcBef>
            </a:pPr>
            <a:r>
              <a:rPr lang="en-US" sz="3000" dirty="0">
                <a:solidFill>
                  <a:srgbClr val="00FF00"/>
                </a:solidFill>
                <a:latin typeface="Helvetica" panose="020B0604020202020204" pitchFamily="34" charset="0"/>
                <a:cs typeface="Helvetica" panose="020B0604020202020204" pitchFamily="34" charset="0"/>
              </a:rPr>
              <a:t>Python programming language Version 3.2 </a:t>
            </a:r>
          </a:p>
          <a:p>
            <a:pPr marL="274306" lvl="1" algn="l">
              <a:lnSpc>
                <a:spcPct val="100000"/>
              </a:lnSpc>
              <a:spcBef>
                <a:spcPts val="600"/>
              </a:spcBef>
            </a:pPr>
            <a:r>
              <a:rPr lang="en-US" sz="3000" dirty="0">
                <a:solidFill>
                  <a:srgbClr val="00FF00"/>
                </a:solidFill>
                <a:latin typeface="Helvetica" panose="020B0604020202020204" pitchFamily="34" charset="0"/>
                <a:cs typeface="Helvetica" panose="020B0604020202020204" pitchFamily="34" charset="0"/>
              </a:rPr>
              <a:t>	</a:t>
            </a:r>
            <a:r>
              <a:rPr lang="en-US" sz="3000" b="1" dirty="0">
                <a:solidFill>
                  <a:srgbClr val="00FF00"/>
                </a:solidFill>
                <a:latin typeface="Helvetica" panose="020B0604020202020204" pitchFamily="34" charset="0"/>
                <a:cs typeface="Helvetica" panose="020B0604020202020204" pitchFamily="34" charset="0"/>
              </a:rPr>
              <a:t>Framework: Flacks </a:t>
            </a:r>
          </a:p>
          <a:p>
            <a:pPr marL="274306" lvl="1" algn="l">
              <a:lnSpc>
                <a:spcPct val="100000"/>
              </a:lnSpc>
              <a:spcBef>
                <a:spcPts val="600"/>
              </a:spcBef>
            </a:pPr>
            <a:r>
              <a:rPr lang="en-US" sz="3000" dirty="0">
                <a:solidFill>
                  <a:srgbClr val="00FF00"/>
                </a:solidFill>
                <a:latin typeface="Helvetica" panose="020B0604020202020204" pitchFamily="34" charset="0"/>
                <a:cs typeface="Helvetica" panose="020B0604020202020204" pitchFamily="34" charset="0"/>
              </a:rPr>
              <a:t>	</a:t>
            </a:r>
            <a:r>
              <a:rPr lang="en-US" sz="3000" b="1" dirty="0">
                <a:solidFill>
                  <a:srgbClr val="00FF00"/>
                </a:solidFill>
                <a:latin typeface="Helvetica" panose="020B0604020202020204" pitchFamily="34" charset="0"/>
                <a:cs typeface="Helvetica" panose="020B0604020202020204" pitchFamily="34" charset="0"/>
              </a:rPr>
              <a:t>GUI: </a:t>
            </a:r>
            <a:r>
              <a:rPr lang="en-US" sz="3000" b="1" dirty="0" err="1">
                <a:solidFill>
                  <a:srgbClr val="00FF00"/>
                </a:solidFill>
                <a:latin typeface="Helvetica" panose="020B0604020202020204" pitchFamily="34" charset="0"/>
                <a:cs typeface="Helvetica" panose="020B0604020202020204" pitchFamily="34" charset="0"/>
              </a:rPr>
              <a:t>Tkinters</a:t>
            </a:r>
            <a:r>
              <a:rPr lang="en-US" sz="3000" b="1" dirty="0">
                <a:solidFill>
                  <a:srgbClr val="00FF00"/>
                </a:solidFill>
                <a:latin typeface="Helvetica" panose="020B0604020202020204" pitchFamily="34" charset="0"/>
                <a:cs typeface="Helvetica" panose="020B0604020202020204" pitchFamily="34" charset="0"/>
              </a:rPr>
              <a:t> </a:t>
            </a:r>
          </a:p>
          <a:p>
            <a:pPr marL="274306" lvl="1" algn="l">
              <a:lnSpc>
                <a:spcPct val="100000"/>
              </a:lnSpc>
              <a:spcBef>
                <a:spcPts val="600"/>
              </a:spcBef>
            </a:pPr>
            <a:r>
              <a:rPr lang="en-US" sz="3000" dirty="0">
                <a:solidFill>
                  <a:srgbClr val="00FF00"/>
                </a:solidFill>
                <a:latin typeface="Helvetica" panose="020B0604020202020204" pitchFamily="34" charset="0"/>
                <a:cs typeface="Helvetica" panose="020B0604020202020204" pitchFamily="34" charset="0"/>
              </a:rPr>
              <a:t>	</a:t>
            </a:r>
            <a:r>
              <a:rPr lang="en-US" sz="3000" b="1" dirty="0">
                <a:solidFill>
                  <a:srgbClr val="00FF00"/>
                </a:solidFill>
                <a:latin typeface="Helvetica" panose="020B0604020202020204" pitchFamily="34" charset="0"/>
                <a:cs typeface="Helvetica" panose="020B0604020202020204" pitchFamily="34" charset="0"/>
              </a:rPr>
              <a:t>IDE : </a:t>
            </a:r>
            <a:r>
              <a:rPr lang="en-US" sz="3000" b="1" dirty="0" err="1">
                <a:solidFill>
                  <a:srgbClr val="00FF00"/>
                </a:solidFill>
                <a:latin typeface="Helvetica" panose="020B0604020202020204" pitchFamily="34" charset="0"/>
                <a:cs typeface="Helvetica" panose="020B0604020202020204" pitchFamily="34" charset="0"/>
              </a:rPr>
              <a:t>PyCharm</a:t>
            </a:r>
            <a:r>
              <a:rPr lang="en-US" sz="3000" b="1" dirty="0">
                <a:solidFill>
                  <a:srgbClr val="00FF00"/>
                </a:solidFill>
                <a:latin typeface="Helvetica" panose="020B0604020202020204" pitchFamily="34" charset="0"/>
                <a:cs typeface="Helvetica" panose="020B0604020202020204" pitchFamily="34" charset="0"/>
              </a:rPr>
              <a:t> </a:t>
            </a:r>
          </a:p>
          <a:p>
            <a:pPr marL="274306" lvl="1" algn="l">
              <a:lnSpc>
                <a:spcPct val="100000"/>
              </a:lnSpc>
              <a:spcBef>
                <a:spcPts val="600"/>
              </a:spcBef>
            </a:pPr>
            <a:r>
              <a:rPr lang="en-GB" sz="3000" dirty="0">
                <a:solidFill>
                  <a:srgbClr val="00FF00"/>
                </a:solidFill>
                <a:latin typeface="Helvetica" panose="020B0604020202020204" pitchFamily="34" charset="0"/>
                <a:cs typeface="Helvetica" panose="020B0604020202020204" pitchFamily="34" charset="0"/>
              </a:rPr>
              <a:t>	</a:t>
            </a:r>
            <a:r>
              <a:rPr lang="en-GB" sz="3000" b="1" dirty="0">
                <a:solidFill>
                  <a:srgbClr val="00FF00"/>
                </a:solidFill>
                <a:latin typeface="Helvetica" panose="020B0604020202020204" pitchFamily="34" charset="0"/>
                <a:cs typeface="Helvetica" panose="020B0604020202020204" pitchFamily="34" charset="0"/>
              </a:rPr>
              <a:t>Lib: </a:t>
            </a:r>
            <a:r>
              <a:rPr lang="en-GB" sz="3000" b="1" dirty="0" err="1">
                <a:solidFill>
                  <a:srgbClr val="00FF00"/>
                </a:solidFill>
                <a:latin typeface="Helvetica" panose="020B0604020202020204" pitchFamily="34" charset="0"/>
                <a:cs typeface="Helvetica" panose="020B0604020202020204" pitchFamily="34" charset="0"/>
              </a:rPr>
              <a:t>NetworkX</a:t>
            </a:r>
            <a:r>
              <a:rPr lang="en-GB" sz="3000" b="1" dirty="0">
                <a:solidFill>
                  <a:srgbClr val="00FF00"/>
                </a:solidFill>
                <a:latin typeface="Helvetica" panose="020B0604020202020204" pitchFamily="34" charset="0"/>
                <a:cs typeface="Helvetica" panose="020B0604020202020204" pitchFamily="34" charset="0"/>
              </a:rPr>
              <a:t> </a:t>
            </a:r>
            <a:r>
              <a:rPr lang="en-GB" sz="3000" dirty="0">
                <a:solidFill>
                  <a:srgbClr val="00FF00"/>
                </a:solidFill>
                <a:latin typeface="Helvetica" panose="020B0604020202020204" pitchFamily="34" charset="0"/>
                <a:cs typeface="Helvetica" panose="020B0604020202020204" pitchFamily="34" charset="0"/>
              </a:rPr>
              <a:t>is a Python-based package for the creation, manipulation, and study of the structure, dynamics, and functions of complex networks.</a:t>
            </a:r>
            <a:r>
              <a:rPr lang="en-US" sz="3000" dirty="0">
                <a:solidFill>
                  <a:srgbClr val="00FF00"/>
                </a:solidFill>
                <a:latin typeface="Helvetica" panose="020B0604020202020204" pitchFamily="34" charset="0"/>
                <a:cs typeface="Helvetica" panose="020B0604020202020204" pitchFamily="34" charset="0"/>
              </a:rPr>
              <a:t> </a:t>
            </a:r>
          </a:p>
          <a:p>
            <a:pPr marL="274306" lvl="1" algn="l">
              <a:lnSpc>
                <a:spcPct val="100000"/>
              </a:lnSpc>
              <a:spcBef>
                <a:spcPts val="600"/>
              </a:spcBef>
            </a:pPr>
            <a:r>
              <a:rPr lang="en-US" sz="3000" dirty="0">
                <a:solidFill>
                  <a:srgbClr val="00FF00"/>
                </a:solidFill>
                <a:latin typeface="Helvetica" panose="020B0604020202020204" pitchFamily="34" charset="0"/>
                <a:cs typeface="Helvetica" panose="020B0604020202020204" pitchFamily="34" charset="0"/>
              </a:rPr>
              <a:t>	</a:t>
            </a:r>
            <a:r>
              <a:rPr lang="en-GB" sz="2800" b="1" dirty="0">
                <a:solidFill>
                  <a:srgbClr val="00FF00"/>
                </a:solidFill>
                <a:latin typeface="Helvetica" panose="020B0604020202020204" pitchFamily="34" charset="0"/>
                <a:cs typeface="Helvetica" panose="020B0604020202020204" pitchFamily="34" charset="0"/>
              </a:rPr>
              <a:t>The </a:t>
            </a:r>
            <a:r>
              <a:rPr lang="en-GB" sz="2800" b="1" dirty="0" err="1">
                <a:solidFill>
                  <a:srgbClr val="00FF00"/>
                </a:solidFill>
                <a:latin typeface="Helvetica" panose="020B0604020202020204" pitchFamily="34" charset="0"/>
                <a:cs typeface="Helvetica" panose="020B0604020202020204" pitchFamily="34" charset="0"/>
              </a:rPr>
              <a:t>Jupyter</a:t>
            </a:r>
            <a:r>
              <a:rPr lang="en-GB" sz="2800" b="1" dirty="0">
                <a:solidFill>
                  <a:srgbClr val="00FF00"/>
                </a:solidFill>
                <a:latin typeface="Helvetica" panose="020B0604020202020204" pitchFamily="34" charset="0"/>
                <a:cs typeface="Helvetica" panose="020B0604020202020204" pitchFamily="34" charset="0"/>
              </a:rPr>
              <a:t> Notebook </a:t>
            </a:r>
            <a:r>
              <a:rPr lang="en-GB" sz="2800" dirty="0">
                <a:solidFill>
                  <a:srgbClr val="00FF00"/>
                </a:solidFill>
                <a:latin typeface="Helvetica" panose="020B0604020202020204" pitchFamily="34" charset="0"/>
                <a:cs typeface="Helvetica" panose="020B0604020202020204" pitchFamily="34" charset="0"/>
              </a:rPr>
              <a:t>is an open-source web application that allows you to create and share documents that contain live code, equations, visualizations and explanatory text. Uses </a:t>
            </a:r>
            <a:r>
              <a:rPr lang="en-GB" sz="2800" dirty="0" err="1">
                <a:solidFill>
                  <a:srgbClr val="00FF00"/>
                </a:solidFill>
                <a:latin typeface="Helvetica" panose="020B0604020202020204" pitchFamily="34" charset="0"/>
                <a:cs typeface="Helvetica" panose="020B0604020202020204" pitchFamily="34" charset="0"/>
              </a:rPr>
              <a:t>include:numerical</a:t>
            </a:r>
            <a:r>
              <a:rPr lang="en-GB" sz="2800" dirty="0">
                <a:solidFill>
                  <a:srgbClr val="00FF00"/>
                </a:solidFill>
                <a:latin typeface="Helvetica" panose="020B0604020202020204" pitchFamily="34" charset="0"/>
                <a:cs typeface="Helvetica" panose="020B0604020202020204" pitchFamily="34" charset="0"/>
              </a:rPr>
              <a:t> simulation, statistical </a:t>
            </a:r>
            <a:r>
              <a:rPr lang="en-GB" sz="2800" dirty="0" err="1">
                <a:solidFill>
                  <a:srgbClr val="00FF00"/>
                </a:solidFill>
                <a:latin typeface="Helvetica" panose="020B0604020202020204" pitchFamily="34" charset="0"/>
                <a:cs typeface="Helvetica" panose="020B0604020202020204" pitchFamily="34" charset="0"/>
              </a:rPr>
              <a:t>modeling</a:t>
            </a:r>
            <a:r>
              <a:rPr lang="en-GB" sz="2800" dirty="0">
                <a:solidFill>
                  <a:srgbClr val="00FF00"/>
                </a:solidFill>
                <a:latin typeface="Helvetica" panose="020B0604020202020204" pitchFamily="34" charset="0"/>
                <a:cs typeface="Helvetica" panose="020B0604020202020204" pitchFamily="34" charset="0"/>
              </a:rPr>
              <a:t>, machine learning and much more.</a:t>
            </a:r>
            <a:endParaRPr lang="en-US" sz="2800" dirty="0">
              <a:solidFill>
                <a:srgbClr val="00FF00"/>
              </a:solidFill>
              <a:latin typeface="Helvetica" panose="020B0604020202020204" pitchFamily="34" charset="0"/>
              <a:cs typeface="Helvetica" panose="020B0604020202020204" pitchFamily="34" charset="0"/>
            </a:endParaRPr>
          </a:p>
        </p:txBody>
      </p:sp>
      <p:sp>
        <p:nvSpPr>
          <p:cNvPr id="12" name="TextBox 11"/>
          <p:cNvSpPr txBox="1"/>
          <p:nvPr/>
        </p:nvSpPr>
        <p:spPr>
          <a:xfrm>
            <a:off x="-1727" y="153288"/>
            <a:ext cx="10256069" cy="723275"/>
          </a:xfrm>
          <a:prstGeom prst="rect">
            <a:avLst/>
          </a:prstGeom>
          <a:solidFill>
            <a:srgbClr val="503D00"/>
          </a:solidFill>
        </p:spPr>
        <p:txBody>
          <a:bodyPr wrap="square" rtlCol="0">
            <a:spAutoFit/>
          </a:bodyPr>
          <a:lstStyle/>
          <a:p>
            <a:pPr algn="ctr"/>
            <a:r>
              <a:rPr lang="en-US" sz="4100" b="1" cap="all" spc="51" dirty="0">
                <a:solidFill>
                  <a:srgbClr val="00CC00"/>
                </a:solidFill>
                <a:latin typeface="Rockwell" panose="02060603020205020403" pitchFamily="18" charset="0"/>
                <a:ea typeface="Tahoma" panose="020B0604030504040204" pitchFamily="34" charset="0"/>
                <a:cs typeface="Helvetica" panose="020B0604020202020204" pitchFamily="34" charset="0"/>
              </a:rPr>
              <a:t>ALL  YOU NEED</a:t>
            </a:r>
          </a:p>
        </p:txBody>
      </p:sp>
    </p:spTree>
    <p:extLst>
      <p:ext uri="{BB962C8B-B14F-4D97-AF65-F5344CB8AC3E}">
        <p14:creationId xmlns:p14="http://schemas.microsoft.com/office/powerpoint/2010/main" val="3295527783"/>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36512"/>
            <a:ext cx="12190274" cy="5521488"/>
          </a:xfrm>
        </p:spPr>
        <p:txBody>
          <a:bodyPr>
            <a:normAutofit fontScale="92500" lnSpcReduction="10000"/>
          </a:bodyPr>
          <a:lstStyle/>
          <a:p>
            <a:pPr marL="457178" indent="-457178" algn="l">
              <a:lnSpc>
                <a:spcPct val="100000"/>
              </a:lnSpc>
              <a:buFont typeface="Wingdings" panose="05000000000000000000" pitchFamily="2" charset="2"/>
              <a:buChar char="Ø"/>
            </a:pPr>
            <a:r>
              <a:rPr lang="en-GB" sz="3000" dirty="0">
                <a:solidFill>
                  <a:srgbClr val="00FF00"/>
                </a:solidFill>
                <a:latin typeface="Helvetica" panose="020B0604020202020204" pitchFamily="34" charset="0"/>
                <a:cs typeface="Helvetica" panose="020B0604020202020204" pitchFamily="34" charset="0"/>
              </a:rPr>
              <a:t>	</a:t>
            </a:r>
            <a:r>
              <a:rPr lang="en-GB" sz="3800" dirty="0">
                <a:solidFill>
                  <a:srgbClr val="00FF00"/>
                </a:solidFill>
                <a:latin typeface="Helvetica" panose="020B0604020202020204" pitchFamily="34" charset="0"/>
                <a:cs typeface="Helvetica" panose="020B0604020202020204" pitchFamily="34" charset="0"/>
              </a:rPr>
              <a:t>This study will contribute greatly to the ease of air freight service development planning. </a:t>
            </a:r>
          </a:p>
          <a:p>
            <a:pPr marL="457178" indent="-457178" algn="just">
              <a:lnSpc>
                <a:spcPct val="100000"/>
              </a:lnSpc>
              <a:buFont typeface="Wingdings" panose="05000000000000000000" pitchFamily="2" charset="2"/>
              <a:buChar char="Ø"/>
            </a:pPr>
            <a:r>
              <a:rPr lang="en-GB" sz="3800" dirty="0">
                <a:solidFill>
                  <a:srgbClr val="00FF00"/>
                </a:solidFill>
                <a:latin typeface="Helvetica" panose="020B0604020202020204" pitchFamily="34" charset="0"/>
                <a:cs typeface="Helvetica" panose="020B0604020202020204" pitchFamily="34" charset="0"/>
              </a:rPr>
              <a:t>To save time and significantly reduce cost of refuelling. Moreover, the resultant program from this study can be integrated with organizations' information systems and facilitate internal reporting and customer service processes. </a:t>
            </a:r>
          </a:p>
          <a:p>
            <a:pPr marL="457178" indent="-457178" algn="just">
              <a:lnSpc>
                <a:spcPct val="100000"/>
              </a:lnSpc>
              <a:buFont typeface="Wingdings" panose="05000000000000000000" pitchFamily="2" charset="2"/>
              <a:buChar char="Ø"/>
            </a:pPr>
            <a:r>
              <a:rPr lang="en-GB" sz="3800" dirty="0">
                <a:solidFill>
                  <a:srgbClr val="00FF00"/>
                </a:solidFill>
                <a:latin typeface="Helvetica" panose="020B0604020202020204" pitchFamily="34" charset="0"/>
                <a:cs typeface="Helvetica" panose="020B0604020202020204" pitchFamily="34" charset="0"/>
              </a:rPr>
              <a:t>Demonstrating the application of Floyd Warshall’s algorithm which will grant PYTHONISTAS a better understanding of the algorithm.</a:t>
            </a:r>
          </a:p>
          <a:p>
            <a:pPr marL="457178" indent="-457178" algn="l">
              <a:lnSpc>
                <a:spcPct val="100000"/>
              </a:lnSpc>
              <a:buFont typeface="Wingdings" panose="05000000000000000000" pitchFamily="2" charset="2"/>
              <a:buChar char="Ø"/>
            </a:pPr>
            <a:endParaRPr lang="en-GB" sz="30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algn="l">
              <a:lnSpc>
                <a:spcPct val="100000"/>
              </a:lnSpc>
            </a:pPr>
            <a:endParaRPr lang="en-US" sz="3000" dirty="0">
              <a:solidFill>
                <a:srgbClr val="00FF00"/>
              </a:solidFill>
              <a:latin typeface="Helvetica" panose="020B0604020202020204" pitchFamily="34" charset="0"/>
              <a:cs typeface="Helvetica" panose="020B0604020202020204" pitchFamily="34" charset="0"/>
            </a:endParaRPr>
          </a:p>
          <a:p>
            <a:pPr lvl="0" algn="l"/>
            <a:endParaRPr lang="en-US" sz="3000" dirty="0">
              <a:solidFill>
                <a:srgbClr val="00CC00"/>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472440" y="145392"/>
            <a:ext cx="10317480" cy="923330"/>
          </a:xfrm>
          <a:prstGeom prst="rect">
            <a:avLst/>
          </a:prstGeom>
          <a:noFill/>
        </p:spPr>
        <p:txBody>
          <a:bodyPr wrap="square" rtlCol="0">
            <a:spAutoFit/>
          </a:bodyPr>
          <a:lstStyle/>
          <a:p>
            <a:r>
              <a:rPr lang="en-GB" sz="5400" dirty="0">
                <a:solidFill>
                  <a:srgbClr val="00FF00"/>
                </a:solidFill>
                <a:latin typeface="Rockwell" panose="02060603020205020403" pitchFamily="18" charset="0"/>
                <a:cs typeface="Helvetica" panose="020B0604020202020204" pitchFamily="34" charset="0"/>
              </a:rPr>
              <a:t>Conclusion</a:t>
            </a:r>
            <a:r>
              <a:rPr lang="en-US" sz="5400" b="1" spc="51" dirty="0">
                <a:solidFill>
                  <a:srgbClr val="00CC00"/>
                </a:solidFill>
                <a:latin typeface="Rockwell" panose="02060603020205020403" pitchFamily="18" charset="0"/>
                <a:ea typeface="Tahoma" panose="020B0604030504040204" pitchFamily="34" charset="0"/>
                <a:cs typeface="Helvetica" panose="020B0604020202020204" pitchFamily="34" charset="0"/>
              </a:rPr>
              <a:t>: </a:t>
            </a:r>
          </a:p>
        </p:txBody>
      </p:sp>
    </p:spTree>
    <p:extLst>
      <p:ext uri="{BB962C8B-B14F-4D97-AF65-F5344CB8AC3E}">
        <p14:creationId xmlns:p14="http://schemas.microsoft.com/office/powerpoint/2010/main" val="2188442377"/>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36512"/>
            <a:ext cx="12190274" cy="5521488"/>
          </a:xfrm>
        </p:spPr>
        <p:txBody>
          <a:bodyPr>
            <a:normAutofit/>
          </a:bodyPr>
          <a:lstStyle/>
          <a:p>
            <a:pPr marL="457178" indent="-457178" algn="l">
              <a:buFont typeface="Wingdings" panose="05000000000000000000" pitchFamily="2" charset="2"/>
              <a:buChar char="Ø"/>
            </a:pPr>
            <a:r>
              <a:rPr lang="en-US" sz="2800" dirty="0">
                <a:solidFill>
                  <a:srgbClr val="00FF00"/>
                </a:solidFill>
              </a:rPr>
              <a:t>Review and Performance Analysis of Shortest Path Problem Solving Algorithms, International</a:t>
            </a:r>
            <a:r>
              <a:rPr lang="en-GB" sz="2800" dirty="0">
                <a:solidFill>
                  <a:srgbClr val="00FF00"/>
                </a:solidFill>
              </a:rPr>
              <a:t> </a:t>
            </a:r>
            <a:r>
              <a:rPr lang="en-US" sz="2800" dirty="0">
                <a:solidFill>
                  <a:srgbClr val="00FF00"/>
                </a:solidFill>
              </a:rPr>
              <a:t>Journal on Advances in Software, vol7 nol&amp;2, 2014,</a:t>
            </a:r>
            <a:r>
              <a:rPr lang="en-GB" sz="2800" dirty="0">
                <a:solidFill>
                  <a:srgbClr val="00FF00"/>
                </a:solidFill>
              </a:rPr>
              <a:t> </a:t>
            </a:r>
            <a:r>
              <a:rPr lang="en-US" sz="2800" dirty="0">
                <a:solidFill>
                  <a:srgbClr val="00FF00"/>
                </a:solidFill>
              </a:rPr>
              <a:t>http://www.iariajournals.org/software/</a:t>
            </a:r>
          </a:p>
          <a:p>
            <a:pPr marL="457178" indent="-457178" algn="l">
              <a:buFont typeface="Wingdings" panose="05000000000000000000" pitchFamily="2" charset="2"/>
              <a:buChar char="Ø"/>
            </a:pPr>
            <a:r>
              <a:rPr lang="en-GB" sz="2800" dirty="0">
                <a:solidFill>
                  <a:srgbClr val="00FF00"/>
                </a:solidFill>
              </a:rPr>
              <a:t>PRITAM, KHAN. (may 2014).Modification Of Floyd-</a:t>
            </a:r>
            <a:r>
              <a:rPr lang="en-GB" sz="2800" dirty="0" err="1">
                <a:solidFill>
                  <a:srgbClr val="00FF00"/>
                </a:solidFill>
              </a:rPr>
              <a:t>warshall’s</a:t>
            </a:r>
            <a:r>
              <a:rPr lang="en-GB" sz="2800" dirty="0">
                <a:solidFill>
                  <a:srgbClr val="00FF00"/>
                </a:solidFill>
              </a:rPr>
              <a:t> Algorithm Into A Shortest Path Algorithm Applicable For Routing </a:t>
            </a:r>
            <a:r>
              <a:rPr lang="en-GB" sz="2800" dirty="0" err="1">
                <a:solidFill>
                  <a:srgbClr val="00FF00"/>
                </a:solidFill>
              </a:rPr>
              <a:t>InWireless</a:t>
            </a:r>
            <a:r>
              <a:rPr lang="en-GB" sz="2800" dirty="0">
                <a:solidFill>
                  <a:srgbClr val="00FF00"/>
                </a:solidFill>
              </a:rPr>
              <a:t> Sensor Networks</a:t>
            </a:r>
          </a:p>
          <a:p>
            <a:pPr marL="457178" indent="-457178" algn="l">
              <a:buFont typeface="Wingdings" panose="05000000000000000000" pitchFamily="2" charset="2"/>
              <a:buChar char="Ø"/>
            </a:pPr>
            <a:r>
              <a:rPr lang="en-GB" sz="2800" dirty="0">
                <a:solidFill>
                  <a:srgbClr val="00FF00"/>
                </a:solidFill>
              </a:rPr>
              <a:t>Shad, R., </a:t>
            </a:r>
            <a:r>
              <a:rPr lang="en-GB" sz="2800" dirty="0" err="1">
                <a:solidFill>
                  <a:srgbClr val="00FF00"/>
                </a:solidFill>
              </a:rPr>
              <a:t>Ebadi</a:t>
            </a:r>
            <a:r>
              <a:rPr lang="en-GB" sz="2800" dirty="0">
                <a:solidFill>
                  <a:srgbClr val="00FF00"/>
                </a:solidFill>
              </a:rPr>
              <a:t>, H. and </a:t>
            </a:r>
            <a:r>
              <a:rPr lang="en-GB" sz="2800" dirty="0" err="1">
                <a:solidFill>
                  <a:srgbClr val="00FF00"/>
                </a:solidFill>
              </a:rPr>
              <a:t>Ghods</a:t>
            </a:r>
            <a:r>
              <a:rPr lang="en-GB" sz="2800" dirty="0">
                <a:solidFill>
                  <a:srgbClr val="00FF00"/>
                </a:solidFill>
              </a:rPr>
              <a:t>, M. (2003). Evaluation of Route Finding Methods in GIS Application, Presented in  Map Asia Conference 2003.</a:t>
            </a:r>
          </a:p>
          <a:p>
            <a:pPr marL="457178" indent="-457178" algn="l">
              <a:buFont typeface="Wingdings" panose="05000000000000000000" pitchFamily="2" charset="2"/>
              <a:buChar char="Ø"/>
            </a:pPr>
            <a:r>
              <a:rPr lang="en-GB" sz="2800" dirty="0">
                <a:solidFill>
                  <a:srgbClr val="00FF00"/>
                </a:solidFill>
              </a:rPr>
              <a:t>http://www.maxburstein.com/blog/introduction-to-graph-theory-finding-shortest-path, February 2013.</a:t>
            </a:r>
          </a:p>
          <a:p>
            <a:pPr marL="457178" indent="-457178" algn="l">
              <a:buFont typeface="Wingdings" panose="05000000000000000000" pitchFamily="2" charset="2"/>
              <a:buChar char="Ø"/>
            </a:pPr>
            <a:r>
              <a:rPr lang="en-GB" sz="2800" dirty="0">
                <a:solidFill>
                  <a:srgbClr val="00FF00"/>
                </a:solidFill>
              </a:rPr>
              <a:t>Timothy M. Chan, ―All-pairs shortest paths with real weights in O(n3/log n) Time‖, </a:t>
            </a:r>
            <a:r>
              <a:rPr lang="en-GB" sz="2800" dirty="0" err="1">
                <a:solidFill>
                  <a:srgbClr val="00FF00"/>
                </a:solidFill>
              </a:rPr>
              <a:t>Algorithmica</a:t>
            </a:r>
            <a:r>
              <a:rPr lang="en-GB" sz="2800" dirty="0">
                <a:solidFill>
                  <a:srgbClr val="00FF00"/>
                </a:solidFill>
              </a:rPr>
              <a:t>, 50:236–243, 2008</a:t>
            </a:r>
          </a:p>
          <a:p>
            <a:pPr marL="457178" indent="-457178" algn="l">
              <a:buFont typeface="Wingdings" panose="05000000000000000000" pitchFamily="2" charset="2"/>
              <a:buChar char="Ø"/>
            </a:pPr>
            <a:endParaRPr lang="en-GB" sz="2800" dirty="0">
              <a:solidFill>
                <a:srgbClr val="00FF00"/>
              </a:solidFill>
            </a:endParaRPr>
          </a:p>
          <a:p>
            <a:pPr algn="l"/>
            <a:endParaRPr lang="en-GB" sz="2800" dirty="0">
              <a:solidFill>
                <a:srgbClr val="00FF00"/>
              </a:solidFill>
            </a:endParaRPr>
          </a:p>
          <a:p>
            <a:pPr algn="l"/>
            <a:endParaRPr lang="en-GB" sz="2800" dirty="0">
              <a:solidFill>
                <a:srgbClr val="00FF00"/>
              </a:solidFill>
            </a:endParaRPr>
          </a:p>
          <a:p>
            <a:pPr algn="l"/>
            <a:endParaRPr lang="en-US" dirty="0">
              <a:solidFill>
                <a:srgbClr val="00FF00"/>
              </a:solidFill>
            </a:endParaRPr>
          </a:p>
        </p:txBody>
      </p:sp>
      <p:sp>
        <p:nvSpPr>
          <p:cNvPr id="12" name="TextBox 11"/>
          <p:cNvSpPr txBox="1"/>
          <p:nvPr/>
        </p:nvSpPr>
        <p:spPr>
          <a:xfrm>
            <a:off x="472440" y="145390"/>
            <a:ext cx="10317480" cy="1015663"/>
          </a:xfrm>
          <a:prstGeom prst="rect">
            <a:avLst/>
          </a:prstGeom>
          <a:noFill/>
        </p:spPr>
        <p:txBody>
          <a:bodyPr wrap="square" rtlCol="0">
            <a:spAutoFit/>
          </a:bodyPr>
          <a:lstStyle/>
          <a:p>
            <a:r>
              <a:rPr lang="en-GB" sz="6000" dirty="0">
                <a:solidFill>
                  <a:srgbClr val="00FF00"/>
                </a:solidFill>
                <a:latin typeface="Rockwell" panose="02060603020205020403" pitchFamily="18" charset="0"/>
                <a:cs typeface="Helvetica" panose="020B0604020202020204" pitchFamily="34" charset="0"/>
              </a:rPr>
              <a:t>REFERENCE</a:t>
            </a:r>
            <a:endParaRPr lang="en-US" sz="6000" b="1" spc="51" dirty="0">
              <a:solidFill>
                <a:srgbClr val="00CC00"/>
              </a:solidFill>
              <a:latin typeface="Rockwell" panose="02060603020205020403" pitchFamily="18" charset="0"/>
              <a:ea typeface="Tahoma" panose="020B0604030504040204" pitchFamily="34" charset="0"/>
              <a:cs typeface="Helvetica" panose="020B0604020202020204" pitchFamily="34" charset="0"/>
            </a:endParaRPr>
          </a:p>
        </p:txBody>
      </p:sp>
    </p:spTree>
    <p:extLst>
      <p:ext uri="{BB962C8B-B14F-4D97-AF65-F5344CB8AC3E}">
        <p14:creationId xmlns:p14="http://schemas.microsoft.com/office/powerpoint/2010/main" val="4026869899"/>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9803" y="359765"/>
            <a:ext cx="11527436" cy="6310858"/>
          </a:xfrm>
          <a:prstGeom prst="rect">
            <a:avLst/>
          </a:prstGeom>
        </p:spPr>
      </p:pic>
    </p:spTree>
    <p:extLst>
      <p:ext uri="{BB962C8B-B14F-4D97-AF65-F5344CB8AC3E}">
        <p14:creationId xmlns:p14="http://schemas.microsoft.com/office/powerpoint/2010/main" val="4049909455"/>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9645" y="286930"/>
            <a:ext cx="11017771" cy="6421170"/>
          </a:xfrm>
          <a:prstGeom prst="rect">
            <a:avLst/>
          </a:prstGeom>
        </p:spPr>
      </p:pic>
    </p:spTree>
    <p:extLst>
      <p:ext uri="{BB962C8B-B14F-4D97-AF65-F5344CB8AC3E}">
        <p14:creationId xmlns:p14="http://schemas.microsoft.com/office/powerpoint/2010/main" val="1958259966"/>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FFFFFF"/>
      </a:dk1>
      <a:lt1>
        <a:sysClr val="window" lastClr="000000"/>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3101</TotalTime>
  <Words>716</Words>
  <Application>Microsoft Office PowerPoint</Application>
  <PresentationFormat>Widescreen</PresentationFormat>
  <Paragraphs>162</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 Unicode MS</vt:lpstr>
      <vt:lpstr>Arial</vt:lpstr>
      <vt:lpstr>Calibri</vt:lpstr>
      <vt:lpstr>Calibri Light</vt:lpstr>
      <vt:lpstr>Helvetica</vt:lpstr>
      <vt:lpstr>Rockwell</vt:lpstr>
      <vt:lpstr>Tahoma</vt:lpstr>
      <vt:lpstr>Times New Roman</vt:lpstr>
      <vt:lpstr>Wingdings</vt:lpstr>
      <vt:lpstr>Office Theme</vt:lpstr>
      <vt:lpstr>APPLICATION OF FLOYD-WARSHAL’S ALGORITHM IN AIR FREIGHT SERVICES USING PYTHON. PRESENTED  By:</vt:lpstr>
      <vt:lpstr>About me:  Software Developer. B.sc Computer Science @ Landmark University. A serving copper @ eket akwaibom state   Pioneer lecturer of the Department of Computer science in New Age College of Science and Technology Eket,  Computer teacher in Girls High School, Eket, Akwaibom State.(PPA) phone: 07030779952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Graph:</vt:lpstr>
      <vt:lpstr>Representation of Graph </vt:lpstr>
      <vt:lpstr>PowerPoint Presentation</vt:lpstr>
      <vt:lpstr>HOW IT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VINCODE</dc:creator>
  <cp:lastModifiedBy>£VinCode</cp:lastModifiedBy>
  <cp:revision>153</cp:revision>
  <dcterms:created xsi:type="dcterms:W3CDTF">2016-09-30T06:46:51Z</dcterms:created>
  <dcterms:modified xsi:type="dcterms:W3CDTF">2018-09-21T00:12:03Z</dcterms:modified>
</cp:coreProperties>
</file>