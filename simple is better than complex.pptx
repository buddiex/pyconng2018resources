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9"/>
  </p:notesMasterIdLst>
  <p:sldIdLst>
    <p:sldId id="269" r:id="rId2"/>
    <p:sldId id="256" r:id="rId3"/>
    <p:sldId id="257" r:id="rId4"/>
    <p:sldId id="258" r:id="rId5"/>
    <p:sldId id="268" r:id="rId6"/>
    <p:sldId id="275" r:id="rId7"/>
    <p:sldId id="259" r:id="rId8"/>
    <p:sldId id="283" r:id="rId9"/>
    <p:sldId id="266" r:id="rId10"/>
    <p:sldId id="267" r:id="rId11"/>
    <p:sldId id="262" r:id="rId12"/>
    <p:sldId id="263" r:id="rId13"/>
    <p:sldId id="281" r:id="rId14"/>
    <p:sldId id="287" r:id="rId15"/>
    <p:sldId id="272" r:id="rId16"/>
    <p:sldId id="284" r:id="rId17"/>
    <p:sldId id="265" r:id="rId18"/>
    <p:sldId id="271" r:id="rId19"/>
    <p:sldId id="273" r:id="rId20"/>
    <p:sldId id="288" r:id="rId21"/>
    <p:sldId id="285" r:id="rId22"/>
    <p:sldId id="286" r:id="rId23"/>
    <p:sldId id="274" r:id="rId24"/>
    <p:sldId id="276" r:id="rId25"/>
    <p:sldId id="277" r:id="rId26"/>
    <p:sldId id="279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DCAA64-69F5-4A8A-AF7C-1C1FBD5806D1}">
          <p14:sldIdLst>
            <p14:sldId id="269"/>
            <p14:sldId id="256"/>
            <p14:sldId id="257"/>
            <p14:sldId id="258"/>
            <p14:sldId id="268"/>
            <p14:sldId id="275"/>
            <p14:sldId id="259"/>
            <p14:sldId id="283"/>
            <p14:sldId id="266"/>
            <p14:sldId id="267"/>
            <p14:sldId id="262"/>
            <p14:sldId id="263"/>
            <p14:sldId id="281"/>
            <p14:sldId id="287"/>
            <p14:sldId id="272"/>
            <p14:sldId id="284"/>
            <p14:sldId id="265"/>
            <p14:sldId id="271"/>
            <p14:sldId id="273"/>
            <p14:sldId id="288"/>
            <p14:sldId id="285"/>
            <p14:sldId id="286"/>
            <p14:sldId id="274"/>
            <p14:sldId id="276"/>
            <p14:sldId id="277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64" y="126"/>
      </p:cViewPr>
      <p:guideLst/>
    </p:cSldViewPr>
  </p:slideViewPr>
  <p:outlineViewPr>
    <p:cViewPr>
      <p:scale>
        <a:sx n="33" d="100"/>
        <a:sy n="33" d="100"/>
      </p:scale>
      <p:origin x="0" y="-591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946B3-3FE1-4DEA-B7E9-4D55DA268DDC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F718D-44AD-4370-B17D-A9AF3B43A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8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F718D-44AD-4370-B17D-A9AF3B43A7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3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F718D-44AD-4370-B17D-A9AF3B43A76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0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5C60-3A56-448F-ACF5-F1CF65CCD5E8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E8E6-0938-4259-A466-ED26DF5C6AC4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7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FB4C-7CC7-4F7B-B19C-EFA43E2242A9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3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8E51C-1AF7-43DC-84C5-28B6A640418D}" type="datetime1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2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480A-0844-4F09-8DA7-273352D38D5C}" type="datetime1">
              <a:rPr lang="en-US" smtClean="0"/>
              <a:t>9/19/2018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2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29AC7-0804-489F-A417-D6AFA7EA1716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1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318D1-6888-4E08-8B00-0E731E1208D2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0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1CF56-2D49-4A7C-991C-D1E35DF696DA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0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8BF4E-7742-4604-BF4B-F5C6E4BCF813}" type="datetime1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7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B990A-84C4-4EFD-9418-2724C7644777}" type="datetime1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08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BB76-F180-4551-B729-4DEAE95339B0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2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8A02-4953-4D79-A18E-3140C26EB168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236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9FB8-DC24-418E-B320-87C82008E32E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14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FFD05-9A75-484F-8963-5F40D3684B79}" type="datetime1">
              <a:rPr lang="en-US" smtClean="0"/>
              <a:t>9/19/2018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9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99CA-87FB-4D3E-9246-8043F7505613}" type="datetime1">
              <a:rPr lang="en-US" smtClean="0"/>
              <a:t>9/19/2018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15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0DA7-6721-494A-A0C0-1D8F6A2CDEB1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29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3F77-623F-423F-ABA9-EC1942F58CEB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9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C8E4892-D98D-4A2E-A4A6-5BBE607B5440}" type="datetime1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smtClean="0"/>
              <a:t>Pyconng 2018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CF8ED-D741-448B-885B-4D11562AA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202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acebook.com/Kelvinadigwu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twitter.com/kelvin_adigw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SIMPLE IS BETTER THAN </a:t>
            </a:r>
            <a:r>
              <a:rPr lang="en-US" dirty="0" smtClean="0">
                <a:latin typeface="Gill Sans Ultra Bold" panose="020B0A02020104020203" pitchFamily="34" charset="0"/>
              </a:rPr>
              <a:t>COMPLEX</a:t>
            </a:r>
            <a:endParaRPr lang="en-US" dirty="0">
              <a:latin typeface="Gill Sans Ultra Bold" panose="020B0A020201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Presented by </a:t>
            </a:r>
            <a:r>
              <a:rPr lang="en-US" cap="none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en-US" cap="none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elvin </a:t>
            </a:r>
            <a:r>
              <a:rPr lang="en-US" cap="none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</a:t>
            </a:r>
            <a:r>
              <a:rPr lang="en-US" cap="none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digwu @ </a:t>
            </a:r>
            <a:r>
              <a:rPr lang="en-US" cap="none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pyconng</a:t>
            </a:r>
            <a:r>
              <a:rPr lang="en-US" cap="none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  2018</a:t>
            </a:r>
            <a:endParaRPr lang="en-US" cap="none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6" name="Picture 2" descr="twitter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00" y="6027312"/>
            <a:ext cx="709073" cy="65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6442" y="6168979"/>
            <a:ext cx="2717443" cy="36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smtClean="0">
                <a:hlinkClick r:id="rId4"/>
              </a:rPr>
              <a:t>kelvin_adigwu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Pyconng</a:t>
            </a:r>
            <a:r>
              <a:rPr lang="en-US" dirty="0" smtClean="0"/>
              <a:t> 2018</a:t>
            </a:r>
            <a:endParaRPr lang="en-US" dirty="0"/>
          </a:p>
        </p:txBody>
      </p:sp>
      <p:pic>
        <p:nvPicPr>
          <p:cNvPr id="1028" name="Picture 4" descr="facebook, friend, logo, messanger, social, social media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779" y="6098144"/>
            <a:ext cx="510974" cy="51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73753" y="6168979"/>
            <a:ext cx="2704563" cy="36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6"/>
              </a:rPr>
              <a:t>Kelvin Adigwu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2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842" y="1447802"/>
            <a:ext cx="8311486" cy="1117978"/>
          </a:xfrm>
        </p:spPr>
        <p:txBody>
          <a:bodyPr/>
          <a:lstStyle/>
          <a:p>
            <a:r>
              <a:rPr lang="en-US" dirty="0" smtClean="0"/>
              <a:t>Speaker Profile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843" y="3043451"/>
            <a:ext cx="8024882" cy="2595349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&gt;&gt;&gt; Python/</a:t>
            </a:r>
            <a:r>
              <a:rPr lang="en-US" dirty="0" err="1" smtClean="0">
                <a:solidFill>
                  <a:schemeClr val="tx1"/>
                </a:solidFill>
              </a:rPr>
              <a:t>Django</a:t>
            </a:r>
            <a:r>
              <a:rPr lang="en-US" dirty="0" smtClean="0">
                <a:solidFill>
                  <a:schemeClr val="tx1"/>
                </a:solidFill>
              </a:rPr>
              <a:t> Developer,</a:t>
            </a:r>
          </a:p>
          <a:p>
            <a:pPr algn="l"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&gt;&gt;&gt; NYSC Intern at LS Scientific Limited, Lagos Nigeria.</a:t>
            </a:r>
          </a:p>
          <a:p>
            <a:pPr algn="l"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&gt;&gt;&gt; Remote software engineer at </a:t>
            </a:r>
            <a:r>
              <a:rPr lang="en-US" dirty="0" err="1" smtClean="0">
                <a:solidFill>
                  <a:schemeClr val="tx1"/>
                </a:solidFill>
              </a:rPr>
              <a:t>Ayulla</a:t>
            </a:r>
            <a:r>
              <a:rPr lang="en-US" dirty="0" smtClean="0">
                <a:solidFill>
                  <a:schemeClr val="tx1"/>
                </a:solidFill>
              </a:rPr>
              <a:t> Limited</a:t>
            </a:r>
          </a:p>
          <a:p>
            <a:pPr algn="l"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&gt;&gt;&gt; Graduate of Physics at Delta state university, </a:t>
            </a:r>
            <a:r>
              <a:rPr lang="en-US" dirty="0" err="1" smtClean="0">
                <a:solidFill>
                  <a:schemeClr val="tx1"/>
                </a:solidFill>
              </a:rPr>
              <a:t>Abraka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2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Aim Of This Talk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88" y="2462359"/>
            <a:ext cx="8284191" cy="344712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/>
              <a:t>This talk aims at bringing us back to python’s original philosophy of being easy to read. It’s title, “Simple is better than complex” </a:t>
            </a:r>
            <a:r>
              <a:rPr lang="en-US" dirty="0"/>
              <a:t>is drawn from line 3 of </a:t>
            </a:r>
            <a:r>
              <a:rPr lang="en-US" dirty="0" smtClean="0"/>
              <a:t>‘The </a:t>
            </a:r>
            <a:r>
              <a:rPr lang="en-US" dirty="0"/>
              <a:t>Zen of Python, by Tim </a:t>
            </a:r>
            <a:r>
              <a:rPr lang="en-US" dirty="0" smtClean="0"/>
              <a:t>Peters’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/>
              <a:t>(type ‘import this’ on IDLE)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4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Target Audience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Beginners</a:t>
            </a:r>
          </a:p>
          <a:p>
            <a:r>
              <a:rPr lang="en-US" dirty="0" smtClean="0"/>
              <a:t>Intermediate</a:t>
            </a:r>
          </a:p>
          <a:p>
            <a:r>
              <a:rPr lang="en-US" dirty="0" smtClean="0"/>
              <a:t>Non core python developers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6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Importance of code simplicity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must be written for people to read, and</a:t>
            </a:r>
          </a:p>
          <a:p>
            <a:pPr marL="0" indent="0">
              <a:buNone/>
            </a:pPr>
            <a:r>
              <a:rPr lang="en-US" dirty="0"/>
              <a:t>only incidentally for machines to execute</a:t>
            </a:r>
            <a:r>
              <a:rPr lang="en-US" dirty="0" smtClean="0"/>
              <a:t>.“</a:t>
            </a:r>
          </a:p>
          <a:p>
            <a:pPr marL="0" indent="0">
              <a:buNone/>
            </a:pPr>
            <a:r>
              <a:rPr lang="en-US" sz="1600" i="1" dirty="0"/>
              <a:t>	</a:t>
            </a:r>
            <a:r>
              <a:rPr lang="en-US" sz="1600" i="1" dirty="0" smtClean="0"/>
              <a:t>						- </a:t>
            </a:r>
            <a:r>
              <a:rPr lang="en-US" sz="1600" i="1" dirty="0"/>
              <a:t>Abelson &amp; </a:t>
            </a:r>
            <a:r>
              <a:rPr lang="en-US" sz="1600" i="1" dirty="0" err="1"/>
              <a:t>Sussman</a:t>
            </a:r>
            <a:r>
              <a:rPr lang="en-US" sz="1600" i="1" dirty="0"/>
              <a:t>, </a:t>
            </a:r>
            <a:r>
              <a:rPr lang="en-US" sz="1600" i="1" dirty="0" smtClean="0"/>
              <a:t>SICP</a:t>
            </a:r>
            <a:endParaRPr lang="en-US" i="1" dirty="0"/>
          </a:p>
          <a:p>
            <a:r>
              <a:rPr lang="en-US" dirty="0" smtClean="0"/>
              <a:t>Makes team work easier</a:t>
            </a:r>
          </a:p>
          <a:p>
            <a:r>
              <a:rPr lang="en-US" dirty="0" smtClean="0"/>
              <a:t>Makes debugging easier</a:t>
            </a:r>
          </a:p>
          <a:p>
            <a:r>
              <a:rPr lang="en-US" dirty="0" smtClean="0"/>
              <a:t>Some </a:t>
            </a:r>
            <a:r>
              <a:rPr lang="en-US" dirty="0"/>
              <a:t>idioms can be faster or use less memory </a:t>
            </a:r>
            <a:r>
              <a:rPr lang="en-US" dirty="0" smtClean="0"/>
              <a:t>than their </a:t>
            </a:r>
            <a:r>
              <a:rPr lang="en-US" dirty="0"/>
              <a:t>“non-idiomatic” counterparts.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Don't reinvent the </a:t>
            </a:r>
            <a:r>
              <a:rPr lang="en-US" b="1" dirty="0" smtClean="0"/>
              <a:t>wheel!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 writing any code</a:t>
            </a:r>
            <a:r>
              <a:rPr lang="en-US" dirty="0" smtClean="0"/>
              <a:t>,</a:t>
            </a:r>
          </a:p>
          <a:p>
            <a:r>
              <a:rPr lang="en-US" dirty="0"/>
              <a:t>Check Python's standard </a:t>
            </a:r>
            <a:r>
              <a:rPr lang="en-US" dirty="0" smtClean="0"/>
              <a:t>library,</a:t>
            </a:r>
          </a:p>
          <a:p>
            <a:r>
              <a:rPr lang="en-US" dirty="0"/>
              <a:t>Check the Python Package </a:t>
            </a:r>
            <a:r>
              <a:rPr lang="en-US" dirty="0" smtClean="0"/>
              <a:t>Index</a:t>
            </a:r>
          </a:p>
          <a:p>
            <a:r>
              <a:rPr lang="en-US" dirty="0" smtClean="0"/>
              <a:t>Check for existing solutions by seasoned programmers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2657"/>
            <a:ext cx="7551708" cy="1400530"/>
          </a:xfrm>
        </p:spPr>
        <p:txBody>
          <a:bodyPr/>
          <a:lstStyle/>
          <a:p>
            <a:r>
              <a:rPr lang="en-US" b="1" dirty="0" smtClean="0"/>
              <a:t>Assigning Multiple Variables</a:t>
            </a:r>
            <a:endParaRPr lang="en-US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571809" y="1615056"/>
            <a:ext cx="3337560" cy="576262"/>
          </a:xfrm>
        </p:spPr>
        <p:txBody>
          <a:bodyPr/>
          <a:lstStyle/>
          <a:p>
            <a:r>
              <a:rPr lang="en-US" dirty="0" smtClean="0"/>
              <a:t>Not so good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91526" y="2514600"/>
            <a:ext cx="3834287" cy="4118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= 1</a:t>
            </a:r>
          </a:p>
          <a:p>
            <a:pPr marL="0" indent="0">
              <a:buNone/>
            </a:pPr>
            <a:r>
              <a:rPr lang="pt-BR" dirty="0"/>
              <a:t>b = 2</a:t>
            </a:r>
          </a:p>
          <a:p>
            <a:pPr marL="0" indent="0">
              <a:buNone/>
            </a:pPr>
            <a:r>
              <a:rPr lang="pt-BR" dirty="0"/>
              <a:t>c = </a:t>
            </a:r>
            <a:r>
              <a:rPr lang="pt-BR" dirty="0" smtClean="0"/>
              <a:t>3</a:t>
            </a:r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 = [1, 2, 3]</a:t>
            </a:r>
          </a:p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my_list</a:t>
            </a:r>
            <a:r>
              <a:rPr lang="en-US" dirty="0"/>
              <a:t>[0]</a:t>
            </a:r>
          </a:p>
          <a:p>
            <a:pPr marL="0" indent="0">
              <a:buNone/>
            </a:pPr>
            <a:r>
              <a:rPr lang="en-US" dirty="0"/>
              <a:t>b = </a:t>
            </a:r>
            <a:r>
              <a:rPr lang="en-US" dirty="0" err="1"/>
              <a:t>my_list</a:t>
            </a:r>
            <a:r>
              <a:rPr lang="en-US" dirty="0"/>
              <a:t>[1]</a:t>
            </a:r>
          </a:p>
          <a:p>
            <a:pPr marL="0" indent="0">
              <a:buNone/>
            </a:pPr>
            <a:r>
              <a:rPr lang="en-US" dirty="0"/>
              <a:t> c = </a:t>
            </a:r>
            <a:r>
              <a:rPr lang="en-US" dirty="0" err="1"/>
              <a:t>my_list</a:t>
            </a:r>
            <a:r>
              <a:rPr lang="en-US" dirty="0"/>
              <a:t>[2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x = ‘bar’</a:t>
            </a:r>
          </a:p>
          <a:p>
            <a:pPr marL="0" indent="0">
              <a:buNone/>
            </a:pPr>
            <a:r>
              <a:rPr lang="en-US" dirty="0" smtClean="0"/>
              <a:t>y = ‘bar’</a:t>
            </a:r>
          </a:p>
          <a:p>
            <a:pPr marL="0" indent="0">
              <a:buNone/>
            </a:pPr>
            <a:r>
              <a:rPr lang="en-US" dirty="0" smtClean="0"/>
              <a:t>z = ‘bar’</a:t>
            </a:r>
            <a:endParaRPr lang="en-US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202530" y="1615056"/>
            <a:ext cx="3337560" cy="576262"/>
          </a:xfrm>
        </p:spPr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241977" y="2599690"/>
            <a:ext cx="3298113" cy="37417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a, b, c = 1, 2, 3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 = [1, 2, 3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/>
              <a:t>a, b, c = </a:t>
            </a:r>
            <a:r>
              <a:rPr lang="en-US" dirty="0" err="1" smtClean="0"/>
              <a:t>my_list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x = y = z = ‘bar’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4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133" y="143491"/>
            <a:ext cx="7055380" cy="1312703"/>
          </a:xfrm>
        </p:spPr>
        <p:txBody>
          <a:bodyPr/>
          <a:lstStyle/>
          <a:p>
            <a:r>
              <a:rPr lang="en-US" b="1" dirty="0" smtClean="0"/>
              <a:t>Python’s </a:t>
            </a:r>
            <a:r>
              <a:rPr lang="en-US" b="1" dirty="0" err="1" smtClean="0"/>
              <a:t>Tenary</a:t>
            </a:r>
            <a:r>
              <a:rPr lang="en-US" b="1" dirty="0" smtClean="0"/>
              <a:t> style Operator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288" y="2186505"/>
            <a:ext cx="3298112" cy="576262"/>
          </a:xfrm>
        </p:spPr>
        <p:txBody>
          <a:bodyPr/>
          <a:lstStyle/>
          <a:p>
            <a:r>
              <a:rPr lang="en-US" dirty="0" smtClean="0"/>
              <a:t>Normal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710" y="2965361"/>
            <a:ext cx="3298113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some_boolean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value = 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else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value = 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print</a:t>
            </a:r>
            <a:r>
              <a:rPr lang="en-US" dirty="0" smtClean="0"/>
              <a:t>(value)</a:t>
            </a:r>
          </a:p>
          <a:p>
            <a:pPr marL="0" indent="0">
              <a:buNone/>
            </a:pP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12400" y="2193131"/>
            <a:ext cx="3298113" cy="576262"/>
          </a:xfrm>
        </p:spPr>
        <p:txBody>
          <a:bodyPr/>
          <a:lstStyle/>
          <a:p>
            <a:r>
              <a:rPr lang="en-US" dirty="0" smtClean="0"/>
              <a:t>Simpler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70479" y="2965361"/>
            <a:ext cx="4816698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value = 1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some_boolean</a:t>
            </a:r>
            <a:r>
              <a:rPr lang="en-US" dirty="0" smtClean="0"/>
              <a:t> else 0</a:t>
            </a:r>
          </a:p>
          <a:p>
            <a:pPr marL="0" indent="0">
              <a:buNone/>
            </a:pPr>
            <a:r>
              <a:rPr lang="en-US" dirty="0" smtClean="0"/>
              <a:t>print(value)</a:t>
            </a:r>
          </a:p>
          <a:p>
            <a:pPr marL="0" indent="0">
              <a:buNone/>
            </a:pPr>
            <a:r>
              <a:rPr lang="en-US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283" y="1799245"/>
            <a:ext cx="80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&gt;&gt;&gt; </a:t>
            </a:r>
            <a:r>
              <a:rPr lang="en-US" dirty="0" err="1" smtClean="0"/>
              <a:t>some_boolean</a:t>
            </a:r>
            <a:r>
              <a:rPr lang="en-US" dirty="0" smtClean="0"/>
              <a:t> = True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3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Python variables are not boxes</a:t>
            </a:r>
            <a:endParaRPr lang="en-US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Unlike in C, Assigning more than one variable to same object doesn’t create a copy of the object, Only creates a reference.</a:t>
            </a:r>
          </a:p>
          <a:p>
            <a:pPr marL="0" indent="0">
              <a:buNone/>
            </a:pPr>
            <a:r>
              <a:rPr lang="en-US" dirty="0" smtClean="0"/>
              <a:t>EX:</a:t>
            </a:r>
          </a:p>
          <a:p>
            <a:pPr marL="0" indent="0">
              <a:buNone/>
            </a:pPr>
            <a:r>
              <a:rPr lang="en-US" dirty="0" smtClean="0"/>
              <a:t>&gt;&gt;&gt;a = [1, 2, 3]</a:t>
            </a:r>
          </a:p>
          <a:p>
            <a:pPr marL="0" indent="0">
              <a:buNone/>
            </a:pPr>
            <a:r>
              <a:rPr lang="en-US" dirty="0" smtClean="0"/>
              <a:t>&gt;&gt;&gt;b = a</a:t>
            </a:r>
          </a:p>
          <a:p>
            <a:pPr marL="0" indent="0">
              <a:buNone/>
            </a:pPr>
            <a:r>
              <a:rPr lang="en-US" dirty="0" smtClean="0"/>
              <a:t>&gt;&gt;&gt;b.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append</a:t>
            </a:r>
            <a:r>
              <a:rPr lang="en-US" dirty="0" smtClean="0"/>
              <a:t>(4)</a:t>
            </a:r>
          </a:p>
          <a:p>
            <a:pPr marL="0" indent="0">
              <a:buNone/>
            </a:pPr>
            <a:r>
              <a:rPr lang="en-US" dirty="0" smtClean="0"/>
              <a:t>&gt;&gt;&gt;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print</a:t>
            </a:r>
            <a:r>
              <a:rPr lang="en-US" dirty="0" smtClean="0"/>
              <a:t>(a)</a:t>
            </a:r>
          </a:p>
          <a:p>
            <a:pPr marL="0" indent="0">
              <a:buNone/>
            </a:pPr>
            <a:r>
              <a:rPr lang="en-US" dirty="0" smtClean="0"/>
              <a:t> [1, 2, 3, 4]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6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91" y="438819"/>
            <a:ext cx="6798734" cy="1338465"/>
          </a:xfrm>
        </p:spPr>
        <p:txBody>
          <a:bodyPr/>
          <a:lstStyle/>
          <a:p>
            <a:r>
              <a:rPr lang="en-US" b="1" smtClean="0"/>
              <a:t>Use ‘==‘ </a:t>
            </a:r>
            <a:r>
              <a:rPr lang="en-US" b="1" dirty="0" smtClean="0"/>
              <a:t>to check </a:t>
            </a:r>
            <a:r>
              <a:rPr lang="en-US" b="1" smtClean="0"/>
              <a:t>for equality, not ‘is’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899" y="2047742"/>
            <a:ext cx="8475259" cy="458506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 smtClean="0"/>
              <a:t>Python’s ‘is’ keyword is not a replacement of the equality operator(==) as it is often used. It only checks if two variables points to same object.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 smtClean="0"/>
              <a:t>&gt;&gt;&gt; a = ‘Hello world!’</a:t>
            </a:r>
          </a:p>
          <a:p>
            <a:pPr marL="0" indent="0">
              <a:buNone/>
            </a:pPr>
            <a:r>
              <a:rPr lang="en-US" dirty="0" smtClean="0"/>
              <a:t>&gt;&gt;&gt; b </a:t>
            </a:r>
            <a:r>
              <a:rPr lang="en-US" dirty="0"/>
              <a:t>= ‘Hello world</a:t>
            </a:r>
            <a:r>
              <a:rPr lang="en-US" dirty="0" smtClean="0"/>
              <a:t>!’</a:t>
            </a:r>
          </a:p>
          <a:p>
            <a:pPr marL="0" indent="0">
              <a:buNone/>
            </a:pPr>
            <a:r>
              <a:rPr lang="en-US" dirty="0" smtClean="0"/>
              <a:t>&gt;&gt;&gt; c = b</a:t>
            </a:r>
          </a:p>
          <a:p>
            <a:pPr marL="0" indent="0">
              <a:buNone/>
            </a:pPr>
            <a:r>
              <a:rPr lang="en-US" dirty="0" smtClean="0"/>
              <a:t>&gt;&gt;&gt; a == b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True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&gt;&gt;&gt; a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is</a:t>
            </a:r>
            <a:r>
              <a:rPr lang="en-US" dirty="0" smtClean="0"/>
              <a:t> b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smtClean="0"/>
              <a:t>&gt;&gt;&gt; c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is</a:t>
            </a:r>
            <a:r>
              <a:rPr lang="en-US" dirty="0" smtClean="0"/>
              <a:t> b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True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5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Conditionals</a:t>
            </a: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Normal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1727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len</a:t>
            </a:r>
            <a:r>
              <a:rPr lang="en-US" dirty="0" smtClean="0"/>
              <a:t>(</a:t>
            </a:r>
            <a:r>
              <a:rPr lang="en-US" dirty="0" err="1" smtClean="0"/>
              <a:t>a_list</a:t>
            </a:r>
            <a:r>
              <a:rPr lang="en-US" dirty="0" smtClean="0"/>
              <a:t>) &gt; 0: </a:t>
            </a:r>
          </a:p>
          <a:p>
            <a:pPr marL="0" indent="0">
              <a:buNone/>
            </a:pPr>
            <a:r>
              <a:rPr lang="en-US" dirty="0" smtClean="0"/>
              <a:t>	do stuff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If</a:t>
            </a:r>
            <a:r>
              <a:rPr lang="en-US" dirty="0" smtClean="0"/>
              <a:t> number &gt; 0: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do stuff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1560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a_list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do </a:t>
            </a:r>
            <a:r>
              <a:rPr lang="en-US" dirty="0" smtClean="0"/>
              <a:t>stuff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smtClean="0"/>
              <a:t>number: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do stuff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76867" y="5390866"/>
            <a:ext cx="6798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Checking for truth </a:t>
            </a:r>
            <a:r>
              <a:rPr lang="en-US" dirty="0" smtClean="0"/>
              <a:t>in this manner clearly </a:t>
            </a:r>
            <a:r>
              <a:rPr lang="en-US" dirty="0"/>
              <a:t>shows the code's intention rather </a:t>
            </a:r>
            <a:r>
              <a:rPr lang="en-US" dirty="0" smtClean="0"/>
              <a:t>than drawing </a:t>
            </a:r>
            <a:r>
              <a:rPr lang="en-US" dirty="0"/>
              <a:t>attention to </a:t>
            </a:r>
            <a:r>
              <a:rPr lang="en-US" dirty="0" smtClean="0"/>
              <a:t>the outcome of the condition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9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following evaluates to True: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1" y="2052925"/>
            <a:ext cx="8053982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True</a:t>
            </a:r>
          </a:p>
          <a:p>
            <a:r>
              <a:rPr lang="en-US" dirty="0" smtClean="0"/>
              <a:t>Numbers other than zero</a:t>
            </a:r>
          </a:p>
          <a:p>
            <a:r>
              <a:rPr lang="en-US" dirty="0" smtClean="0"/>
              <a:t>Non empty string</a:t>
            </a:r>
          </a:p>
          <a:p>
            <a:r>
              <a:rPr lang="en-US" dirty="0" smtClean="0"/>
              <a:t>Non Empty Collections</a:t>
            </a:r>
          </a:p>
          <a:p>
            <a:endParaRPr lang="en-US" dirty="0" smtClean="0"/>
          </a:p>
          <a:p>
            <a:pPr marL="457200" lvl="1" indent="0">
              <a:buNone/>
            </a:pPr>
            <a:r>
              <a:rPr lang="en-US" sz="2400" dirty="0" smtClean="0"/>
              <a:t>if 1:</a:t>
            </a:r>
          </a:p>
          <a:p>
            <a:pPr marL="457200" lvl="1" indent="0">
              <a:buNone/>
            </a:pPr>
            <a:r>
              <a:rPr lang="en-US" sz="2400" dirty="0" smtClean="0"/>
              <a:t>if </a:t>
            </a:r>
            <a:r>
              <a:rPr lang="en-US" sz="2400" dirty="0"/>
              <a:t>‘string is not empty’:</a:t>
            </a:r>
          </a:p>
          <a:p>
            <a:pPr marL="457200" lvl="1" indent="0">
              <a:buNone/>
            </a:pPr>
            <a:r>
              <a:rPr lang="en-US" sz="2400" dirty="0"/>
              <a:t>If {‘key’: value}:</a:t>
            </a:r>
          </a:p>
          <a:p>
            <a:pPr marL="457200" lvl="1" indent="0">
              <a:buNone/>
            </a:pPr>
            <a:r>
              <a:rPr lang="en-US" sz="2400" dirty="0"/>
              <a:t>If [item</a:t>
            </a:r>
            <a:r>
              <a:rPr lang="en-US" sz="2400" dirty="0" smtClean="0"/>
              <a:t>]: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 smtClean="0"/>
              <a:t>Are valid python statements</a:t>
            </a:r>
            <a:endParaRPr lang="en-US" sz="2400" dirty="0"/>
          </a:p>
          <a:p>
            <a:pPr marL="457200" lvl="1" indent="0">
              <a:buNone/>
            </a:pP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3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 line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6712390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My_string</a:t>
            </a:r>
            <a:r>
              <a:rPr lang="en-US" dirty="0" smtClean="0"/>
              <a:t> = (“This very long string”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         “Has been broken down”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         “Into multiple lines”)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&gt;&gt;&gt;</a:t>
            </a:r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Print(</a:t>
            </a:r>
            <a:r>
              <a:rPr lang="en-US" dirty="0" err="1" smtClean="0"/>
              <a:t>my_string</a:t>
            </a:r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This very long </a:t>
            </a:r>
            <a:r>
              <a:rPr lang="en-US" dirty="0" smtClean="0"/>
              <a:t>string </a:t>
            </a:r>
            <a:r>
              <a:rPr lang="en-US" dirty="0"/>
              <a:t>Has been broken </a:t>
            </a:r>
            <a:r>
              <a:rPr lang="en-US" dirty="0" smtClean="0"/>
              <a:t>down </a:t>
            </a:r>
            <a:r>
              <a:rPr lang="en-US" dirty="0"/>
              <a:t>Into multiple lines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3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Formatting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711" y="1879660"/>
            <a:ext cx="3298112" cy="576262"/>
          </a:xfrm>
        </p:spPr>
        <p:txBody>
          <a:bodyPr/>
          <a:lstStyle/>
          <a:p>
            <a:r>
              <a:rPr lang="en-US" dirty="0" smtClean="0"/>
              <a:t>Not so good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417" y="2550603"/>
            <a:ext cx="7504931" cy="945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user_info</a:t>
            </a:r>
            <a:r>
              <a:rPr lang="en-US" dirty="0"/>
              <a:t>(user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return </a:t>
            </a:r>
            <a:r>
              <a:rPr lang="en-US" dirty="0"/>
              <a:t>'Name: ' + user.name + ' Age: '+ </a:t>
            </a:r>
            <a:r>
              <a:rPr lang="en-US" dirty="0" err="1"/>
              <a:t>user.age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710" y="4088873"/>
            <a:ext cx="3298113" cy="576262"/>
          </a:xfrm>
        </p:spPr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711" y="4716887"/>
            <a:ext cx="7590344" cy="84678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user_info</a:t>
            </a:r>
            <a:r>
              <a:rPr lang="en-US" dirty="0"/>
              <a:t>(user):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'Name: {user.name} Age: {</a:t>
            </a:r>
            <a:r>
              <a:rPr lang="en-US" dirty="0" err="1"/>
              <a:t>user.age</a:t>
            </a:r>
            <a:r>
              <a:rPr lang="en-US" dirty="0"/>
              <a:t>}'.format(user=user)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767" y="111524"/>
            <a:ext cx="8120418" cy="857467"/>
          </a:xfrm>
        </p:spPr>
        <p:txBody>
          <a:bodyPr/>
          <a:lstStyle/>
          <a:p>
            <a:r>
              <a:rPr lang="en-US" sz="3600" b="1" dirty="0"/>
              <a:t>Building Strings from Substrings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Wrong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1768" y="2514600"/>
            <a:ext cx="3944046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result = </a:t>
            </a:r>
            <a:r>
              <a:rPr lang="en-US" dirty="0" smtClean="0"/>
              <a:t>‘ ‘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for</a:t>
            </a:r>
            <a:r>
              <a:rPr lang="en-US" dirty="0"/>
              <a:t> s </a:t>
            </a:r>
            <a:r>
              <a:rPr lang="en-US" dirty="0">
                <a:solidFill>
                  <a:srgbClr val="FFFF00"/>
                </a:solidFill>
              </a:rPr>
              <a:t>in</a:t>
            </a:r>
            <a:r>
              <a:rPr lang="en-US" dirty="0"/>
              <a:t> colors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result  </a:t>
            </a:r>
            <a:r>
              <a:rPr lang="en-US" dirty="0"/>
              <a:t>+= </a:t>
            </a:r>
            <a:r>
              <a:rPr lang="en-US" dirty="0" smtClean="0"/>
              <a:t> 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80931" y="2514600"/>
            <a:ext cx="4585648" cy="3741738"/>
          </a:xfrm>
        </p:spPr>
        <p:txBody>
          <a:bodyPr/>
          <a:lstStyle/>
          <a:p>
            <a:pPr marL="0" indent="0">
              <a:buNone/>
            </a:pPr>
            <a:r>
              <a:rPr lang="en-US" spc="300" dirty="0"/>
              <a:t>result = ''.</a:t>
            </a:r>
            <a:r>
              <a:rPr lang="en-US" spc="300" dirty="0">
                <a:solidFill>
                  <a:srgbClr val="FFFF00"/>
                </a:solidFill>
              </a:rPr>
              <a:t>join</a:t>
            </a:r>
            <a:r>
              <a:rPr lang="en-US" spc="300" dirty="0"/>
              <a:t>(colors)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785" y="1132764"/>
            <a:ext cx="8338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&gt;&gt;&gt; colors </a:t>
            </a:r>
            <a:r>
              <a:rPr lang="en-US" dirty="0"/>
              <a:t>= [ ‘red’, ‘blue’ ‘green’ ‘black’, ‘orange’, ‘yellow’ 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5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Use return to evaluate simple expressions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710" y="2211410"/>
            <a:ext cx="3298112" cy="576262"/>
          </a:xfrm>
        </p:spPr>
        <p:txBody>
          <a:bodyPr/>
          <a:lstStyle/>
          <a:p>
            <a:r>
              <a:rPr lang="en-US" dirty="0" smtClean="0"/>
              <a:t>Not so good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225" y="3145834"/>
            <a:ext cx="3919751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def</a:t>
            </a:r>
            <a:r>
              <a:rPr lang="en-US" dirty="0" smtClean="0"/>
              <a:t> </a:t>
            </a:r>
            <a:r>
              <a:rPr lang="en-US" dirty="0" err="1" smtClean="0"/>
              <a:t>add_nums</a:t>
            </a:r>
            <a:r>
              <a:rPr lang="en-US" dirty="0" smtClean="0"/>
              <a:t>(num1, num2):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result = num1 + num2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chemeClr val="accent3"/>
                </a:solidFill>
              </a:rPr>
              <a:t>return</a:t>
            </a:r>
            <a:r>
              <a:rPr lang="en-US" dirty="0" smtClean="0"/>
              <a:t> result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1069" y="2193131"/>
            <a:ext cx="3298113" cy="576262"/>
          </a:xfrm>
        </p:spPr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3121" y="3112138"/>
            <a:ext cx="4489900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/>
              <a:t>add_nums</a:t>
            </a:r>
            <a:r>
              <a:rPr lang="en-US" dirty="0"/>
              <a:t>(num1, num2):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3"/>
                </a:solidFill>
              </a:rPr>
              <a:t>return</a:t>
            </a:r>
            <a:r>
              <a:rPr lang="en-US" dirty="0"/>
              <a:t> num1 + num2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9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30172"/>
          </a:xfrm>
        </p:spPr>
        <p:txBody>
          <a:bodyPr/>
          <a:lstStyle/>
          <a:p>
            <a:r>
              <a:rPr lang="en-US" dirty="0" smtClean="0"/>
              <a:t>Looping with indices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36479" y="2363337"/>
            <a:ext cx="3989334" cy="576262"/>
          </a:xfrm>
        </p:spPr>
        <p:txBody>
          <a:bodyPr/>
          <a:lstStyle/>
          <a:p>
            <a:r>
              <a:rPr lang="en-US" dirty="0" smtClean="0"/>
              <a:t>Wrong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478" y="2939599"/>
            <a:ext cx="3989335" cy="3741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3"/>
                </a:solidFill>
              </a:rPr>
              <a:t>range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len</a:t>
            </a:r>
            <a:r>
              <a:rPr lang="en-US" dirty="0" smtClean="0"/>
              <a:t>(colors)):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print</a:t>
            </a:r>
            <a:r>
              <a:rPr lang="en-US" dirty="0" smtClean="0"/>
              <a:t>( </a:t>
            </a:r>
            <a:r>
              <a:rPr lang="en-US" dirty="0" err="1" smtClean="0"/>
              <a:t>i</a:t>
            </a:r>
            <a:r>
              <a:rPr lang="en-US" dirty="0" smtClean="0"/>
              <a:t>, ‘--&gt;’ + colors[ </a:t>
            </a:r>
            <a:r>
              <a:rPr lang="en-US" dirty="0" err="1" smtClean="0"/>
              <a:t>i</a:t>
            </a:r>
            <a:r>
              <a:rPr lang="en-US" dirty="0" smtClean="0"/>
              <a:t> ] 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0 --&gt;red</a:t>
            </a:r>
          </a:p>
          <a:p>
            <a:pPr marL="0" indent="0">
              <a:buNone/>
            </a:pPr>
            <a:r>
              <a:rPr lang="en-US" dirty="0"/>
              <a:t>1 --&gt;blue</a:t>
            </a:r>
          </a:p>
          <a:p>
            <a:pPr marL="0" indent="0">
              <a:buNone/>
            </a:pPr>
            <a:r>
              <a:rPr lang="en-US" dirty="0"/>
              <a:t>2 --&gt;green</a:t>
            </a:r>
          </a:p>
          <a:p>
            <a:pPr marL="0" indent="0">
              <a:buNone/>
            </a:pPr>
            <a:r>
              <a:rPr lang="en-US" dirty="0"/>
              <a:t>3 --&gt;black</a:t>
            </a:r>
          </a:p>
          <a:p>
            <a:pPr marL="0" indent="0">
              <a:buNone/>
            </a:pPr>
            <a:r>
              <a:rPr lang="en-US" dirty="0"/>
              <a:t>4 --&gt;orange</a:t>
            </a:r>
          </a:p>
          <a:p>
            <a:pPr marL="0" indent="0">
              <a:buNone/>
            </a:pPr>
            <a:r>
              <a:rPr lang="en-US" dirty="0"/>
              <a:t>5 --&gt;yellow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351158" y="2363337"/>
            <a:ext cx="4792842" cy="576262"/>
          </a:xfrm>
        </p:spPr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351158" y="2939599"/>
            <a:ext cx="4792842" cy="3741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color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enumerate</a:t>
            </a:r>
            <a:r>
              <a:rPr lang="en-US" dirty="0" smtClean="0"/>
              <a:t>(colors):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print</a:t>
            </a:r>
            <a:r>
              <a:rPr lang="en-US" dirty="0"/>
              <a:t>( </a:t>
            </a:r>
            <a:r>
              <a:rPr lang="en-US" dirty="0" err="1"/>
              <a:t>i</a:t>
            </a:r>
            <a:r>
              <a:rPr lang="en-US" dirty="0"/>
              <a:t>, ‘--&gt;’  </a:t>
            </a:r>
            <a:r>
              <a:rPr lang="en-US" dirty="0" smtClean="0"/>
              <a:t>+colors</a:t>
            </a:r>
            <a:r>
              <a:rPr lang="en-US" dirty="0"/>
              <a:t>[ </a:t>
            </a:r>
            <a:r>
              <a:rPr lang="en-US" dirty="0" err="1"/>
              <a:t>i</a:t>
            </a:r>
            <a:r>
              <a:rPr lang="en-US" dirty="0"/>
              <a:t> ] 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0 --&gt;red</a:t>
            </a:r>
          </a:p>
          <a:p>
            <a:pPr marL="0" indent="0">
              <a:buNone/>
            </a:pPr>
            <a:r>
              <a:rPr lang="en-US" dirty="0"/>
              <a:t>1 --&gt;blue</a:t>
            </a:r>
          </a:p>
          <a:p>
            <a:pPr marL="0" indent="0">
              <a:buNone/>
            </a:pPr>
            <a:r>
              <a:rPr lang="en-US" dirty="0"/>
              <a:t>2 --&gt;green</a:t>
            </a:r>
          </a:p>
          <a:p>
            <a:pPr marL="0" indent="0">
              <a:buNone/>
            </a:pPr>
            <a:r>
              <a:rPr lang="en-US" dirty="0"/>
              <a:t>3 --&gt;black</a:t>
            </a:r>
          </a:p>
          <a:p>
            <a:pPr marL="0" indent="0">
              <a:buNone/>
            </a:pPr>
            <a:r>
              <a:rPr lang="en-US" dirty="0"/>
              <a:t>4 --&gt;orange</a:t>
            </a:r>
          </a:p>
          <a:p>
            <a:pPr marL="0" indent="0">
              <a:buNone/>
            </a:pPr>
            <a:r>
              <a:rPr lang="en-US" dirty="0"/>
              <a:t>5 --&gt;yellow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4710" y="1811235"/>
            <a:ext cx="8188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&gt;&gt;&gt; colors </a:t>
            </a:r>
            <a:r>
              <a:rPr lang="en-US" dirty="0"/>
              <a:t>= [ ‘red’, ‘blue’ ‘green’ ‘black</a:t>
            </a:r>
            <a:r>
              <a:rPr lang="en-US" dirty="0" smtClean="0"/>
              <a:t>’, ‘orange’, ‘yellow’ </a:t>
            </a:r>
            <a:r>
              <a:rPr lang="en-US" dirty="0"/>
              <a:t>]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7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73" y="261649"/>
            <a:ext cx="7717594" cy="1400530"/>
          </a:xfrm>
        </p:spPr>
        <p:txBody>
          <a:bodyPr/>
          <a:lstStyle/>
          <a:p>
            <a:r>
              <a:rPr lang="en-US" dirty="0" smtClean="0"/>
              <a:t>Looping over two collections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758" y="2193131"/>
            <a:ext cx="3298112" cy="576262"/>
          </a:xfrm>
        </p:spPr>
        <p:txBody>
          <a:bodyPr/>
          <a:lstStyle/>
          <a:p>
            <a:r>
              <a:rPr lang="en-US" dirty="0" smtClean="0"/>
              <a:t>Wrong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071" y="2964976"/>
            <a:ext cx="4275987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n =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min</a:t>
            </a:r>
            <a:r>
              <a:rPr lang="en-US" dirty="0" smtClean="0"/>
              <a:t>( </a:t>
            </a:r>
            <a:r>
              <a:rPr lang="en-US" dirty="0" err="1" smtClean="0">
                <a:solidFill>
                  <a:srgbClr val="FFC000"/>
                </a:solidFill>
              </a:rPr>
              <a:t>len</a:t>
            </a:r>
            <a:r>
              <a:rPr lang="en-US" dirty="0" smtClean="0"/>
              <a:t>(names), </a:t>
            </a:r>
            <a:r>
              <a:rPr lang="en-US" dirty="0" err="1" smtClean="0">
                <a:solidFill>
                  <a:srgbClr val="FFC000"/>
                </a:solidFill>
              </a:rPr>
              <a:t>len</a:t>
            </a:r>
            <a:r>
              <a:rPr lang="en-US" dirty="0" smtClean="0"/>
              <a:t>(colors))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range</a:t>
            </a:r>
            <a:r>
              <a:rPr lang="en-US" dirty="0" smtClean="0"/>
              <a:t>(n):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</a:t>
            </a:r>
            <a:r>
              <a:rPr lang="en-US" dirty="0" smtClean="0"/>
              <a:t>(names[ </a:t>
            </a:r>
            <a:r>
              <a:rPr lang="en-US" dirty="0" err="1" smtClean="0"/>
              <a:t>i</a:t>
            </a:r>
            <a:r>
              <a:rPr lang="en-US" dirty="0" smtClean="0"/>
              <a:t> ], ‘--&gt;’ + colors[ </a:t>
            </a:r>
            <a:r>
              <a:rPr lang="en-US" dirty="0" err="1" smtClean="0"/>
              <a:t>i</a:t>
            </a:r>
            <a:r>
              <a:rPr lang="en-US" dirty="0" smtClean="0"/>
              <a:t> 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kelvin --&gt;red</a:t>
            </a:r>
          </a:p>
          <a:p>
            <a:pPr marL="0" indent="0">
              <a:buNone/>
            </a:pPr>
            <a:r>
              <a:rPr lang="en-US" dirty="0"/>
              <a:t>john --&gt;blue</a:t>
            </a:r>
          </a:p>
          <a:p>
            <a:pPr marL="0" indent="0">
              <a:buNone/>
            </a:pPr>
            <a:r>
              <a:rPr lang="en-US" dirty="0" err="1"/>
              <a:t>paul</a:t>
            </a:r>
            <a:r>
              <a:rPr lang="en-US" dirty="0"/>
              <a:t> --&gt;green</a:t>
            </a:r>
          </a:p>
          <a:p>
            <a:pPr marL="0" indent="0">
              <a:buNone/>
            </a:pPr>
            <a:r>
              <a:rPr lang="en-US" dirty="0" err="1"/>
              <a:t>titus</a:t>
            </a:r>
            <a:r>
              <a:rPr lang="en-US" dirty="0"/>
              <a:t> --&gt;black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2193131"/>
            <a:ext cx="3298113" cy="576262"/>
          </a:xfrm>
        </p:spPr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921402"/>
            <a:ext cx="4792842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for</a:t>
            </a:r>
            <a:r>
              <a:rPr lang="en-US" dirty="0" smtClean="0"/>
              <a:t> name, color in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zip</a:t>
            </a:r>
            <a:r>
              <a:rPr lang="en-US" dirty="0" smtClean="0"/>
              <a:t>(names, colors):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</a:t>
            </a:r>
            <a:r>
              <a:rPr lang="en-US" dirty="0" smtClean="0"/>
              <a:t>(name, </a:t>
            </a:r>
            <a:r>
              <a:rPr lang="en-US" dirty="0"/>
              <a:t>‘--&gt;’ </a:t>
            </a:r>
            <a:r>
              <a:rPr lang="en-US" dirty="0" smtClean="0"/>
              <a:t>+color)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kelvin --&gt;red</a:t>
            </a:r>
          </a:p>
          <a:p>
            <a:pPr marL="0" indent="0">
              <a:buNone/>
            </a:pPr>
            <a:r>
              <a:rPr lang="en-US" dirty="0"/>
              <a:t>john --&gt;blue</a:t>
            </a:r>
          </a:p>
          <a:p>
            <a:pPr marL="0" indent="0">
              <a:buNone/>
            </a:pPr>
            <a:r>
              <a:rPr lang="en-US" dirty="0" err="1"/>
              <a:t>paul</a:t>
            </a:r>
            <a:r>
              <a:rPr lang="en-US" dirty="0"/>
              <a:t> --&gt;green</a:t>
            </a:r>
          </a:p>
          <a:p>
            <a:pPr marL="0" indent="0">
              <a:buNone/>
            </a:pPr>
            <a:r>
              <a:rPr lang="en-US" dirty="0" err="1"/>
              <a:t>titus</a:t>
            </a:r>
            <a:r>
              <a:rPr lang="en-US" dirty="0"/>
              <a:t> --&gt;black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2263" y="1446663"/>
            <a:ext cx="8502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 smtClean="0"/>
              <a:t>&gt;&gt;&gt; colors  =  </a:t>
            </a:r>
            <a:r>
              <a:rPr lang="en-US" spc="300" dirty="0"/>
              <a:t>[ ‘red’, ‘blue’ ‘green</a:t>
            </a:r>
            <a:r>
              <a:rPr lang="en-US" spc="300" dirty="0" smtClean="0"/>
              <a:t>’ ]</a:t>
            </a:r>
          </a:p>
          <a:p>
            <a:r>
              <a:rPr lang="en-US" spc="300" dirty="0" smtClean="0"/>
              <a:t>&gt;&gt;&gt; names  = [ ‘kelvin’, ‘john’, ‘</a:t>
            </a:r>
            <a:r>
              <a:rPr lang="en-US" spc="300" dirty="0" err="1" smtClean="0"/>
              <a:t>paul</a:t>
            </a:r>
            <a:r>
              <a:rPr lang="en-US" spc="300" dirty="0" smtClean="0"/>
              <a:t>’, ‘</a:t>
            </a:r>
            <a:r>
              <a:rPr lang="en-US" spc="300" dirty="0" err="1" smtClean="0"/>
              <a:t>titus</a:t>
            </a:r>
            <a:r>
              <a:rPr lang="en-US" spc="300" dirty="0" smtClean="0"/>
              <a:t>’ ]</a:t>
            </a:r>
            <a:endParaRPr lang="en-US" spc="300" dirty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4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60" y="48904"/>
            <a:ext cx="7055380" cy="1400530"/>
          </a:xfrm>
        </p:spPr>
        <p:txBody>
          <a:bodyPr/>
          <a:lstStyle/>
          <a:p>
            <a:r>
              <a:rPr lang="en-US" b="1" dirty="0"/>
              <a:t>List Comprehensions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460" y="2165392"/>
            <a:ext cx="3941352" cy="576262"/>
          </a:xfrm>
        </p:spPr>
        <p:txBody>
          <a:bodyPr/>
          <a:lstStyle/>
          <a:p>
            <a:r>
              <a:rPr lang="en-US" sz="1600" dirty="0"/>
              <a:t>The traditional way, with for and if statements: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438" y="2936828"/>
            <a:ext cx="4167380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new_list</a:t>
            </a:r>
            <a:r>
              <a:rPr lang="en-US" dirty="0"/>
              <a:t> = </a:t>
            </a:r>
            <a:r>
              <a:rPr lang="en-US" dirty="0" smtClean="0"/>
              <a:t>[ ]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for</a:t>
            </a:r>
            <a:r>
              <a:rPr lang="en-US" dirty="0"/>
              <a:t> item </a:t>
            </a:r>
            <a:r>
              <a:rPr lang="en-US" dirty="0">
                <a:solidFill>
                  <a:srgbClr val="FFFF00"/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a_list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FF00"/>
                </a:solidFill>
              </a:rPr>
              <a:t>if</a:t>
            </a:r>
            <a:r>
              <a:rPr lang="en-US" dirty="0"/>
              <a:t> condition(item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/>
              <a:t>new_list.</a:t>
            </a:r>
            <a:r>
              <a:rPr lang="en-US" dirty="0" err="1">
                <a:solidFill>
                  <a:srgbClr val="FFFF00"/>
                </a:solidFill>
              </a:rPr>
              <a:t>append</a:t>
            </a:r>
            <a:r>
              <a:rPr lang="en-US" dirty="0"/>
              <a:t>(</a:t>
            </a:r>
            <a:r>
              <a:rPr lang="en-US" dirty="0" err="1"/>
              <a:t>fn</a:t>
            </a:r>
            <a:r>
              <a:rPr lang="en-US" dirty="0"/>
              <a:t>(item))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800" dirty="0" smtClean="0"/>
              <a:t>With List comprehension</a:t>
            </a: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284" y="2741655"/>
            <a:ext cx="4640238" cy="259462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new_list</a:t>
            </a:r>
            <a:r>
              <a:rPr lang="en-US" dirty="0"/>
              <a:t> = </a:t>
            </a:r>
            <a:r>
              <a:rPr lang="en-US" dirty="0" smtClean="0"/>
              <a:t>[ </a:t>
            </a:r>
            <a:r>
              <a:rPr lang="en-US" dirty="0" err="1" smtClean="0"/>
              <a:t>fn</a:t>
            </a:r>
            <a:r>
              <a:rPr lang="en-US" dirty="0" smtClean="0"/>
              <a:t>( item ) </a:t>
            </a:r>
            <a:r>
              <a:rPr lang="en-US" dirty="0">
                <a:solidFill>
                  <a:srgbClr val="FFFF00"/>
                </a:solidFill>
              </a:rPr>
              <a:t>for</a:t>
            </a:r>
            <a:r>
              <a:rPr lang="en-US" dirty="0"/>
              <a:t> </a:t>
            </a:r>
            <a:r>
              <a:rPr lang="en-US" dirty="0" smtClean="0"/>
              <a:t> item  </a:t>
            </a:r>
            <a:r>
              <a:rPr lang="en-US" dirty="0" smtClean="0">
                <a:solidFill>
                  <a:srgbClr val="FFFF00"/>
                </a:solidFill>
              </a:rPr>
              <a:t>in</a:t>
            </a:r>
            <a:r>
              <a:rPr lang="en-US" dirty="0" smtClean="0"/>
              <a:t>  </a:t>
            </a:r>
            <a:r>
              <a:rPr lang="en-US" dirty="0" err="1"/>
              <a:t>a_list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if</a:t>
            </a:r>
            <a:r>
              <a:rPr lang="en-US" dirty="0"/>
              <a:t> </a:t>
            </a:r>
            <a:r>
              <a:rPr lang="en-US" dirty="0" smtClean="0"/>
              <a:t> condition( item ) 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EX:</a:t>
            </a:r>
          </a:p>
          <a:p>
            <a:pPr marL="0" indent="0">
              <a:buNone/>
            </a:pPr>
            <a:r>
              <a:rPr lang="en-US" dirty="0"/>
              <a:t>&gt;&gt;&gt; [n ** </a:t>
            </a:r>
            <a:r>
              <a:rPr lang="en-US" dirty="0" smtClean="0"/>
              <a:t>2  </a:t>
            </a:r>
            <a:r>
              <a:rPr lang="en-US" dirty="0" smtClean="0">
                <a:solidFill>
                  <a:srgbClr val="FFFF00"/>
                </a:solidFill>
              </a:rPr>
              <a:t>for </a:t>
            </a:r>
            <a:r>
              <a:rPr lang="en-US" dirty="0" smtClean="0"/>
              <a:t> n  </a:t>
            </a:r>
            <a:r>
              <a:rPr lang="en-US" dirty="0" smtClean="0">
                <a:solidFill>
                  <a:srgbClr val="FFFF00"/>
                </a:solidFill>
              </a:rPr>
              <a:t>in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FF00"/>
                </a:solidFill>
              </a:rPr>
              <a:t>range</a:t>
            </a:r>
            <a:r>
              <a:rPr lang="en-US" dirty="0" smtClean="0"/>
              <a:t>(10) ]</a:t>
            </a:r>
          </a:p>
          <a:p>
            <a:pPr marL="0" indent="0">
              <a:buNone/>
            </a:pPr>
            <a:r>
              <a:rPr lang="en-US" dirty="0"/>
              <a:t>[0, 1, 4, 9, 16, 25, 36, 49, 64, 81]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438" y="1253415"/>
            <a:ext cx="7244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Python’s  method of making a new list from a collection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4461" y="5477943"/>
            <a:ext cx="8509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Use a list comprehension when a computed list is the desired end result.</a:t>
            </a:r>
          </a:p>
          <a:p>
            <a:r>
              <a:rPr lang="en-US" dirty="0"/>
              <a:t>• Use a generator </a:t>
            </a:r>
            <a:r>
              <a:rPr lang="en-US" dirty="0" smtClean="0"/>
              <a:t>expression( replacing [ ] with ( )) </a:t>
            </a:r>
            <a:r>
              <a:rPr lang="en-US" dirty="0"/>
              <a:t>when the computed list is just an intermediate step.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Just because you can do everything with </a:t>
            </a:r>
            <a:r>
              <a:rPr lang="en-US" sz="2800" b="1" dirty="0" err="1" smtClean="0"/>
              <a:t>listcomps</a:t>
            </a:r>
            <a:r>
              <a:rPr lang="en-US" sz="2800" b="1" dirty="0" smtClean="0"/>
              <a:t> doesn’t mean you should</a:t>
            </a:r>
            <a:endParaRPr lang="en-US" sz="2800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57577" y="2052925"/>
            <a:ext cx="8603087" cy="4195481"/>
          </a:xfrm>
        </p:spPr>
        <p:txBody>
          <a:bodyPr/>
          <a:lstStyle/>
          <a:p>
            <a:r>
              <a:rPr lang="en-US" dirty="0" smtClean="0"/>
              <a:t>The conditions becomes more complex</a:t>
            </a:r>
          </a:p>
          <a:p>
            <a:r>
              <a:rPr lang="en-US" dirty="0" smtClean="0"/>
              <a:t>Deeply nested objects are involved</a:t>
            </a:r>
          </a:p>
          <a:p>
            <a:r>
              <a:rPr lang="en-US" dirty="0"/>
              <a:t>You don't actually want a </a:t>
            </a:r>
            <a:r>
              <a:rPr lang="en-US" dirty="0" smtClean="0"/>
              <a:t>list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EX: Wrong:</a:t>
            </a:r>
          </a:p>
          <a:p>
            <a:pPr marL="0" indent="0">
              <a:buNone/>
            </a:pPr>
            <a:r>
              <a:rPr lang="en-US" sz="1800" dirty="0"/>
              <a:t>[</a:t>
            </a:r>
            <a:r>
              <a:rPr lang="en-US" sz="1800" dirty="0" err="1"/>
              <a:t>team.set_location</a:t>
            </a:r>
            <a:r>
              <a:rPr lang="en-US" sz="1800" dirty="0"/>
              <a:t>(HOME) 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FFFF00"/>
                </a:solidFill>
              </a:rPr>
              <a:t>for</a:t>
            </a:r>
            <a:r>
              <a:rPr lang="en-US" sz="1800" dirty="0" smtClean="0"/>
              <a:t>  team  </a:t>
            </a:r>
            <a:r>
              <a:rPr lang="en-US" sz="1800" dirty="0" smtClean="0">
                <a:solidFill>
                  <a:srgbClr val="FFFF00"/>
                </a:solidFill>
              </a:rPr>
              <a:t>in</a:t>
            </a:r>
            <a:r>
              <a:rPr lang="en-US" sz="1800" dirty="0" smtClean="0"/>
              <a:t>  teams  </a:t>
            </a:r>
            <a:r>
              <a:rPr lang="en-US" sz="1800" dirty="0">
                <a:solidFill>
                  <a:srgbClr val="FFFF00"/>
                </a:solidFill>
              </a:rPr>
              <a:t>if</a:t>
            </a:r>
            <a:r>
              <a:rPr lang="en-US" sz="1800" dirty="0"/>
              <a:t> </a:t>
            </a:r>
            <a:r>
              <a:rPr lang="en-US" sz="1800" dirty="0" smtClean="0"/>
              <a:t> team  </a:t>
            </a:r>
            <a:r>
              <a:rPr lang="en-US" sz="1800" dirty="0" smtClean="0">
                <a:solidFill>
                  <a:srgbClr val="FFFF00"/>
                </a:solidFill>
              </a:rPr>
              <a:t>in</a:t>
            </a:r>
            <a:r>
              <a:rPr lang="en-US" sz="1800" dirty="0" smtClean="0"/>
              <a:t>  </a:t>
            </a:r>
            <a:r>
              <a:rPr lang="en-US" sz="1800" dirty="0" err="1" smtClean="0"/>
              <a:t>home_teams</a:t>
            </a:r>
            <a:r>
              <a:rPr lang="en-US" sz="1800" dirty="0" smtClean="0"/>
              <a:t>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Better: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00"/>
                </a:solidFill>
              </a:rPr>
              <a:t>for</a:t>
            </a:r>
            <a:r>
              <a:rPr lang="en-US" sz="1800" dirty="0"/>
              <a:t> team </a:t>
            </a:r>
            <a:r>
              <a:rPr lang="en-US" sz="1800" dirty="0">
                <a:solidFill>
                  <a:srgbClr val="FFFF00"/>
                </a:solidFill>
              </a:rPr>
              <a:t>in</a:t>
            </a:r>
            <a:r>
              <a:rPr lang="en-US" sz="1800" dirty="0"/>
              <a:t> </a:t>
            </a:r>
            <a:r>
              <a:rPr lang="en-US" sz="1800" dirty="0" err="1"/>
              <a:t>league_teams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smtClean="0"/>
              <a:t>  </a:t>
            </a:r>
            <a:r>
              <a:rPr lang="en-US" sz="1800" dirty="0" smtClean="0">
                <a:solidFill>
                  <a:srgbClr val="FFFF00"/>
                </a:solidFill>
              </a:rPr>
              <a:t>if</a:t>
            </a:r>
            <a:r>
              <a:rPr lang="en-US" sz="1800" dirty="0" smtClean="0"/>
              <a:t> </a:t>
            </a:r>
            <a:r>
              <a:rPr lang="en-US" sz="1800" dirty="0"/>
              <a:t>team </a:t>
            </a:r>
            <a:r>
              <a:rPr lang="en-US" sz="1800" dirty="0">
                <a:solidFill>
                  <a:srgbClr val="FFFF00"/>
                </a:solidFill>
              </a:rPr>
              <a:t>in</a:t>
            </a:r>
            <a:r>
              <a:rPr lang="en-US" sz="1800" dirty="0"/>
              <a:t> </a:t>
            </a:r>
            <a:r>
              <a:rPr lang="en-US" sz="1800" dirty="0" err="1"/>
              <a:t>home_teams_today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smtClean="0"/>
              <a:t>    </a:t>
            </a:r>
            <a:r>
              <a:rPr lang="en-US" sz="1800" dirty="0" err="1" smtClean="0"/>
              <a:t>team.set_location</a:t>
            </a:r>
            <a:r>
              <a:rPr lang="en-US" sz="1800" dirty="0" smtClean="0"/>
              <a:t>(HOME</a:t>
            </a:r>
            <a:r>
              <a:rPr lang="en-US" sz="1800" dirty="0"/>
              <a:t>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Leverage on the power of Sets</a:t>
            </a:r>
            <a:endParaRPr lang="en-US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84710" y="2246109"/>
            <a:ext cx="7852661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If A and b are two sets:</a:t>
            </a:r>
          </a:p>
          <a:p>
            <a:pPr marL="0" indent="0">
              <a:buNone/>
            </a:pPr>
            <a:r>
              <a:rPr lang="en-US" dirty="0" smtClean="0"/>
              <a:t>Difference</a:t>
            </a:r>
            <a:r>
              <a:rPr lang="en-US" dirty="0"/>
              <a:t>: The set of elements in A but not in </a:t>
            </a:r>
            <a:r>
              <a:rPr lang="en-US" dirty="0" smtClean="0"/>
              <a:t>B</a:t>
            </a:r>
          </a:p>
          <a:p>
            <a:pPr marL="0" indent="0">
              <a:buNone/>
            </a:pPr>
            <a:r>
              <a:rPr lang="en-US" dirty="0"/>
              <a:t>Intersection: The set of elements in both A and </a:t>
            </a:r>
            <a:r>
              <a:rPr lang="en-US" dirty="0" smtClean="0"/>
              <a:t>B</a:t>
            </a:r>
          </a:p>
          <a:p>
            <a:pPr marL="0" indent="0">
              <a:buNone/>
            </a:pPr>
            <a:r>
              <a:rPr lang="en-US" dirty="0"/>
              <a:t>Difference: The set of elements in A but not in </a:t>
            </a:r>
            <a:r>
              <a:rPr lang="en-US" dirty="0" smtClean="0"/>
              <a:t>B(</a:t>
            </a:r>
            <a:r>
              <a:rPr lang="en-US" dirty="0"/>
              <a:t>order </a:t>
            </a:r>
            <a:r>
              <a:rPr lang="en-US" dirty="0" smtClean="0"/>
              <a:t>matters)</a:t>
            </a:r>
          </a:p>
          <a:p>
            <a:pPr marL="0" indent="0">
              <a:buNone/>
            </a:pPr>
            <a:r>
              <a:rPr lang="en-US" dirty="0"/>
              <a:t>Symmetric Difference: The set of elements in either A or B but not both A and </a:t>
            </a:r>
            <a:r>
              <a:rPr lang="en-US" dirty="0" smtClean="0"/>
              <a:t>B</a:t>
            </a:r>
          </a:p>
          <a:p>
            <a:pPr marL="0" indent="0">
              <a:buNone/>
            </a:pPr>
            <a:r>
              <a:rPr lang="en-US" dirty="0" smtClean="0"/>
              <a:t>Any </a:t>
            </a:r>
            <a:r>
              <a:rPr lang="en-US" dirty="0" err="1" smtClean="0"/>
              <a:t>iterable</a:t>
            </a:r>
            <a:r>
              <a:rPr lang="en-US" dirty="0" smtClean="0"/>
              <a:t> can be converted to set. Simply pass them as arguments to </a:t>
            </a:r>
            <a:r>
              <a:rPr lang="en-US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set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4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03" y="130746"/>
            <a:ext cx="7359786" cy="1400530"/>
          </a:xfrm>
        </p:spPr>
        <p:txBody>
          <a:bodyPr/>
          <a:lstStyle/>
          <a:p>
            <a:r>
              <a:rPr lang="en-US" dirty="0" smtClean="0"/>
              <a:t>Example of sets in operation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909" y="2266998"/>
            <a:ext cx="3298112" cy="576262"/>
          </a:xfrm>
        </p:spPr>
        <p:txBody>
          <a:bodyPr/>
          <a:lstStyle/>
          <a:p>
            <a:r>
              <a:rPr lang="en-US" dirty="0" smtClean="0"/>
              <a:t>Not so good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303" y="2982397"/>
            <a:ext cx="4456090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common </a:t>
            </a:r>
            <a:r>
              <a:rPr lang="en-US" dirty="0"/>
              <a:t>= </a:t>
            </a:r>
            <a:r>
              <a:rPr lang="en-US" dirty="0" smtClean="0"/>
              <a:t>[ ]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for</a:t>
            </a:r>
            <a:r>
              <a:rPr lang="en-US" dirty="0"/>
              <a:t> element </a:t>
            </a:r>
            <a:r>
              <a:rPr lang="en-US" dirty="0">
                <a:solidFill>
                  <a:srgbClr val="FFFF00"/>
                </a:solidFill>
              </a:rPr>
              <a:t>in</a:t>
            </a:r>
            <a:r>
              <a:rPr lang="en-US" dirty="0"/>
              <a:t> </a:t>
            </a:r>
            <a:r>
              <a:rPr lang="en-US" dirty="0" smtClean="0"/>
              <a:t>ls1: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FF00"/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/>
              <a:t>element </a:t>
            </a:r>
            <a:r>
              <a:rPr lang="en-US" dirty="0">
                <a:solidFill>
                  <a:srgbClr val="FFFF00"/>
                </a:solidFill>
              </a:rPr>
              <a:t>in</a:t>
            </a:r>
            <a:r>
              <a:rPr lang="en-US" dirty="0"/>
              <a:t> </a:t>
            </a:r>
            <a:r>
              <a:rPr lang="en-US" dirty="0" smtClean="0"/>
              <a:t>ls2: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common.</a:t>
            </a:r>
            <a:r>
              <a:rPr lang="en-US" dirty="0" err="1" smtClean="0">
                <a:solidFill>
                  <a:srgbClr val="FFFF00"/>
                </a:solidFill>
              </a:rPr>
              <a:t>append</a:t>
            </a:r>
            <a:r>
              <a:rPr lang="en-US" dirty="0" smtClean="0"/>
              <a:t>(element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print</a:t>
            </a:r>
            <a:r>
              <a:rPr lang="en-US" dirty="0" smtClean="0"/>
              <a:t>(common)</a:t>
            </a:r>
          </a:p>
          <a:p>
            <a:pPr marL="0" indent="0">
              <a:buNone/>
            </a:pPr>
            <a:r>
              <a:rPr lang="en-US" dirty="0"/>
              <a:t>[0, 1, 2, 3, 4]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3668" y="2266998"/>
            <a:ext cx="3298113" cy="576262"/>
          </a:xfrm>
        </p:spPr>
        <p:txBody>
          <a:bodyPr/>
          <a:lstStyle/>
          <a:p>
            <a:r>
              <a:rPr lang="en-US" dirty="0" err="1" smtClean="0"/>
              <a:t>Pythonic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3668" y="3322324"/>
            <a:ext cx="4069724" cy="181634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common </a:t>
            </a:r>
            <a:r>
              <a:rPr lang="en-US" dirty="0"/>
              <a:t>= </a:t>
            </a:r>
            <a:r>
              <a:rPr lang="en-US" dirty="0">
                <a:solidFill>
                  <a:srgbClr val="FFFF00"/>
                </a:solidFill>
              </a:rPr>
              <a:t>list</a:t>
            </a:r>
            <a:r>
              <a:rPr lang="en-US" dirty="0"/>
              <a:t>( </a:t>
            </a:r>
            <a:r>
              <a:rPr lang="en-US" dirty="0">
                <a:solidFill>
                  <a:srgbClr val="FFFF00"/>
                </a:solidFill>
              </a:rPr>
              <a:t>set</a:t>
            </a:r>
            <a:r>
              <a:rPr lang="en-US" dirty="0"/>
              <a:t>(ls1) &amp; </a:t>
            </a:r>
            <a:r>
              <a:rPr lang="en-US" dirty="0">
                <a:solidFill>
                  <a:srgbClr val="FFFF00"/>
                </a:solidFill>
              </a:rPr>
              <a:t>set</a:t>
            </a:r>
            <a:r>
              <a:rPr lang="en-US" dirty="0"/>
              <a:t>(ls2) 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print</a:t>
            </a:r>
            <a:r>
              <a:rPr lang="en-US" dirty="0" smtClean="0"/>
              <a:t>(common)</a:t>
            </a:r>
          </a:p>
          <a:p>
            <a:pPr marL="0" indent="0">
              <a:buNone/>
            </a:pPr>
            <a:r>
              <a:rPr lang="en-US" dirty="0"/>
              <a:t>[0, 1, 2, 3, 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1300" y="1670413"/>
            <a:ext cx="519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&gt;&gt;&gt; ls1 = </a:t>
            </a:r>
            <a:r>
              <a:rPr lang="en-US" dirty="0" smtClean="0">
                <a:solidFill>
                  <a:srgbClr val="FFFF00"/>
                </a:solidFill>
              </a:rPr>
              <a:t>range</a:t>
            </a:r>
            <a:r>
              <a:rPr lang="en-US" dirty="0" smtClean="0"/>
              <a:t>(5)</a:t>
            </a:r>
          </a:p>
          <a:p>
            <a:r>
              <a:rPr lang="en-US" dirty="0" smtClean="0"/>
              <a:t>&gt;&gt;&gt; ls2 = </a:t>
            </a:r>
            <a:r>
              <a:rPr lang="en-US" dirty="0" smtClean="0">
                <a:solidFill>
                  <a:srgbClr val="FFFF00"/>
                </a:solidFill>
              </a:rPr>
              <a:t>range</a:t>
            </a:r>
            <a:r>
              <a:rPr lang="en-US" dirty="0" smtClean="0"/>
              <a:t>(10)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EAFP vs. LBYL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3" y="1419367"/>
            <a:ext cx="8666329" cy="48290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It's </a:t>
            </a:r>
            <a:r>
              <a:rPr lang="en-US" b="1" dirty="0" smtClean="0"/>
              <a:t>E</a:t>
            </a:r>
            <a:r>
              <a:rPr lang="en-US" dirty="0" smtClean="0"/>
              <a:t>asier </a:t>
            </a:r>
            <a:r>
              <a:rPr lang="en-US" dirty="0"/>
              <a:t>to </a:t>
            </a:r>
            <a:r>
              <a:rPr lang="en-US" b="1" dirty="0" smtClean="0"/>
              <a:t>A</a:t>
            </a:r>
            <a:r>
              <a:rPr lang="en-US" dirty="0" smtClean="0"/>
              <a:t>sk </a:t>
            </a:r>
            <a:r>
              <a:rPr lang="en-US" b="1" dirty="0" smtClean="0"/>
              <a:t>F</a:t>
            </a:r>
            <a:r>
              <a:rPr lang="en-US" dirty="0" smtClean="0"/>
              <a:t>orgiveness </a:t>
            </a:r>
            <a:r>
              <a:rPr lang="en-US" dirty="0"/>
              <a:t>than </a:t>
            </a:r>
            <a:r>
              <a:rPr lang="en-US" b="1" dirty="0"/>
              <a:t>P</a:t>
            </a:r>
            <a:r>
              <a:rPr lang="en-US" dirty="0" smtClean="0"/>
              <a:t>ermission. Perform an action, and fall back to a default if it fails. As opposed to it’s counterpart:</a:t>
            </a:r>
          </a:p>
          <a:p>
            <a:pPr marL="0" indent="0">
              <a:buNone/>
            </a:pPr>
            <a:r>
              <a:rPr lang="en-US" b="1" dirty="0" smtClean="0"/>
              <a:t>L</a:t>
            </a:r>
            <a:r>
              <a:rPr lang="en-US" dirty="0" smtClean="0"/>
              <a:t>ook </a:t>
            </a:r>
            <a:r>
              <a:rPr lang="en-US" b="1" dirty="0" smtClean="0"/>
              <a:t>B</a:t>
            </a:r>
            <a:r>
              <a:rPr lang="en-US" dirty="0" smtClean="0"/>
              <a:t>efore </a:t>
            </a:r>
            <a:r>
              <a:rPr lang="en-US" sz="2400" b="1" dirty="0" smtClean="0"/>
              <a:t>y</a:t>
            </a:r>
            <a:r>
              <a:rPr lang="en-US" dirty="0" smtClean="0"/>
              <a:t>ou </a:t>
            </a:r>
            <a:r>
              <a:rPr lang="en-US" b="1" dirty="0" smtClean="0"/>
              <a:t>L</a:t>
            </a:r>
            <a:r>
              <a:rPr lang="en-US" dirty="0" smtClean="0"/>
              <a:t>eap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EX:  If </a:t>
            </a:r>
            <a:r>
              <a:rPr lang="en-US" dirty="0"/>
              <a:t>x must be a string for your code to </a:t>
            </a:r>
            <a:r>
              <a:rPr lang="en-US" dirty="0" smtClean="0"/>
              <a:t>work, it is better to call</a:t>
            </a:r>
          </a:p>
          <a:p>
            <a:pPr marL="0" indent="0">
              <a:buNone/>
            </a:pPr>
            <a:r>
              <a:rPr lang="en-US" spc="300" dirty="0" smtClean="0"/>
              <a:t>				</a:t>
            </a:r>
            <a:r>
              <a:rPr lang="en-US" spc="600" dirty="0" err="1" smtClean="0">
                <a:solidFill>
                  <a:srgbClr val="FFFF00"/>
                </a:solidFill>
              </a:rPr>
              <a:t>str</a:t>
            </a:r>
            <a:r>
              <a:rPr lang="en-US" spc="600" dirty="0" smtClean="0"/>
              <a:t>(x)</a:t>
            </a:r>
            <a:r>
              <a:rPr lang="en-US" spc="300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and catching the error if it fails, than doing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spc="300" dirty="0" smtClean="0"/>
              <a:t>if</a:t>
            </a:r>
            <a:r>
              <a:rPr lang="en-US" dirty="0" smtClean="0"/>
              <a:t> </a:t>
            </a:r>
            <a:r>
              <a:rPr lang="en-US" spc="300" dirty="0" err="1" smtClean="0">
                <a:solidFill>
                  <a:srgbClr val="FFFF00"/>
                </a:solidFill>
              </a:rPr>
              <a:t>isinstance</a:t>
            </a:r>
            <a:r>
              <a:rPr lang="en-US" spc="300" dirty="0" smtClean="0"/>
              <a:t>(x</a:t>
            </a:r>
            <a:r>
              <a:rPr lang="en-US" spc="300" dirty="0"/>
              <a:t>, </a:t>
            </a:r>
            <a:r>
              <a:rPr lang="en-US" spc="300" dirty="0" err="1"/>
              <a:t>str</a:t>
            </a:r>
            <a:r>
              <a:rPr lang="en-US" spc="300" dirty="0" smtClean="0"/>
              <a:t>):</a:t>
            </a:r>
          </a:p>
          <a:p>
            <a:pPr marL="0" indent="0">
              <a:buNone/>
            </a:pPr>
            <a:r>
              <a:rPr lang="en-US" spc="300" dirty="0"/>
              <a:t>	</a:t>
            </a:r>
            <a:r>
              <a:rPr lang="en-US" spc="300" dirty="0" smtClean="0"/>
              <a:t>		</a:t>
            </a:r>
            <a:r>
              <a:rPr lang="en-US" spc="300" dirty="0" err="1" smtClean="0">
                <a:solidFill>
                  <a:srgbClr val="FFFF00"/>
                </a:solidFill>
              </a:rPr>
              <a:t>str</a:t>
            </a:r>
            <a:r>
              <a:rPr lang="en-US" spc="300" dirty="0" smtClean="0"/>
              <a:t>(x)</a:t>
            </a:r>
            <a:endParaRPr lang="en-US" spc="3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74" y="97876"/>
            <a:ext cx="7055380" cy="1400530"/>
          </a:xfrm>
        </p:spPr>
        <p:txBody>
          <a:bodyPr/>
          <a:lstStyle/>
          <a:p>
            <a:r>
              <a:rPr lang="en-US" sz="2800" b="1" dirty="0"/>
              <a:t>EAFP vs. </a:t>
            </a:r>
            <a:r>
              <a:rPr lang="en-US" sz="2800" b="1" dirty="0" smtClean="0"/>
              <a:t>LBYL Example:</a:t>
            </a:r>
            <a:br>
              <a:rPr lang="en-US" sz="2800" b="1" dirty="0" smtClean="0"/>
            </a:br>
            <a:r>
              <a:rPr lang="en-US" sz="2800" b="1" dirty="0" smtClean="0"/>
              <a:t>counting with dictionaries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774" y="1905000"/>
            <a:ext cx="3962038" cy="576262"/>
          </a:xfrm>
        </p:spPr>
        <p:txBody>
          <a:bodyPr/>
          <a:lstStyle/>
          <a:p>
            <a:r>
              <a:rPr lang="en-US" dirty="0" smtClean="0"/>
              <a:t>LBYL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774" y="2746611"/>
            <a:ext cx="3962040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 = { }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for</a:t>
            </a:r>
            <a:r>
              <a:rPr lang="en-US" dirty="0" smtClean="0"/>
              <a:t> color </a:t>
            </a:r>
            <a:r>
              <a:rPr lang="en-US" dirty="0" smtClean="0">
                <a:solidFill>
                  <a:srgbClr val="FFFF00"/>
                </a:solidFill>
              </a:rPr>
              <a:t>in</a:t>
            </a:r>
            <a:r>
              <a:rPr lang="en-US" dirty="0" smtClean="0"/>
              <a:t> colors: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FF00"/>
                </a:solidFill>
              </a:rPr>
              <a:t>if</a:t>
            </a:r>
            <a:r>
              <a:rPr lang="en-US" dirty="0" smtClean="0"/>
              <a:t> color </a:t>
            </a:r>
            <a:r>
              <a:rPr lang="en-US" dirty="0" smtClean="0">
                <a:solidFill>
                  <a:srgbClr val="FFFF00"/>
                </a:solidFill>
              </a:rPr>
              <a:t>not in </a:t>
            </a:r>
            <a:r>
              <a:rPr lang="en-US" dirty="0" smtClean="0"/>
              <a:t>d: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d[color] = 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d[color] += 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4656364" cy="576262"/>
          </a:xfrm>
        </p:spPr>
        <p:txBody>
          <a:bodyPr/>
          <a:lstStyle/>
          <a:p>
            <a:r>
              <a:rPr lang="en-US" dirty="0" smtClean="0"/>
              <a:t>EAFP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1158" y="2746611"/>
            <a:ext cx="4656364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 = { }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for</a:t>
            </a:r>
            <a:r>
              <a:rPr lang="en-US" dirty="0" smtClean="0"/>
              <a:t> color </a:t>
            </a:r>
            <a:r>
              <a:rPr lang="en-US" dirty="0" smtClean="0">
                <a:solidFill>
                  <a:srgbClr val="FFFF00"/>
                </a:solidFill>
              </a:rPr>
              <a:t>in</a:t>
            </a:r>
            <a:r>
              <a:rPr lang="en-US" dirty="0" smtClean="0"/>
              <a:t> colors: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d[color] = </a:t>
            </a:r>
            <a:r>
              <a:rPr lang="en-US" dirty="0" err="1" smtClean="0"/>
              <a:t>d.get</a:t>
            </a:r>
            <a:r>
              <a:rPr lang="en-US" dirty="0" smtClean="0"/>
              <a:t>(color, 0) + 1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NB: an even better approach is using default </a:t>
            </a:r>
            <a:r>
              <a:rPr lang="en-US" dirty="0" err="1" smtClean="0"/>
              <a:t>dict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18245" y="1454985"/>
            <a:ext cx="828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colors = [ ‘red’, ‘blue’ ‘green’ ‘black’, ‘orange’, ‘yellow’ ]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1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EBEBEB"/>
                </a:solidFill>
              </a:rPr>
              <a:t>Use decorators to factor out business logic from administrative logic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Combined function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478" y="2514600"/>
            <a:ext cx="3989335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>
                <a:solidFill>
                  <a:srgbClr val="FFFF00"/>
                </a:solidFill>
              </a:rPr>
              <a:t>def</a:t>
            </a:r>
            <a:r>
              <a:rPr lang="en-US" dirty="0" smtClean="0"/>
              <a:t> </a:t>
            </a:r>
            <a:r>
              <a:rPr lang="en-US" dirty="0" err="1" smtClean="0"/>
              <a:t>web_lookup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, saved={ }):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FF00"/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FF00"/>
                </a:solidFill>
              </a:rPr>
              <a:t>in</a:t>
            </a:r>
            <a:r>
              <a:rPr lang="en-US" dirty="0" smtClean="0"/>
              <a:t> saved: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FF00"/>
                </a:solidFill>
              </a:rPr>
              <a:t>return</a:t>
            </a:r>
            <a:r>
              <a:rPr lang="en-US" dirty="0" smtClean="0"/>
              <a:t> saved[</a:t>
            </a:r>
            <a:r>
              <a:rPr lang="en-US" dirty="0" err="1" smtClean="0"/>
              <a:t>url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page = </a:t>
            </a:r>
            <a:r>
              <a:rPr lang="en-US" dirty="0" err="1" smtClean="0"/>
              <a:t>requests.get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saved[</a:t>
            </a:r>
            <a:r>
              <a:rPr lang="en-US" dirty="0" err="1" smtClean="0"/>
              <a:t>url</a:t>
            </a:r>
            <a:r>
              <a:rPr lang="en-US" dirty="0" smtClean="0"/>
              <a:t>] = page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FF00"/>
                </a:solidFill>
              </a:rPr>
              <a:t>return</a:t>
            </a:r>
            <a:r>
              <a:rPr lang="en-US" dirty="0" smtClean="0"/>
              <a:t> page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With decorators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4670012" cy="37417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@cache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FF00"/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 smtClean="0"/>
              <a:t>web_lookup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FF00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6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Notes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Clarify function calls with keyword arguments</a:t>
            </a:r>
          </a:p>
          <a:p>
            <a:r>
              <a:rPr lang="en-US" dirty="0"/>
              <a:t>Return named tuples for multiple outputs</a:t>
            </a:r>
          </a:p>
          <a:p>
            <a:r>
              <a:rPr lang="en-US" dirty="0"/>
              <a:t>Good naming is </a:t>
            </a:r>
            <a:r>
              <a:rPr lang="en-US" dirty="0" smtClean="0"/>
              <a:t>essential</a:t>
            </a:r>
          </a:p>
          <a:p>
            <a:r>
              <a:rPr lang="en-US" dirty="0" smtClean="0"/>
              <a:t>Use </a:t>
            </a:r>
            <a:r>
              <a:rPr lang="en-US" dirty="0"/>
              <a:t>Backslash to Continue </a:t>
            </a:r>
            <a:r>
              <a:rPr lang="en-US" dirty="0" smtClean="0"/>
              <a:t>Statements</a:t>
            </a:r>
          </a:p>
          <a:p>
            <a:r>
              <a:rPr lang="en-US" dirty="0" smtClean="0"/>
              <a:t>Catch specific errors in a try- except block</a:t>
            </a:r>
          </a:p>
          <a:p>
            <a:r>
              <a:rPr lang="en-US" dirty="0" smtClean="0"/>
              <a:t>Never bar an exception, it makes debugging harder for someone else</a:t>
            </a:r>
          </a:p>
          <a:p>
            <a:r>
              <a:rPr lang="en-US" dirty="0" smtClean="0"/>
              <a:t>Avoid wildcard imports</a:t>
            </a:r>
          </a:p>
          <a:p>
            <a:r>
              <a:rPr lang="en-US" dirty="0" smtClean="0"/>
              <a:t>Avoid the use of one time variables</a:t>
            </a:r>
          </a:p>
          <a:p>
            <a:r>
              <a:rPr lang="en-US" dirty="0"/>
              <a:t>Use _ </a:t>
            </a:r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smtClean="0"/>
              <a:t>necessary </a:t>
            </a:r>
            <a:r>
              <a:rPr lang="en-US" dirty="0" smtClean="0"/>
              <a:t>throw away </a:t>
            </a:r>
            <a:r>
              <a:rPr lang="en-US" dirty="0"/>
              <a:t>variables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5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158" y="3044598"/>
            <a:ext cx="7624293" cy="11667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spc="600" dirty="0" smtClean="0"/>
              <a:t>print(‘Thank You!)</a:t>
            </a:r>
            <a:endParaRPr lang="en-US" sz="4800" spc="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Pyconng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3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3133</TotalTime>
  <Words>1209</Words>
  <Application>Microsoft Office PowerPoint</Application>
  <PresentationFormat>On-screen Show (4:3)</PresentationFormat>
  <Paragraphs>296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Century Gothic</vt:lpstr>
      <vt:lpstr>Gill Sans Ultra Bold</vt:lpstr>
      <vt:lpstr>Wingdings</vt:lpstr>
      <vt:lpstr>Wingdings 3</vt:lpstr>
      <vt:lpstr>Ion</vt:lpstr>
      <vt:lpstr>SIMPLE IS BETTER THAN COMPLEX</vt:lpstr>
      <vt:lpstr>Speaker Profile</vt:lpstr>
      <vt:lpstr>Aim Of This Talk</vt:lpstr>
      <vt:lpstr>Target Audience</vt:lpstr>
      <vt:lpstr>Importance of code simplicity</vt:lpstr>
      <vt:lpstr>Don't reinvent the wheel!</vt:lpstr>
      <vt:lpstr>Assigning Multiple Variables</vt:lpstr>
      <vt:lpstr>Python’s Tenary style Operator</vt:lpstr>
      <vt:lpstr>Python variables are not boxes</vt:lpstr>
      <vt:lpstr>Use ‘==‘ to check for equality, not ‘is’</vt:lpstr>
      <vt:lpstr>Conditionals</vt:lpstr>
      <vt:lpstr>The following evaluates to True:</vt:lpstr>
      <vt:lpstr>Multi line strings</vt:lpstr>
      <vt:lpstr>String Formatting</vt:lpstr>
      <vt:lpstr>Building Strings from Substrings</vt:lpstr>
      <vt:lpstr>Use return to evaluate simple expressions</vt:lpstr>
      <vt:lpstr>Looping with indices</vt:lpstr>
      <vt:lpstr>Looping over two collections</vt:lpstr>
      <vt:lpstr>List Comprehensions</vt:lpstr>
      <vt:lpstr>Just because you can do everything with listcomps doesn’t mean you should</vt:lpstr>
      <vt:lpstr>Leverage on the power of Sets</vt:lpstr>
      <vt:lpstr>Example of sets in operation</vt:lpstr>
      <vt:lpstr>EAFP vs. LBYL</vt:lpstr>
      <vt:lpstr>EAFP vs. LBYL Example: counting with dictionaries</vt:lpstr>
      <vt:lpstr>Use decorators to factor out business logic from administrative logic</vt:lpstr>
      <vt:lpstr>General Notes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Pyconng Presentation</dc:title>
  <dc:creator>kelvin</dc:creator>
  <cp:lastModifiedBy>kelvin</cp:lastModifiedBy>
  <cp:revision>81</cp:revision>
  <dcterms:created xsi:type="dcterms:W3CDTF">2018-08-09T10:18:28Z</dcterms:created>
  <dcterms:modified xsi:type="dcterms:W3CDTF">2018-09-19T08:41:27Z</dcterms:modified>
</cp:coreProperties>
</file>