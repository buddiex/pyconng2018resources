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18"/>
  </p:notesMasterIdLst>
  <p:sldIdLst>
    <p:sldId id="256" r:id="rId2"/>
    <p:sldId id="257" r:id="rId3"/>
    <p:sldId id="258" r:id="rId4"/>
    <p:sldId id="259" r:id="rId5"/>
    <p:sldId id="260" r:id="rId6"/>
    <p:sldId id="270" r:id="rId7"/>
    <p:sldId id="271" r:id="rId8"/>
    <p:sldId id="262" r:id="rId9"/>
    <p:sldId id="263" r:id="rId10"/>
    <p:sldId id="264" r:id="rId11"/>
    <p:sldId id="265" r:id="rId12"/>
    <p:sldId id="266" r:id="rId13"/>
    <p:sldId id="267" r:id="rId14"/>
    <p:sldId id="268" r:id="rId15"/>
    <p:sldId id="269" r:id="rId16"/>
    <p:sldId id="261" r:id="rId1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08"/>
    <p:restoredTop sz="94718"/>
  </p:normalViewPr>
  <p:slideViewPr>
    <p:cSldViewPr snapToGrid="0" snapToObjects="1">
      <p:cViewPr varScale="1">
        <p:scale>
          <a:sx n="92" d="100"/>
          <a:sy n="92" d="100"/>
        </p:scale>
        <p:origin x="1664"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D9F370B-1AE5-5A43-8817-17260A2E65FA}" type="datetimeFigureOut">
              <a:rPr lang="en-US" smtClean="0"/>
              <a:t>9/3/18</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4811B8A-2D3E-6748-9F29-DDAC07EDADA3}" type="slidenum">
              <a:rPr lang="en-US" smtClean="0"/>
              <a:t>‹#›</a:t>
            </a:fld>
            <a:endParaRPr lang="en-US"/>
          </a:p>
        </p:txBody>
      </p:sp>
    </p:spTree>
    <p:extLst>
      <p:ext uri="{BB962C8B-B14F-4D97-AF65-F5344CB8AC3E}">
        <p14:creationId xmlns:p14="http://schemas.microsoft.com/office/powerpoint/2010/main" val="1054425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4811B8A-2D3E-6748-9F29-DDAC07EDADA3}" type="slidenum">
              <a:rPr lang="en-US" smtClean="0"/>
              <a:t>6</a:t>
            </a:fld>
            <a:endParaRPr lang="en-US"/>
          </a:p>
        </p:txBody>
      </p:sp>
    </p:spTree>
    <p:extLst>
      <p:ext uri="{BB962C8B-B14F-4D97-AF65-F5344CB8AC3E}">
        <p14:creationId xmlns:p14="http://schemas.microsoft.com/office/powerpoint/2010/main" val="105656309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8982EEE-E0B7-7949-A550-A5D1DFC6277B}" type="datetimeFigureOut">
              <a:rPr lang="en-US" smtClean="0"/>
              <a:t>9/2/18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69C749D-8F40-2644-A7F2-C29341BE1847}" type="slidenum">
              <a:rPr lang="en-US" smtClean="0"/>
              <a:t>‹#›</a:t>
            </a:fld>
            <a:endParaRPr lang="en-US"/>
          </a:p>
        </p:txBody>
      </p:sp>
    </p:spTree>
    <p:extLst>
      <p:ext uri="{BB962C8B-B14F-4D97-AF65-F5344CB8AC3E}">
        <p14:creationId xmlns:p14="http://schemas.microsoft.com/office/powerpoint/2010/main" val="12851865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982EEE-E0B7-7949-A550-A5D1DFC6277B}" type="datetimeFigureOut">
              <a:rPr lang="en-US" smtClean="0"/>
              <a:t>9/2/18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69C749D-8F40-2644-A7F2-C29341BE1847}" type="slidenum">
              <a:rPr lang="en-US" smtClean="0"/>
              <a:t>‹#›</a:t>
            </a:fld>
            <a:endParaRPr lang="en-US"/>
          </a:p>
        </p:txBody>
      </p:sp>
    </p:spTree>
    <p:extLst>
      <p:ext uri="{BB962C8B-B14F-4D97-AF65-F5344CB8AC3E}">
        <p14:creationId xmlns:p14="http://schemas.microsoft.com/office/powerpoint/2010/main" val="29184096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48982EEE-E0B7-7949-A550-A5D1DFC6277B}" type="datetimeFigureOut">
              <a:rPr lang="en-US" smtClean="0"/>
              <a:t>9/2/18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69C749D-8F40-2644-A7F2-C29341BE1847}" type="slidenum">
              <a:rPr lang="en-US" smtClean="0"/>
              <a:t>‹#›</a:t>
            </a:fld>
            <a:endParaRPr lang="en-US"/>
          </a:p>
        </p:txBody>
      </p:sp>
    </p:spTree>
    <p:extLst>
      <p:ext uri="{BB962C8B-B14F-4D97-AF65-F5344CB8AC3E}">
        <p14:creationId xmlns:p14="http://schemas.microsoft.com/office/powerpoint/2010/main" val="33875406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8982EEE-E0B7-7949-A550-A5D1DFC6277B}" type="datetimeFigureOut">
              <a:rPr lang="en-US" smtClean="0"/>
              <a:t>9/2/18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69C749D-8F40-2644-A7F2-C29341BE1847}" type="slidenum">
              <a:rPr lang="en-US" smtClean="0"/>
              <a:t>‹#›</a:t>
            </a:fld>
            <a:endParaRPr lang="en-US"/>
          </a:p>
        </p:txBody>
      </p:sp>
    </p:spTree>
    <p:extLst>
      <p:ext uri="{BB962C8B-B14F-4D97-AF65-F5344CB8AC3E}">
        <p14:creationId xmlns:p14="http://schemas.microsoft.com/office/powerpoint/2010/main" val="3197666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8982EEE-E0B7-7949-A550-A5D1DFC6277B}" type="datetimeFigureOut">
              <a:rPr lang="en-US" smtClean="0"/>
              <a:t>9/2/18</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69C749D-8F40-2644-A7F2-C29341BE1847}" type="slidenum">
              <a:rPr lang="en-US" smtClean="0"/>
              <a:t>‹#›</a:t>
            </a:fld>
            <a:endParaRPr lang="en-US"/>
          </a:p>
        </p:txBody>
      </p:sp>
    </p:spTree>
    <p:extLst>
      <p:ext uri="{BB962C8B-B14F-4D97-AF65-F5344CB8AC3E}">
        <p14:creationId xmlns:p14="http://schemas.microsoft.com/office/powerpoint/2010/main" val="3987355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8982EEE-E0B7-7949-A550-A5D1DFC6277B}" type="datetimeFigureOut">
              <a:rPr lang="en-US" smtClean="0"/>
              <a:t>9/2/18</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69C749D-8F40-2644-A7F2-C29341BE1847}" type="slidenum">
              <a:rPr lang="en-US" smtClean="0"/>
              <a:t>‹#›</a:t>
            </a:fld>
            <a:endParaRPr lang="en-US"/>
          </a:p>
        </p:txBody>
      </p:sp>
    </p:spTree>
    <p:extLst>
      <p:ext uri="{BB962C8B-B14F-4D97-AF65-F5344CB8AC3E}">
        <p14:creationId xmlns:p14="http://schemas.microsoft.com/office/powerpoint/2010/main" val="34241605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982EEE-E0B7-7949-A550-A5D1DFC6277B}" type="datetimeFigureOut">
              <a:rPr lang="en-US" smtClean="0"/>
              <a:t>9/2/18</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69C749D-8F40-2644-A7F2-C29341BE1847}" type="slidenum">
              <a:rPr lang="en-US" smtClean="0"/>
              <a:t>‹#›</a:t>
            </a:fld>
            <a:endParaRPr lang="en-US"/>
          </a:p>
        </p:txBody>
      </p:sp>
    </p:spTree>
    <p:extLst>
      <p:ext uri="{BB962C8B-B14F-4D97-AF65-F5344CB8AC3E}">
        <p14:creationId xmlns:p14="http://schemas.microsoft.com/office/powerpoint/2010/main" val="19275994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48982EEE-E0B7-7949-A550-A5D1DFC6277B}" type="datetimeFigureOut">
              <a:rPr lang="en-US" smtClean="0"/>
              <a:t>9/2/18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69C749D-8F40-2644-A7F2-C29341BE1847}" type="slidenum">
              <a:rPr lang="en-US" smtClean="0"/>
              <a:t>‹#›</a:t>
            </a:fld>
            <a:endParaRPr lang="en-US"/>
          </a:p>
        </p:txBody>
      </p:sp>
    </p:spTree>
    <p:extLst>
      <p:ext uri="{BB962C8B-B14F-4D97-AF65-F5344CB8AC3E}">
        <p14:creationId xmlns:p14="http://schemas.microsoft.com/office/powerpoint/2010/main" val="38238977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48982EEE-E0B7-7949-A550-A5D1DFC6277B}" type="datetimeFigureOut">
              <a:rPr lang="en-US" smtClean="0"/>
              <a:t>9/2/18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69C749D-8F40-2644-A7F2-C29341BE1847}" type="slidenum">
              <a:rPr lang="en-US" smtClean="0"/>
              <a:t>‹#›</a:t>
            </a:fld>
            <a:endParaRPr lang="en-US"/>
          </a:p>
        </p:txBody>
      </p:sp>
    </p:spTree>
    <p:extLst>
      <p:ext uri="{BB962C8B-B14F-4D97-AF65-F5344CB8AC3E}">
        <p14:creationId xmlns:p14="http://schemas.microsoft.com/office/powerpoint/2010/main" val="12628118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982EEE-E0B7-7949-A550-A5D1DFC6277B}" type="datetimeFigureOut">
              <a:rPr lang="en-US" smtClean="0"/>
              <a:t>9/2/18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69C749D-8F40-2644-A7F2-C29341BE1847}" type="slidenum">
              <a:rPr lang="en-US" smtClean="0"/>
              <a:t>‹#›</a:t>
            </a:fld>
            <a:endParaRPr lang="en-US"/>
          </a:p>
        </p:txBody>
      </p:sp>
    </p:spTree>
    <p:extLst>
      <p:ext uri="{BB962C8B-B14F-4D97-AF65-F5344CB8AC3E}">
        <p14:creationId xmlns:p14="http://schemas.microsoft.com/office/powerpoint/2010/main" val="12634161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982EEE-E0B7-7949-A550-A5D1DFC6277B}" type="datetimeFigureOut">
              <a:rPr lang="en-US" smtClean="0"/>
              <a:t>9/2/18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69C749D-8F40-2644-A7F2-C29341BE1847}" type="slidenum">
              <a:rPr lang="en-US" smtClean="0"/>
              <a:t>‹#›</a:t>
            </a:fld>
            <a:endParaRPr lang="en-US"/>
          </a:p>
        </p:txBody>
      </p:sp>
    </p:spTree>
    <p:extLst>
      <p:ext uri="{BB962C8B-B14F-4D97-AF65-F5344CB8AC3E}">
        <p14:creationId xmlns:p14="http://schemas.microsoft.com/office/powerpoint/2010/main" val="721956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8982EEE-E0B7-7949-A550-A5D1DFC6277B}" type="datetimeFigureOut">
              <a:rPr lang="en-US" smtClean="0"/>
              <a:t>9/2/18</a:t>
            </a:fld>
            <a:endParaRPr 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69C749D-8F40-2644-A7F2-C29341BE1847}" type="slidenum">
              <a:rPr lang="en-US" smtClean="0"/>
              <a:t>‹#›</a:t>
            </a:fld>
            <a:endParaRPr lang="en-US"/>
          </a:p>
        </p:txBody>
      </p:sp>
    </p:spTree>
    <p:extLst>
      <p:ext uri="{BB962C8B-B14F-4D97-AF65-F5344CB8AC3E}">
        <p14:creationId xmlns:p14="http://schemas.microsoft.com/office/powerpoint/2010/main" val="145700803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hyperlink" Target="https://gitlab.com/profemzy/pyconng-medical-imaging.git" TargetMode="Externa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hyperlink" Target="https://matplotlib.org/" TargetMode="External"/><Relationship Id="rId2" Type="http://schemas.openxmlformats.org/officeDocument/2006/relationships/hyperlink" Target="http://www.dclunie.com/medical-image-faq/html/part8.html#DICOMFileConvertorsAndViewers" TargetMode="External"/><Relationship Id="rId1" Type="http://schemas.openxmlformats.org/officeDocument/2006/relationships/slideLayout" Target="../slideLayouts/slideLayout2.xml"/><Relationship Id="rId5" Type="http://schemas.openxmlformats.org/officeDocument/2006/relationships/hyperlink" Target="http://www.wxpython.org/" TargetMode="External"/><Relationship Id="rId4" Type="http://schemas.openxmlformats.org/officeDocument/2006/relationships/hyperlink" Target="http://www.pythonware.com/products/pil/" TargetMode="External"/></Relationships>
</file>

<file path=ppt/slides/_rels/slide12.xml.rels><?xml version="1.0" encoding="UTF-8" standalone="yes"?>
<Relationships xmlns="http://schemas.openxmlformats.org/package/2006/relationships"><Relationship Id="rId2" Type="http://schemas.openxmlformats.org/officeDocument/2006/relationships/hyperlink" Target="https://gitlab.com/profemzy/pyconng-medical-imaging.git" TargetMode="Externa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hyperlink" Target="https://www.bridgeheadsoftware.com/2013/11/the_evolution_of_pacs_picture_archiving_and_communication_system/" TargetMode="External"/><Relationship Id="rId2" Type="http://schemas.openxmlformats.org/officeDocument/2006/relationships/hyperlink" Target="https://www.dicomlibrary.com/dicom/" TargetMode="External"/><Relationship Id="rId1" Type="http://schemas.openxmlformats.org/officeDocument/2006/relationships/slideLayout" Target="../slideLayouts/slideLayout2.xml"/><Relationship Id="rId4" Type="http://schemas.openxmlformats.org/officeDocument/2006/relationships/hyperlink" Target="https://pydicom.github.io/pydicom/stable/getting_started.html"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6E7FD3-3FB4-EC42-ADCF-6B2F7CA5EC0A}"/>
              </a:ext>
            </a:extLst>
          </p:cNvPr>
          <p:cNvSpPr>
            <a:spLocks noGrp="1"/>
          </p:cNvSpPr>
          <p:nvPr>
            <p:ph type="ctrTitle"/>
          </p:nvPr>
        </p:nvSpPr>
        <p:spPr/>
        <p:txBody>
          <a:bodyPr>
            <a:normAutofit fontScale="90000"/>
          </a:bodyPr>
          <a:lstStyle/>
          <a:p>
            <a:r>
              <a:rPr lang="en-US" dirty="0"/>
              <a:t>USE OF PYTHON IN MEDICAL IMAGING(PACS)</a:t>
            </a:r>
          </a:p>
        </p:txBody>
      </p:sp>
      <p:sp>
        <p:nvSpPr>
          <p:cNvPr id="3" name="Subtitle 2">
            <a:extLst>
              <a:ext uri="{FF2B5EF4-FFF2-40B4-BE49-F238E27FC236}">
                <a16:creationId xmlns:a16="http://schemas.microsoft.com/office/drawing/2014/main" id="{0902553E-E38A-994D-8402-108B90C3D62A}"/>
              </a:ext>
            </a:extLst>
          </p:cNvPr>
          <p:cNvSpPr>
            <a:spLocks noGrp="1"/>
          </p:cNvSpPr>
          <p:nvPr>
            <p:ph type="subTitle" idx="1"/>
          </p:nvPr>
        </p:nvSpPr>
        <p:spPr/>
        <p:txBody>
          <a:bodyPr/>
          <a:lstStyle/>
          <a:p>
            <a:r>
              <a:rPr lang="en-US" dirty="0"/>
              <a:t>FEMI OLADELE</a:t>
            </a:r>
          </a:p>
        </p:txBody>
      </p:sp>
    </p:spTree>
    <p:extLst>
      <p:ext uri="{BB962C8B-B14F-4D97-AF65-F5344CB8AC3E}">
        <p14:creationId xmlns:p14="http://schemas.microsoft.com/office/powerpoint/2010/main" val="38744790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5E6694-08F8-4C48-8793-773C885CCE1D}"/>
              </a:ext>
            </a:extLst>
          </p:cNvPr>
          <p:cNvSpPr>
            <a:spLocks noGrp="1"/>
          </p:cNvSpPr>
          <p:nvPr>
            <p:ph type="title"/>
          </p:nvPr>
        </p:nvSpPr>
        <p:spPr/>
        <p:txBody>
          <a:bodyPr/>
          <a:lstStyle/>
          <a:p>
            <a:r>
              <a:rPr lang="en-US" dirty="0"/>
              <a:t>What is Medical Imaging?</a:t>
            </a:r>
          </a:p>
        </p:txBody>
      </p:sp>
      <p:sp>
        <p:nvSpPr>
          <p:cNvPr id="3" name="Content Placeholder 2">
            <a:extLst>
              <a:ext uri="{FF2B5EF4-FFF2-40B4-BE49-F238E27FC236}">
                <a16:creationId xmlns:a16="http://schemas.microsoft.com/office/drawing/2014/main" id="{B76E0797-1D67-C54A-B38E-E81C4DBB624C}"/>
              </a:ext>
            </a:extLst>
          </p:cNvPr>
          <p:cNvSpPr>
            <a:spLocks noGrp="1"/>
          </p:cNvSpPr>
          <p:nvPr>
            <p:ph idx="1"/>
          </p:nvPr>
        </p:nvSpPr>
        <p:spPr/>
        <p:txBody>
          <a:bodyPr/>
          <a:lstStyle/>
          <a:p>
            <a:r>
              <a:rPr lang="en-US" dirty="0"/>
              <a:t>The technique and process of creating </a:t>
            </a:r>
            <a:r>
              <a:rPr lang="en-US" b="1" dirty="0"/>
              <a:t>visual representations</a:t>
            </a:r>
            <a:r>
              <a:rPr lang="en-US" dirty="0"/>
              <a:t> of the interior of a body for clinical analysis and medical intervention</a:t>
            </a:r>
          </a:p>
          <a:p>
            <a:r>
              <a:rPr lang="en-US" dirty="0"/>
              <a:t>Medical Imaging is used for both diagnosis and therapeutic purposes as such it is a powerful tool available to effectively care for patients</a:t>
            </a:r>
          </a:p>
          <a:p>
            <a:r>
              <a:rPr lang="en-US" dirty="0"/>
              <a:t>Common imaging types for diagnosis include: CT(Computer Tornography), MRI(Magnetic Resonance Imaging), Ultrasound, X-ray.</a:t>
            </a:r>
          </a:p>
        </p:txBody>
      </p:sp>
    </p:spTree>
    <p:extLst>
      <p:ext uri="{BB962C8B-B14F-4D97-AF65-F5344CB8AC3E}">
        <p14:creationId xmlns:p14="http://schemas.microsoft.com/office/powerpoint/2010/main" val="32192357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CD1E23-78FC-E444-8E88-33009C2FB6FA}"/>
              </a:ext>
            </a:extLst>
          </p:cNvPr>
          <p:cNvSpPr>
            <a:spLocks noGrp="1"/>
          </p:cNvSpPr>
          <p:nvPr>
            <p:ph type="title"/>
          </p:nvPr>
        </p:nvSpPr>
        <p:spPr/>
        <p:txBody>
          <a:bodyPr/>
          <a:lstStyle/>
          <a:p>
            <a:r>
              <a:rPr lang="en-US" dirty="0"/>
              <a:t>Magnetic Resonance Imaging Machine</a:t>
            </a:r>
          </a:p>
        </p:txBody>
      </p:sp>
      <p:pic>
        <p:nvPicPr>
          <p:cNvPr id="5" name="Content Placeholder 4">
            <a:extLst>
              <a:ext uri="{FF2B5EF4-FFF2-40B4-BE49-F238E27FC236}">
                <a16:creationId xmlns:a16="http://schemas.microsoft.com/office/drawing/2014/main" id="{2EB54CB7-4BCD-AE45-A30A-8D233399B748}"/>
              </a:ext>
            </a:extLst>
          </p:cNvPr>
          <p:cNvPicPr>
            <a:picLocks noGrp="1" noChangeAspect="1"/>
          </p:cNvPicPr>
          <p:nvPr>
            <p:ph idx="1"/>
          </p:nvPr>
        </p:nvPicPr>
        <p:blipFill>
          <a:blip r:embed="rId2"/>
          <a:stretch>
            <a:fillRect/>
          </a:stretch>
        </p:blipFill>
        <p:spPr>
          <a:xfrm>
            <a:off x="2124373" y="2226469"/>
            <a:ext cx="4895255" cy="3263504"/>
          </a:xfrm>
        </p:spPr>
      </p:pic>
    </p:spTree>
    <p:extLst>
      <p:ext uri="{BB962C8B-B14F-4D97-AF65-F5344CB8AC3E}">
        <p14:creationId xmlns:p14="http://schemas.microsoft.com/office/powerpoint/2010/main" val="286269227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9FE71F-E62D-6E4B-8480-1759BB5468F9}"/>
              </a:ext>
            </a:extLst>
          </p:cNvPr>
          <p:cNvSpPr>
            <a:spLocks noGrp="1"/>
          </p:cNvSpPr>
          <p:nvPr>
            <p:ph type="title"/>
          </p:nvPr>
        </p:nvSpPr>
        <p:spPr/>
        <p:txBody>
          <a:bodyPr/>
          <a:lstStyle/>
          <a:p>
            <a:r>
              <a:rPr lang="en-US" dirty="0"/>
              <a:t>Evolution of Medical Imaging</a:t>
            </a:r>
          </a:p>
        </p:txBody>
      </p:sp>
      <p:sp>
        <p:nvSpPr>
          <p:cNvPr id="3" name="Content Placeholder 2">
            <a:extLst>
              <a:ext uri="{FF2B5EF4-FFF2-40B4-BE49-F238E27FC236}">
                <a16:creationId xmlns:a16="http://schemas.microsoft.com/office/drawing/2014/main" id="{6CF4A4C7-EEF2-2149-B28D-0CEAC81015CE}"/>
              </a:ext>
            </a:extLst>
          </p:cNvPr>
          <p:cNvSpPr>
            <a:spLocks noGrp="1"/>
          </p:cNvSpPr>
          <p:nvPr>
            <p:ph idx="1"/>
          </p:nvPr>
        </p:nvSpPr>
        <p:spPr/>
        <p:txBody>
          <a:bodyPr>
            <a:normAutofit fontScale="92500" lnSpcReduction="10000"/>
          </a:bodyPr>
          <a:lstStyle/>
          <a:p>
            <a:r>
              <a:rPr lang="en-US" dirty="0"/>
              <a:t>Began in November 1895 with Wilhelm Conrad Roentgen’s discovery of X-ray</a:t>
            </a:r>
          </a:p>
          <a:p>
            <a:r>
              <a:rPr lang="en-US" dirty="0"/>
              <a:t>Computers really made an entrance into the world of Medical Imaging in early 1970s with the advent of CT and the MRI</a:t>
            </a:r>
          </a:p>
          <a:p>
            <a:r>
              <a:rPr lang="en-US" dirty="0"/>
              <a:t>1995 DICOM (Digital Imaging and Communications in Medicine) Standard was formalized) to solve the problem of compatibility of images generated by various machine types.</a:t>
            </a:r>
          </a:p>
          <a:p>
            <a:r>
              <a:rPr lang="en-US" dirty="0"/>
              <a:t>First Generation PACS in early ‘90s was designed to deliver relatively large files over radiology departments network</a:t>
            </a:r>
          </a:p>
        </p:txBody>
      </p:sp>
    </p:spTree>
    <p:extLst>
      <p:ext uri="{BB962C8B-B14F-4D97-AF65-F5344CB8AC3E}">
        <p14:creationId xmlns:p14="http://schemas.microsoft.com/office/powerpoint/2010/main" val="100981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CFCBC6-BAC2-7C48-824D-024F200B3B28}"/>
              </a:ext>
            </a:extLst>
          </p:cNvPr>
          <p:cNvSpPr>
            <a:spLocks noGrp="1"/>
          </p:cNvSpPr>
          <p:nvPr>
            <p:ph type="title"/>
          </p:nvPr>
        </p:nvSpPr>
        <p:spPr/>
        <p:txBody>
          <a:bodyPr>
            <a:normAutofit fontScale="90000"/>
          </a:bodyPr>
          <a:lstStyle/>
          <a:p>
            <a:r>
              <a:rPr lang="en-US" dirty="0"/>
              <a:t>Digital Imaging and Communications in Medicine(DICOM)</a:t>
            </a:r>
          </a:p>
        </p:txBody>
      </p:sp>
      <p:sp>
        <p:nvSpPr>
          <p:cNvPr id="3" name="Content Placeholder 2">
            <a:extLst>
              <a:ext uri="{FF2B5EF4-FFF2-40B4-BE49-F238E27FC236}">
                <a16:creationId xmlns:a16="http://schemas.microsoft.com/office/drawing/2014/main" id="{66B49BC4-54BE-7B4F-A14F-7D709D3A381D}"/>
              </a:ext>
            </a:extLst>
          </p:cNvPr>
          <p:cNvSpPr>
            <a:spLocks noGrp="1"/>
          </p:cNvSpPr>
          <p:nvPr>
            <p:ph idx="1"/>
          </p:nvPr>
        </p:nvSpPr>
        <p:spPr/>
        <p:txBody>
          <a:bodyPr/>
          <a:lstStyle/>
          <a:p>
            <a:r>
              <a:rPr lang="en-US" dirty="0"/>
              <a:t>This is a standard for handling, storing, printing and transmitting information in medical imaging.</a:t>
            </a:r>
          </a:p>
          <a:p>
            <a:r>
              <a:rPr lang="en-US" dirty="0"/>
              <a:t>It includes a file format definition and a network communications protocol.</a:t>
            </a:r>
          </a:p>
          <a:p>
            <a:r>
              <a:rPr lang="en-US" dirty="0"/>
              <a:t>Files are saved in .</a:t>
            </a:r>
            <a:r>
              <a:rPr lang="en-US" dirty="0" err="1"/>
              <a:t>dcm</a:t>
            </a:r>
            <a:r>
              <a:rPr lang="en-US" dirty="0"/>
              <a:t> extensions </a:t>
            </a:r>
          </a:p>
        </p:txBody>
      </p:sp>
    </p:spTree>
    <p:extLst>
      <p:ext uri="{BB962C8B-B14F-4D97-AF65-F5344CB8AC3E}">
        <p14:creationId xmlns:p14="http://schemas.microsoft.com/office/powerpoint/2010/main" val="4907629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41437F-DAF8-C640-B39D-693226FE1E2D}"/>
              </a:ext>
            </a:extLst>
          </p:cNvPr>
          <p:cNvSpPr>
            <a:spLocks noGrp="1"/>
          </p:cNvSpPr>
          <p:nvPr>
            <p:ph type="title"/>
          </p:nvPr>
        </p:nvSpPr>
        <p:spPr/>
        <p:txBody>
          <a:bodyPr/>
          <a:lstStyle/>
          <a:p>
            <a:r>
              <a:rPr lang="en-US" dirty="0"/>
              <a:t>Picture Archiving and Communications Systems(PACS)</a:t>
            </a:r>
          </a:p>
        </p:txBody>
      </p:sp>
      <p:sp>
        <p:nvSpPr>
          <p:cNvPr id="3" name="Content Placeholder 2">
            <a:extLst>
              <a:ext uri="{FF2B5EF4-FFF2-40B4-BE49-F238E27FC236}">
                <a16:creationId xmlns:a16="http://schemas.microsoft.com/office/drawing/2014/main" id="{85B44108-7CB1-A448-8517-4D8E8D375F69}"/>
              </a:ext>
            </a:extLst>
          </p:cNvPr>
          <p:cNvSpPr>
            <a:spLocks noGrp="1"/>
          </p:cNvSpPr>
          <p:nvPr>
            <p:ph idx="1"/>
          </p:nvPr>
        </p:nvSpPr>
        <p:spPr/>
        <p:txBody>
          <a:bodyPr/>
          <a:lstStyle/>
          <a:p>
            <a:r>
              <a:rPr lang="en-US" dirty="0"/>
              <a:t>PACS is a medical imaging technology that can do the following:</a:t>
            </a:r>
          </a:p>
          <a:p>
            <a:r>
              <a:rPr lang="en-US" dirty="0"/>
              <a:t>Provide economical storage of and convenient access to, patient study images from multiple imaging modalities</a:t>
            </a:r>
          </a:p>
          <a:p>
            <a:r>
              <a:rPr lang="en-US" dirty="0"/>
              <a:t>Transmit digital images and electronic reports via network</a:t>
            </a:r>
          </a:p>
          <a:p>
            <a:r>
              <a:rPr lang="en-US" dirty="0"/>
              <a:t>Enhances Radiology productivity and workflow</a:t>
            </a:r>
          </a:p>
          <a:p>
            <a:r>
              <a:rPr lang="en-US" dirty="0"/>
              <a:t>Improves patient care</a:t>
            </a:r>
          </a:p>
        </p:txBody>
      </p:sp>
    </p:spTree>
    <p:extLst>
      <p:ext uri="{BB962C8B-B14F-4D97-AF65-F5344CB8AC3E}">
        <p14:creationId xmlns:p14="http://schemas.microsoft.com/office/powerpoint/2010/main" val="321709271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E477C6-0E9C-694B-B3A5-C2EB65556D14}"/>
              </a:ext>
            </a:extLst>
          </p:cNvPr>
          <p:cNvSpPr>
            <a:spLocks noGrp="1"/>
          </p:cNvSpPr>
          <p:nvPr>
            <p:ph type="title"/>
          </p:nvPr>
        </p:nvSpPr>
        <p:spPr/>
        <p:txBody>
          <a:bodyPr/>
          <a:lstStyle/>
          <a:p>
            <a:r>
              <a:rPr lang="en-US" dirty="0"/>
              <a:t>PACS</a:t>
            </a:r>
          </a:p>
        </p:txBody>
      </p:sp>
      <p:pic>
        <p:nvPicPr>
          <p:cNvPr id="5" name="Content Placeholder 4">
            <a:extLst>
              <a:ext uri="{FF2B5EF4-FFF2-40B4-BE49-F238E27FC236}">
                <a16:creationId xmlns:a16="http://schemas.microsoft.com/office/drawing/2014/main" id="{ADF7A409-B390-7649-944C-BA808A686949}"/>
              </a:ext>
            </a:extLst>
          </p:cNvPr>
          <p:cNvPicPr>
            <a:picLocks noGrp="1" noChangeAspect="1"/>
          </p:cNvPicPr>
          <p:nvPr>
            <p:ph idx="1"/>
          </p:nvPr>
        </p:nvPicPr>
        <p:blipFill>
          <a:blip r:embed="rId2"/>
          <a:stretch>
            <a:fillRect/>
          </a:stretch>
        </p:blipFill>
        <p:spPr>
          <a:xfrm>
            <a:off x="1777657" y="1825625"/>
            <a:ext cx="5588685" cy="4351338"/>
          </a:xfrm>
        </p:spPr>
      </p:pic>
    </p:spTree>
    <p:extLst>
      <p:ext uri="{BB962C8B-B14F-4D97-AF65-F5344CB8AC3E}">
        <p14:creationId xmlns:p14="http://schemas.microsoft.com/office/powerpoint/2010/main" val="13035371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1A8380-633A-1F4D-9475-7E4E151AFC9C}"/>
              </a:ext>
            </a:extLst>
          </p:cNvPr>
          <p:cNvSpPr>
            <a:spLocks noGrp="1"/>
          </p:cNvSpPr>
          <p:nvPr>
            <p:ph type="title"/>
          </p:nvPr>
        </p:nvSpPr>
        <p:spPr/>
        <p:txBody>
          <a:bodyPr/>
          <a:lstStyle/>
          <a:p>
            <a:r>
              <a:rPr lang="en-US" dirty="0"/>
              <a:t>PYDICOM</a:t>
            </a:r>
          </a:p>
        </p:txBody>
      </p:sp>
      <p:sp>
        <p:nvSpPr>
          <p:cNvPr id="3" name="Content Placeholder 2">
            <a:extLst>
              <a:ext uri="{FF2B5EF4-FFF2-40B4-BE49-F238E27FC236}">
                <a16:creationId xmlns:a16="http://schemas.microsoft.com/office/drawing/2014/main" id="{1CB2AFC5-0C19-F64B-B69C-3F06BA4C98D0}"/>
              </a:ext>
            </a:extLst>
          </p:cNvPr>
          <p:cNvSpPr>
            <a:spLocks noGrp="1"/>
          </p:cNvSpPr>
          <p:nvPr>
            <p:ph idx="1"/>
          </p:nvPr>
        </p:nvSpPr>
        <p:spPr/>
        <p:txBody>
          <a:bodyPr>
            <a:normAutofit lnSpcReduction="10000"/>
          </a:bodyPr>
          <a:lstStyle/>
          <a:p>
            <a:r>
              <a:rPr lang="en-US" dirty="0"/>
              <a:t>A pure Python package for working with DICOM files such as medical images, reports and radiotherapy objects.</a:t>
            </a:r>
          </a:p>
          <a:p>
            <a:r>
              <a:rPr lang="en-US" dirty="0"/>
              <a:t>Makes it easy to read complex files into pythonic structures for easy manipulations</a:t>
            </a:r>
          </a:p>
          <a:p>
            <a:r>
              <a:rPr lang="en-US" dirty="0"/>
              <a:t>Modified datasets can be written again to DICOM file formats</a:t>
            </a:r>
          </a:p>
          <a:p>
            <a:r>
              <a:rPr lang="en-US" dirty="0"/>
              <a:t>Is not a DICOM server and is not primarily about viewing images, it shines most in the areas of manipulating data elements in DICOM files using python codes</a:t>
            </a:r>
          </a:p>
          <a:p>
            <a:endParaRPr lang="en-US" dirty="0"/>
          </a:p>
        </p:txBody>
      </p:sp>
    </p:spTree>
    <p:extLst>
      <p:ext uri="{BB962C8B-B14F-4D97-AF65-F5344CB8AC3E}">
        <p14:creationId xmlns:p14="http://schemas.microsoft.com/office/powerpoint/2010/main" val="92301075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831D09-5005-3443-976E-36D440671525}"/>
              </a:ext>
            </a:extLst>
          </p:cNvPr>
          <p:cNvSpPr>
            <a:spLocks noGrp="1"/>
          </p:cNvSpPr>
          <p:nvPr>
            <p:ph type="title"/>
          </p:nvPr>
        </p:nvSpPr>
        <p:spPr/>
        <p:txBody>
          <a:bodyPr/>
          <a:lstStyle/>
          <a:p>
            <a:r>
              <a:rPr lang="en-US" dirty="0"/>
              <a:t>Simple usage of PYDICOM</a:t>
            </a:r>
          </a:p>
        </p:txBody>
      </p:sp>
      <p:sp>
        <p:nvSpPr>
          <p:cNvPr id="3" name="Content Placeholder 2">
            <a:extLst>
              <a:ext uri="{FF2B5EF4-FFF2-40B4-BE49-F238E27FC236}">
                <a16:creationId xmlns:a16="http://schemas.microsoft.com/office/drawing/2014/main" id="{2383EA0D-8D0F-4247-9259-4A0AC976FB6F}"/>
              </a:ext>
            </a:extLst>
          </p:cNvPr>
          <p:cNvSpPr>
            <a:spLocks noGrp="1"/>
          </p:cNvSpPr>
          <p:nvPr>
            <p:ph idx="1"/>
          </p:nvPr>
        </p:nvSpPr>
        <p:spPr/>
        <p:txBody>
          <a:bodyPr/>
          <a:lstStyle/>
          <a:p>
            <a:r>
              <a:rPr lang="en-US" dirty="0"/>
              <a:t>To read a radiotherapy plan file, change the patient setup from </a:t>
            </a:r>
            <a:r>
              <a:rPr lang="en-US" b="1" dirty="0"/>
              <a:t>head-first-supine</a:t>
            </a:r>
            <a:r>
              <a:rPr lang="en-US" dirty="0"/>
              <a:t> to </a:t>
            </a:r>
            <a:r>
              <a:rPr lang="en-US" b="1" dirty="0"/>
              <a:t>head-first-prone</a:t>
            </a:r>
            <a:r>
              <a:rPr lang="en-US" dirty="0"/>
              <a:t> and save to a new file.</a:t>
            </a:r>
          </a:p>
          <a:p>
            <a:endParaRPr lang="en-US" dirty="0"/>
          </a:p>
        </p:txBody>
      </p:sp>
      <p:pic>
        <p:nvPicPr>
          <p:cNvPr id="7" name="Picture 6">
            <a:extLst>
              <a:ext uri="{FF2B5EF4-FFF2-40B4-BE49-F238E27FC236}">
                <a16:creationId xmlns:a16="http://schemas.microsoft.com/office/drawing/2014/main" id="{427C9545-6FF1-1347-9A6E-489B77A18C07}"/>
              </a:ext>
            </a:extLst>
          </p:cNvPr>
          <p:cNvPicPr>
            <a:picLocks noChangeAspect="1"/>
          </p:cNvPicPr>
          <p:nvPr/>
        </p:nvPicPr>
        <p:blipFill>
          <a:blip r:embed="rId2"/>
          <a:stretch>
            <a:fillRect/>
          </a:stretch>
        </p:blipFill>
        <p:spPr>
          <a:xfrm>
            <a:off x="1627909" y="3131127"/>
            <a:ext cx="4274127" cy="3102495"/>
          </a:xfrm>
          <a:prstGeom prst="rect">
            <a:avLst/>
          </a:prstGeom>
        </p:spPr>
      </p:pic>
    </p:spTree>
    <p:extLst>
      <p:ext uri="{BB962C8B-B14F-4D97-AF65-F5344CB8AC3E}">
        <p14:creationId xmlns:p14="http://schemas.microsoft.com/office/powerpoint/2010/main" val="5060319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38A09C-E18A-174A-922E-E96C13343BB2}"/>
              </a:ext>
            </a:extLst>
          </p:cNvPr>
          <p:cNvSpPr>
            <a:spLocks noGrp="1"/>
          </p:cNvSpPr>
          <p:nvPr>
            <p:ph type="title"/>
          </p:nvPr>
        </p:nvSpPr>
        <p:spPr/>
        <p:txBody>
          <a:bodyPr/>
          <a:lstStyle/>
          <a:p>
            <a:r>
              <a:rPr lang="en-US" dirty="0"/>
              <a:t>Supine to Prone with PYDICOM Code Example 1</a:t>
            </a:r>
          </a:p>
        </p:txBody>
      </p:sp>
      <p:sp>
        <p:nvSpPr>
          <p:cNvPr id="7" name="Content Placeholder 6">
            <a:extLst>
              <a:ext uri="{FF2B5EF4-FFF2-40B4-BE49-F238E27FC236}">
                <a16:creationId xmlns:a16="http://schemas.microsoft.com/office/drawing/2014/main" id="{DE094192-B484-8147-8CE2-BE76BD67BC72}"/>
              </a:ext>
            </a:extLst>
          </p:cNvPr>
          <p:cNvSpPr>
            <a:spLocks noGrp="1"/>
          </p:cNvSpPr>
          <p:nvPr>
            <p:ph idx="1"/>
          </p:nvPr>
        </p:nvSpPr>
        <p:spPr/>
        <p:txBody>
          <a:bodyPr/>
          <a:lstStyle/>
          <a:p>
            <a:r>
              <a:rPr lang="en-US" dirty="0">
                <a:hlinkClick r:id="rId2"/>
              </a:rPr>
              <a:t>https://gitlab.com/profemzy/pyconng-medical-imaging.git</a:t>
            </a:r>
            <a:r>
              <a:rPr lang="en-US" dirty="0"/>
              <a:t> (supine-</a:t>
            </a:r>
            <a:r>
              <a:rPr lang="en-US" dirty="0" err="1"/>
              <a:t>prone.ipynb</a:t>
            </a:r>
            <a:r>
              <a:rPr lang="en-US" dirty="0"/>
              <a:t>)</a:t>
            </a:r>
          </a:p>
        </p:txBody>
      </p:sp>
    </p:spTree>
    <p:extLst>
      <p:ext uri="{BB962C8B-B14F-4D97-AF65-F5344CB8AC3E}">
        <p14:creationId xmlns:p14="http://schemas.microsoft.com/office/powerpoint/2010/main" val="27127418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7E09B9-7811-DE47-A1C8-088F717E68A5}"/>
              </a:ext>
            </a:extLst>
          </p:cNvPr>
          <p:cNvSpPr>
            <a:spLocks noGrp="1"/>
          </p:cNvSpPr>
          <p:nvPr>
            <p:ph type="title"/>
          </p:nvPr>
        </p:nvSpPr>
        <p:spPr/>
        <p:txBody>
          <a:bodyPr/>
          <a:lstStyle/>
          <a:p>
            <a:r>
              <a:rPr lang="en-US" dirty="0"/>
              <a:t>Viewing Images</a:t>
            </a:r>
          </a:p>
        </p:txBody>
      </p:sp>
      <p:sp>
        <p:nvSpPr>
          <p:cNvPr id="3" name="Content Placeholder 2">
            <a:extLst>
              <a:ext uri="{FF2B5EF4-FFF2-40B4-BE49-F238E27FC236}">
                <a16:creationId xmlns:a16="http://schemas.microsoft.com/office/drawing/2014/main" id="{5925A57C-5369-2B41-A882-593BF12F2D1E}"/>
              </a:ext>
            </a:extLst>
          </p:cNvPr>
          <p:cNvSpPr>
            <a:spLocks noGrp="1"/>
          </p:cNvSpPr>
          <p:nvPr>
            <p:ph idx="1"/>
          </p:nvPr>
        </p:nvSpPr>
        <p:spPr>
          <a:xfrm>
            <a:off x="531668" y="1437698"/>
            <a:ext cx="7886700" cy="4907684"/>
          </a:xfrm>
        </p:spPr>
        <p:txBody>
          <a:bodyPr/>
          <a:lstStyle/>
          <a:p>
            <a:r>
              <a:rPr lang="en-US" dirty="0"/>
              <a:t>As mentioned earlier </a:t>
            </a:r>
            <a:r>
              <a:rPr lang="en-US" dirty="0" err="1"/>
              <a:t>Pydicom</a:t>
            </a:r>
            <a:r>
              <a:rPr lang="en-US" dirty="0"/>
              <a:t> is more focused on accessing the DICOM data elements in files but it is also desirable to view pixel data as an image</a:t>
            </a:r>
          </a:p>
          <a:p>
            <a:r>
              <a:rPr lang="en-US" dirty="0"/>
              <a:t>The following options are available:</a:t>
            </a:r>
          </a:p>
          <a:p>
            <a:r>
              <a:rPr lang="en-US" dirty="0"/>
              <a:t>Use any of the many </a:t>
            </a:r>
            <a:r>
              <a:rPr lang="en-US" dirty="0">
                <a:hlinkClick r:id="rId2"/>
              </a:rPr>
              <a:t>DICOM viewer </a:t>
            </a:r>
            <a:r>
              <a:rPr lang="en-US" dirty="0"/>
              <a:t>programs available</a:t>
            </a:r>
          </a:p>
          <a:p>
            <a:r>
              <a:rPr lang="en-US" dirty="0"/>
              <a:t>Use </a:t>
            </a:r>
            <a:r>
              <a:rPr lang="en-US" dirty="0" err="1"/>
              <a:t>pydicom</a:t>
            </a:r>
            <a:r>
              <a:rPr lang="en-US" dirty="0"/>
              <a:t> with </a:t>
            </a:r>
            <a:r>
              <a:rPr lang="en-US" dirty="0">
                <a:hlinkClick r:id="rId3"/>
              </a:rPr>
              <a:t>matplotlib</a:t>
            </a:r>
            <a:endParaRPr lang="en-US" dirty="0"/>
          </a:p>
          <a:p>
            <a:r>
              <a:rPr lang="en-US" dirty="0"/>
              <a:t>Use </a:t>
            </a:r>
            <a:r>
              <a:rPr lang="en-US" dirty="0" err="1"/>
              <a:t>pydicom</a:t>
            </a:r>
            <a:r>
              <a:rPr lang="en-US" dirty="0"/>
              <a:t> with Python’s </a:t>
            </a:r>
            <a:r>
              <a:rPr lang="en-US" dirty="0" err="1"/>
              <a:t>stdlib</a:t>
            </a:r>
            <a:r>
              <a:rPr lang="en-US" dirty="0"/>
              <a:t> </a:t>
            </a:r>
            <a:r>
              <a:rPr lang="en-US" dirty="0" err="1"/>
              <a:t>Tkinter</a:t>
            </a:r>
            <a:r>
              <a:rPr lang="en-US" dirty="0"/>
              <a:t> module</a:t>
            </a:r>
          </a:p>
          <a:p>
            <a:r>
              <a:rPr lang="en-US" dirty="0"/>
              <a:t>use </a:t>
            </a:r>
            <a:r>
              <a:rPr lang="en-US" dirty="0" err="1"/>
              <a:t>pydicom</a:t>
            </a:r>
            <a:r>
              <a:rPr lang="en-US" dirty="0"/>
              <a:t> with the </a:t>
            </a:r>
            <a:r>
              <a:rPr lang="en-US" dirty="0">
                <a:hlinkClick r:id="rId4"/>
              </a:rPr>
              <a:t>Python Imaging Library (PIL)</a:t>
            </a:r>
            <a:endParaRPr lang="en-US" dirty="0"/>
          </a:p>
          <a:p>
            <a:r>
              <a:rPr lang="en-US" dirty="0"/>
              <a:t>use </a:t>
            </a:r>
            <a:r>
              <a:rPr lang="en-US" dirty="0" err="1"/>
              <a:t>pydicom</a:t>
            </a:r>
            <a:r>
              <a:rPr lang="en-US" dirty="0"/>
              <a:t> with </a:t>
            </a:r>
            <a:r>
              <a:rPr lang="en-US" dirty="0">
                <a:hlinkClick r:id="rId5"/>
              </a:rPr>
              <a:t>wxPython</a:t>
            </a:r>
            <a:endParaRPr lang="en-US" dirty="0"/>
          </a:p>
          <a:p>
            <a:endParaRPr lang="en-US" dirty="0"/>
          </a:p>
          <a:p>
            <a:endParaRPr lang="en-US" dirty="0"/>
          </a:p>
        </p:txBody>
      </p:sp>
    </p:spTree>
    <p:extLst>
      <p:ext uri="{BB962C8B-B14F-4D97-AF65-F5344CB8AC3E}">
        <p14:creationId xmlns:p14="http://schemas.microsoft.com/office/powerpoint/2010/main" val="368305298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38A09C-E18A-174A-922E-E96C13343BB2}"/>
              </a:ext>
            </a:extLst>
          </p:cNvPr>
          <p:cNvSpPr>
            <a:spLocks noGrp="1"/>
          </p:cNvSpPr>
          <p:nvPr>
            <p:ph type="title"/>
          </p:nvPr>
        </p:nvSpPr>
        <p:spPr/>
        <p:txBody>
          <a:bodyPr/>
          <a:lstStyle/>
          <a:p>
            <a:r>
              <a:rPr lang="en-US" dirty="0"/>
              <a:t>Using PYDICOM with matplotlib Code Example 2</a:t>
            </a:r>
          </a:p>
        </p:txBody>
      </p:sp>
      <p:sp>
        <p:nvSpPr>
          <p:cNvPr id="7" name="Content Placeholder 6">
            <a:extLst>
              <a:ext uri="{FF2B5EF4-FFF2-40B4-BE49-F238E27FC236}">
                <a16:creationId xmlns:a16="http://schemas.microsoft.com/office/drawing/2014/main" id="{DE094192-B484-8147-8CE2-BE76BD67BC72}"/>
              </a:ext>
            </a:extLst>
          </p:cNvPr>
          <p:cNvSpPr>
            <a:spLocks noGrp="1"/>
          </p:cNvSpPr>
          <p:nvPr>
            <p:ph idx="1"/>
          </p:nvPr>
        </p:nvSpPr>
        <p:spPr/>
        <p:txBody>
          <a:bodyPr/>
          <a:lstStyle/>
          <a:p>
            <a:r>
              <a:rPr lang="en-US" dirty="0">
                <a:hlinkClick r:id="rId2"/>
              </a:rPr>
              <a:t>https://gitlab.com/profemzy/pyconng-medical-imaging.git</a:t>
            </a:r>
            <a:r>
              <a:rPr lang="en-US" dirty="0"/>
              <a:t> (</a:t>
            </a:r>
            <a:r>
              <a:rPr lang="en-US" dirty="0" err="1"/>
              <a:t>pymatplot.ipynb</a:t>
            </a:r>
            <a:r>
              <a:rPr lang="en-US" dirty="0"/>
              <a:t>)</a:t>
            </a:r>
          </a:p>
        </p:txBody>
      </p:sp>
    </p:spTree>
    <p:extLst>
      <p:ext uri="{BB962C8B-B14F-4D97-AF65-F5344CB8AC3E}">
        <p14:creationId xmlns:p14="http://schemas.microsoft.com/office/powerpoint/2010/main" val="105983146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B76189-1DEF-5D42-9C03-3E05B8FF6A0B}"/>
              </a:ext>
            </a:extLst>
          </p:cNvPr>
          <p:cNvSpPr>
            <a:spLocks noGrp="1"/>
          </p:cNvSpPr>
          <p:nvPr>
            <p:ph type="title"/>
          </p:nvPr>
        </p:nvSpPr>
        <p:spPr/>
        <p:txBody>
          <a:bodyPr/>
          <a:lstStyle/>
          <a:p>
            <a:r>
              <a:rPr lang="en-US" dirty="0"/>
              <a:t>A lot more to do with PYDICOM</a:t>
            </a:r>
          </a:p>
        </p:txBody>
      </p:sp>
      <p:sp>
        <p:nvSpPr>
          <p:cNvPr id="3" name="Content Placeholder 2">
            <a:extLst>
              <a:ext uri="{FF2B5EF4-FFF2-40B4-BE49-F238E27FC236}">
                <a16:creationId xmlns:a16="http://schemas.microsoft.com/office/drawing/2014/main" id="{516804D8-043C-A444-B99E-E34714F9AE7E}"/>
              </a:ext>
            </a:extLst>
          </p:cNvPr>
          <p:cNvSpPr>
            <a:spLocks noGrp="1"/>
          </p:cNvSpPr>
          <p:nvPr>
            <p:ph idx="1"/>
          </p:nvPr>
        </p:nvSpPr>
        <p:spPr/>
        <p:txBody>
          <a:bodyPr/>
          <a:lstStyle/>
          <a:p>
            <a:r>
              <a:rPr lang="en-US" dirty="0"/>
              <a:t>https://</a:t>
            </a:r>
            <a:r>
              <a:rPr lang="en-US" dirty="0" err="1"/>
              <a:t>pydicom.github.io</a:t>
            </a:r>
            <a:r>
              <a:rPr lang="en-US" dirty="0"/>
              <a:t>/</a:t>
            </a:r>
            <a:r>
              <a:rPr lang="en-US" dirty="0" err="1"/>
              <a:t>pydicom</a:t>
            </a:r>
            <a:r>
              <a:rPr lang="en-US" dirty="0"/>
              <a:t>/stable/</a:t>
            </a:r>
            <a:r>
              <a:rPr lang="en-US" dirty="0" err="1"/>
              <a:t>auto_examples</a:t>
            </a:r>
            <a:r>
              <a:rPr lang="en-US" dirty="0"/>
              <a:t>/</a:t>
            </a:r>
            <a:r>
              <a:rPr lang="en-US" dirty="0" err="1"/>
              <a:t>index.html</a:t>
            </a:r>
            <a:endParaRPr lang="en-US" dirty="0"/>
          </a:p>
        </p:txBody>
      </p:sp>
    </p:spTree>
    <p:extLst>
      <p:ext uri="{BB962C8B-B14F-4D97-AF65-F5344CB8AC3E}">
        <p14:creationId xmlns:p14="http://schemas.microsoft.com/office/powerpoint/2010/main" val="6134141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02DC6D-F787-D540-8120-056CFBF7D253}"/>
              </a:ext>
            </a:extLst>
          </p:cNvPr>
          <p:cNvSpPr>
            <a:spLocks noGrp="1"/>
          </p:cNvSpPr>
          <p:nvPr>
            <p:ph type="title"/>
          </p:nvPr>
        </p:nvSpPr>
        <p:spPr/>
        <p:txBody>
          <a:bodyPr/>
          <a:lstStyle/>
          <a:p>
            <a:r>
              <a:rPr lang="en-US" dirty="0"/>
              <a:t>So much to be done</a:t>
            </a:r>
          </a:p>
        </p:txBody>
      </p:sp>
      <p:sp>
        <p:nvSpPr>
          <p:cNvPr id="3" name="Content Placeholder 2">
            <a:extLst>
              <a:ext uri="{FF2B5EF4-FFF2-40B4-BE49-F238E27FC236}">
                <a16:creationId xmlns:a16="http://schemas.microsoft.com/office/drawing/2014/main" id="{98AAC90A-D9EE-0444-B7A1-BB162A32F7FF}"/>
              </a:ext>
            </a:extLst>
          </p:cNvPr>
          <p:cNvSpPr>
            <a:spLocks noGrp="1"/>
          </p:cNvSpPr>
          <p:nvPr>
            <p:ph idx="1"/>
          </p:nvPr>
        </p:nvSpPr>
        <p:spPr/>
        <p:txBody>
          <a:bodyPr>
            <a:normAutofit lnSpcReduction="10000"/>
          </a:bodyPr>
          <a:lstStyle/>
          <a:p>
            <a:r>
              <a:rPr lang="en-US" dirty="0"/>
              <a:t>Reviews and Reporting about medical images such as CT Scans, MRI Scans and other such images can be a frustrating task when it is limited to views from films under bright light, many hospitals and diagnostic centers have moved to Picture and Communication Archiving Systems(PACS) this is still limited because Radiology consultants have to physically go to the centers to report because most of these systems are intranet based. Python Libraries such as </a:t>
            </a:r>
            <a:r>
              <a:rPr lang="en-US" dirty="0" err="1"/>
              <a:t>PyDicom</a:t>
            </a:r>
            <a:r>
              <a:rPr lang="en-US" dirty="0"/>
              <a:t> helps us solve this problem and build applications that are accessible regardless of locations.</a:t>
            </a:r>
          </a:p>
        </p:txBody>
      </p:sp>
    </p:spTree>
    <p:extLst>
      <p:ext uri="{BB962C8B-B14F-4D97-AF65-F5344CB8AC3E}">
        <p14:creationId xmlns:p14="http://schemas.microsoft.com/office/powerpoint/2010/main" val="239690610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2A26C1-F9D2-D647-BEC9-95D044CE23A4}"/>
              </a:ext>
            </a:extLst>
          </p:cNvPr>
          <p:cNvSpPr>
            <a:spLocks noGrp="1"/>
          </p:cNvSpPr>
          <p:nvPr>
            <p:ph type="title"/>
          </p:nvPr>
        </p:nvSpPr>
        <p:spPr/>
        <p:txBody>
          <a:bodyPr/>
          <a:lstStyle/>
          <a:p>
            <a:r>
              <a:rPr lang="en-US" dirty="0"/>
              <a:t>A good project to start with</a:t>
            </a:r>
          </a:p>
        </p:txBody>
      </p:sp>
      <p:sp>
        <p:nvSpPr>
          <p:cNvPr id="3" name="Content Placeholder 2">
            <a:extLst>
              <a:ext uri="{FF2B5EF4-FFF2-40B4-BE49-F238E27FC236}">
                <a16:creationId xmlns:a16="http://schemas.microsoft.com/office/drawing/2014/main" id="{4E64846B-2A7F-934A-B726-FC84BDF8D54E}"/>
              </a:ext>
            </a:extLst>
          </p:cNvPr>
          <p:cNvSpPr>
            <a:spLocks noGrp="1"/>
          </p:cNvSpPr>
          <p:nvPr>
            <p:ph idx="1"/>
          </p:nvPr>
        </p:nvSpPr>
        <p:spPr/>
        <p:txBody>
          <a:bodyPr/>
          <a:lstStyle/>
          <a:p>
            <a:r>
              <a:rPr lang="en-US" dirty="0"/>
              <a:t>A web simple application that will allow people upload their scans(</a:t>
            </a:r>
            <a:r>
              <a:rPr lang="en-US" dirty="0" err="1"/>
              <a:t>dcm</a:t>
            </a:r>
            <a:r>
              <a:rPr lang="en-US" dirty="0"/>
              <a:t>) format to the app, and allows experts to view, examine and generate medical reports on such images and have the reports sent back to the uploader.</a:t>
            </a:r>
          </a:p>
        </p:txBody>
      </p:sp>
    </p:spTree>
    <p:extLst>
      <p:ext uri="{BB962C8B-B14F-4D97-AF65-F5344CB8AC3E}">
        <p14:creationId xmlns:p14="http://schemas.microsoft.com/office/powerpoint/2010/main" val="377310554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59CC6D-5150-524C-9E62-4A7367E7B740}"/>
              </a:ext>
            </a:extLst>
          </p:cNvPr>
          <p:cNvSpPr>
            <a:spLocks noGrp="1"/>
          </p:cNvSpPr>
          <p:nvPr>
            <p:ph type="title"/>
          </p:nvPr>
        </p:nvSpPr>
        <p:spPr/>
        <p:txBody>
          <a:bodyPr/>
          <a:lstStyle/>
          <a:p>
            <a:r>
              <a:rPr lang="en-US" dirty="0"/>
              <a:t>References</a:t>
            </a:r>
          </a:p>
        </p:txBody>
      </p:sp>
      <p:sp>
        <p:nvSpPr>
          <p:cNvPr id="3" name="Content Placeholder 2">
            <a:extLst>
              <a:ext uri="{FF2B5EF4-FFF2-40B4-BE49-F238E27FC236}">
                <a16:creationId xmlns:a16="http://schemas.microsoft.com/office/drawing/2014/main" id="{E83C100A-BB81-0445-9208-6E97B84B5524}"/>
              </a:ext>
            </a:extLst>
          </p:cNvPr>
          <p:cNvSpPr>
            <a:spLocks noGrp="1"/>
          </p:cNvSpPr>
          <p:nvPr>
            <p:ph idx="1"/>
          </p:nvPr>
        </p:nvSpPr>
        <p:spPr/>
        <p:txBody>
          <a:bodyPr/>
          <a:lstStyle/>
          <a:p>
            <a:r>
              <a:rPr lang="en-US" dirty="0">
                <a:hlinkClick r:id="rId2"/>
              </a:rPr>
              <a:t>https://www.dicomlibrary.com/dicom/</a:t>
            </a:r>
            <a:endParaRPr lang="en-US" dirty="0"/>
          </a:p>
          <a:p>
            <a:r>
              <a:rPr lang="en-US" dirty="0">
                <a:hlinkClick r:id="rId3"/>
              </a:rPr>
              <a:t>https://www.bridgeheadsoftware.com/2013/11/the_evolution_of_pacs_picture_archiving_and_communication_system/</a:t>
            </a:r>
            <a:endParaRPr lang="en-US" dirty="0"/>
          </a:p>
          <a:p>
            <a:r>
              <a:rPr lang="en-US" dirty="0">
                <a:hlinkClick r:id="rId4"/>
              </a:rPr>
              <a:t>https://pydicom.github.io/pydicom/stable/getting_started.html</a:t>
            </a:r>
            <a:endParaRPr lang="en-US" dirty="0"/>
          </a:p>
          <a:p>
            <a:r>
              <a:rPr lang="en-US" dirty="0"/>
              <a:t>https://</a:t>
            </a:r>
            <a:r>
              <a:rPr lang="en-US" dirty="0" err="1"/>
              <a:t>www.osirix-viewer.com</a:t>
            </a:r>
            <a:r>
              <a:rPr lang="en-US" dirty="0"/>
              <a:t>/resources/</a:t>
            </a:r>
            <a:r>
              <a:rPr lang="en-US" dirty="0" err="1"/>
              <a:t>pacs</a:t>
            </a:r>
            <a:r>
              <a:rPr lang="en-US" dirty="0"/>
              <a:t>/</a:t>
            </a:r>
          </a:p>
        </p:txBody>
      </p:sp>
    </p:spTree>
    <p:extLst>
      <p:ext uri="{BB962C8B-B14F-4D97-AF65-F5344CB8AC3E}">
        <p14:creationId xmlns:p14="http://schemas.microsoft.com/office/powerpoint/2010/main" val="258362435"/>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2123</TotalTime>
  <Words>714</Words>
  <Application>Microsoft Macintosh PowerPoint</Application>
  <PresentationFormat>On-screen Show (4:3)</PresentationFormat>
  <Paragraphs>54</Paragraphs>
  <Slides>16</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Arial</vt:lpstr>
      <vt:lpstr>Calibri</vt:lpstr>
      <vt:lpstr>Calibri Light</vt:lpstr>
      <vt:lpstr>Office Theme</vt:lpstr>
      <vt:lpstr>USE OF PYTHON IN MEDICAL IMAGING(PACS)</vt:lpstr>
      <vt:lpstr>What is Medical Imaging?</vt:lpstr>
      <vt:lpstr>Magnetic Resonance Imaging Machine</vt:lpstr>
      <vt:lpstr>Evolution of Medical Imaging</vt:lpstr>
      <vt:lpstr>Digital Imaging and Communications in Medicine(DICOM)</vt:lpstr>
      <vt:lpstr>Picture Archiving and Communications Systems(PACS)</vt:lpstr>
      <vt:lpstr>PACS</vt:lpstr>
      <vt:lpstr>PYDICOM</vt:lpstr>
      <vt:lpstr>Simple usage of PYDICOM</vt:lpstr>
      <vt:lpstr>Supine to Prone with PYDICOM Code Example 1</vt:lpstr>
      <vt:lpstr>Viewing Images</vt:lpstr>
      <vt:lpstr>Using PYDICOM with matplotlib Code Example 2</vt:lpstr>
      <vt:lpstr>A lot more to do with PYDICOM</vt:lpstr>
      <vt:lpstr>So much to be done</vt:lpstr>
      <vt:lpstr>A good project to start with</vt:lpstr>
      <vt:lpstr>References</vt:lpstr>
    </vt:vector>
  </TitlesOfParts>
  <Company/>
  <LinksUpToDate>false</LinksUpToDate>
  <SharedDoc>false</SharedDoc>
  <HyperlinksChanged>false</HyperlinksChanged>
  <AppVersion>16.0016</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USE OF PYTHON IN MEDICAL IMAGING(PACS)</dc:title>
  <dc:creator>Femi Oladele</dc:creator>
  <cp:lastModifiedBy>Femi Oladele</cp:lastModifiedBy>
  <cp:revision>24</cp:revision>
  <dcterms:created xsi:type="dcterms:W3CDTF">2018-09-02T17:03:57Z</dcterms:created>
  <dcterms:modified xsi:type="dcterms:W3CDTF">2018-09-04T04:26:57Z</dcterms:modified>
</cp:coreProperties>
</file>