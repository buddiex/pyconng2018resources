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59" r:id="rId10"/>
    <p:sldId id="260" r:id="rId11"/>
    <p:sldId id="271" r:id="rId12"/>
    <p:sldId id="272" r:id="rId13"/>
    <p:sldId id="273" r:id="rId14"/>
    <p:sldId id="275" r:id="rId15"/>
    <p:sldId id="274" r:id="rId16"/>
    <p:sldId id="261" r:id="rId17"/>
    <p:sldId id="276" r:id="rId18"/>
    <p:sldId id="262" r:id="rId19"/>
    <p:sldId id="263" r:id="rId20"/>
    <p:sldId id="264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25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755" autoAdjust="0"/>
  </p:normalViewPr>
  <p:slideViewPr>
    <p:cSldViewPr snapToGrid="0" snapToObjects="1">
      <p:cViewPr varScale="1">
        <p:scale>
          <a:sx n="60" d="100"/>
          <a:sy n="60" d="100"/>
        </p:scale>
        <p:origin x="165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D8CD2-F81D-7E41-AF27-423F12FA0DE2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CC21B-1B34-2B4A-B1D9-2E5D2EDE2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331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0380C-FB11-EF4E-B239-904EE9F22E75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E59F2-F813-3F42-8635-7A4F7F2D0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971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 smtClean="0"/>
              <a:t>Helps</a:t>
            </a:r>
            <a:r>
              <a:rPr lang="en-US" baseline="0" dirty="0" smtClean="0"/>
              <a:t> us build empathy</a:t>
            </a:r>
          </a:p>
          <a:p>
            <a:pPr>
              <a:buFontTx/>
              <a:buChar char="-"/>
            </a:pPr>
            <a:r>
              <a:rPr lang="en-US" baseline="0" dirty="0" smtClean="0"/>
              <a:t>helps us identify and fill gaps in knowledge</a:t>
            </a:r>
          </a:p>
          <a:p>
            <a:pPr>
              <a:buFontTx/>
              <a:buChar char="-"/>
            </a:pPr>
            <a:r>
              <a:rPr lang="en-US" baseline="0" dirty="0" smtClean="0"/>
              <a:t>Helps us identify what functionality is most critical </a:t>
            </a:r>
          </a:p>
          <a:p>
            <a:pPr>
              <a:buFontTx/>
              <a:buChar char="-"/>
            </a:pPr>
            <a:r>
              <a:rPr lang="en-US" baseline="0" dirty="0" smtClean="0"/>
              <a:t>Helps us improve usability of interactive systems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Don’t make assumptions about your user</a:t>
            </a:r>
          </a:p>
          <a:p>
            <a:pPr>
              <a:buFontTx/>
              <a:buChar char="-"/>
            </a:pPr>
            <a:r>
              <a:rPr lang="en-US" dirty="0" smtClean="0"/>
              <a:t>Go out and meet them</a:t>
            </a:r>
          </a:p>
          <a:p>
            <a:pPr>
              <a:buFontTx/>
              <a:buChar char="-"/>
            </a:pPr>
            <a:r>
              <a:rPr lang="en-US" dirty="0" smtClean="0"/>
              <a:t>Gather data</a:t>
            </a:r>
          </a:p>
          <a:p>
            <a:pPr>
              <a:buFontTx/>
              <a:buChar char="-"/>
            </a:pPr>
            <a:r>
              <a:rPr lang="en-US" dirty="0" smtClean="0"/>
              <a:t>Perform user testing</a:t>
            </a:r>
          </a:p>
          <a:p>
            <a:pPr>
              <a:buFontTx/>
              <a:buChar char="-"/>
            </a:pPr>
            <a:r>
              <a:rPr lang="en-US" dirty="0" smtClean="0"/>
              <a:t>Understand how they differ</a:t>
            </a:r>
          </a:p>
          <a:p>
            <a:pPr>
              <a:buFontTx/>
              <a:buChar char="-"/>
            </a:pPr>
            <a:r>
              <a:rPr lang="en-US" dirty="0" smtClean="0"/>
              <a:t>What their goals are</a:t>
            </a:r>
          </a:p>
          <a:p>
            <a:pPr>
              <a:buFontTx/>
              <a:buChar char="-"/>
            </a:pPr>
            <a:r>
              <a:rPr lang="en-US" dirty="0" smtClean="0"/>
              <a:t>What their needs are </a:t>
            </a:r>
          </a:p>
          <a:p>
            <a:pPr>
              <a:buFontTx/>
              <a:buChar char="-"/>
            </a:pPr>
            <a:r>
              <a:rPr lang="en-US" dirty="0" smtClean="0"/>
              <a:t>How they think and feel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FE59F2-F813-3F42-8635-7A4F7F2D08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82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 smtClean="0"/>
              <a:t>Helps</a:t>
            </a:r>
            <a:r>
              <a:rPr lang="en-US" baseline="0" dirty="0" smtClean="0"/>
              <a:t> us build empathy</a:t>
            </a:r>
          </a:p>
          <a:p>
            <a:pPr>
              <a:buFontTx/>
              <a:buChar char="-"/>
            </a:pPr>
            <a:r>
              <a:rPr lang="en-US" baseline="0" dirty="0" smtClean="0"/>
              <a:t>helps us identify and fill gaps in knowledge </a:t>
            </a: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Don’t make assumptions about your user</a:t>
            </a:r>
          </a:p>
          <a:p>
            <a:pPr>
              <a:buFontTx/>
              <a:buChar char="-"/>
            </a:pPr>
            <a:r>
              <a:rPr lang="en-US" dirty="0" smtClean="0"/>
              <a:t>Go out and meet them</a:t>
            </a:r>
          </a:p>
          <a:p>
            <a:pPr>
              <a:buFontTx/>
              <a:buChar char="-"/>
            </a:pPr>
            <a:r>
              <a:rPr lang="en-US" dirty="0" smtClean="0"/>
              <a:t>Gather data</a:t>
            </a:r>
          </a:p>
          <a:p>
            <a:pPr>
              <a:buFontTx/>
              <a:buChar char="-"/>
            </a:pPr>
            <a:r>
              <a:rPr lang="en-US" dirty="0" smtClean="0"/>
              <a:t>Perform user testing</a:t>
            </a:r>
          </a:p>
          <a:p>
            <a:pPr>
              <a:buFontTx/>
              <a:buChar char="-"/>
            </a:pPr>
            <a:r>
              <a:rPr lang="en-US" dirty="0" smtClean="0"/>
              <a:t>Understand how they differ</a:t>
            </a:r>
          </a:p>
          <a:p>
            <a:pPr>
              <a:buFontTx/>
              <a:buChar char="-"/>
            </a:pPr>
            <a:r>
              <a:rPr lang="en-US" dirty="0" smtClean="0"/>
              <a:t>What their goals are</a:t>
            </a:r>
          </a:p>
          <a:p>
            <a:pPr>
              <a:buFontTx/>
              <a:buChar char="-"/>
            </a:pPr>
            <a:r>
              <a:rPr lang="en-US" dirty="0" smtClean="0"/>
              <a:t>What their needs are </a:t>
            </a:r>
          </a:p>
          <a:p>
            <a:pPr>
              <a:buFontTx/>
              <a:buChar char="-"/>
            </a:pPr>
            <a:r>
              <a:rPr lang="en-US" dirty="0" smtClean="0"/>
              <a:t>How they think and feel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FE59F2-F813-3F42-8635-7A4F7F2D08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8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21A21C6-3FD5-2F43-B626-65457417B3C2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13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D4EF-AE8E-EC4E-863F-27848046D52E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01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413-A267-CA40-B41A-9734C21980B3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02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EF74-8B10-5441-AE14-CCB4195C9EC3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82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E6A3-C353-0847-8544-6ED65250D841}" type="datetime1">
              <a:rPr lang="en-US" smtClean="0"/>
              <a:t>9/11/2018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6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930B-6BD3-3B4B-BEFF-21EFD9D43070}" type="datetime1">
              <a:rPr lang="en-US" smtClean="0"/>
              <a:t>9/11/2018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4A998-E1C6-2C49-A817-D907F56FB6BB}" type="datetime1">
              <a:rPr lang="en-US" smtClean="0"/>
              <a:t>9/11/2018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01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55355-5E7A-6441-9C5A-DBBB640346AD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2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510D-2EF9-0240-9FDC-7207CC99B0E6}" type="datetime1">
              <a:rPr lang="en-US" smtClean="0"/>
              <a:t>9/11/2018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57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F6515-96E4-064A-A9F7-3A8CA2883EC0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36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8E74-FDA4-E541-A3E6-3C9C7B05495D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9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0C851D1-52A8-524A-A1DA-51DC2DB05103}" type="datetime1">
              <a:rPr lang="en-US" smtClean="0"/>
              <a:t>9/11/2018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CC4CB0A-1186-A74C-A05A-71BC8845D2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86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nam.n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1568112"/>
            <a:ext cx="7507596" cy="45694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060" y="4376621"/>
            <a:ext cx="7022152" cy="146304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UX Design: For developers or nah?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0598" y="2429109"/>
            <a:ext cx="6858000" cy="2345858"/>
          </a:xfrm>
        </p:spPr>
        <p:txBody>
          <a:bodyPr>
            <a:normAutofit/>
          </a:bodyPr>
          <a:lstStyle/>
          <a:p>
            <a:r>
              <a:rPr 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Gabriel “G” Nhinda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Twitter: @</a:t>
            </a:r>
            <a:r>
              <a:rPr lang="en-US" dirty="0" err="1" smtClean="0">
                <a:solidFill>
                  <a:srgbClr val="0000FF"/>
                </a:solidFill>
              </a:rPr>
              <a:t>JustShingapi</a:t>
            </a:r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3366FF"/>
                </a:solidFill>
                <a:hlinkClick r:id="rId2"/>
              </a:rPr>
              <a:t>www.unam.na</a:t>
            </a:r>
            <a:r>
              <a:rPr lang="en-US" dirty="0" smtClean="0">
                <a:solidFill>
                  <a:srgbClr val="0000FF"/>
                </a:solidFill>
              </a:rPr>
              <a:t> (@</a:t>
            </a:r>
            <a:r>
              <a:rPr lang="en-US" dirty="0" err="1" smtClean="0">
                <a:solidFill>
                  <a:srgbClr val="0000FF"/>
                </a:solidFill>
              </a:rPr>
              <a:t>unam_na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  <a:endParaRPr lang="en-US" dirty="0" smtClean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8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Agenda/To Do/Talking Points/ </a:t>
            </a:r>
            <a:r>
              <a:rPr lang="mr-IN" sz="4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7829" y="1825625"/>
            <a:ext cx="7886700" cy="4351338"/>
          </a:xfrm>
        </p:spPr>
        <p:txBody>
          <a:bodyPr/>
          <a:lstStyle/>
          <a:p>
            <a:r>
              <a:rPr lang="en-US" dirty="0" smtClean="0"/>
              <a:t>Why now</a:t>
            </a:r>
          </a:p>
          <a:p>
            <a:r>
              <a:rPr lang="en-US" dirty="0" smtClean="0"/>
              <a:t>How did I get into this</a:t>
            </a:r>
          </a:p>
          <a:p>
            <a:r>
              <a:rPr lang="en-US" dirty="0" smtClean="0"/>
              <a:t>Now we start</a:t>
            </a:r>
          </a:p>
          <a:p>
            <a:r>
              <a:rPr lang="en-US" dirty="0" smtClean="0"/>
              <a:t>Okay, this is the middle</a:t>
            </a:r>
          </a:p>
          <a:p>
            <a:r>
              <a:rPr lang="en-US" dirty="0" smtClean="0"/>
              <a:t>Almost the end</a:t>
            </a:r>
          </a:p>
          <a:p>
            <a:r>
              <a:rPr lang="en-US" dirty="0" smtClean="0"/>
              <a:t>Almost almost the end</a:t>
            </a:r>
          </a:p>
          <a:p>
            <a:r>
              <a:rPr lang="en-US" dirty="0" smtClean="0"/>
              <a:t>Other stuff (</a:t>
            </a:r>
            <a:r>
              <a:rPr lang="en-US" b="1" u="sng" dirty="0" smtClean="0"/>
              <a:t>remove before presentation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0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705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Why now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05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Adoption of mobile</a:t>
            </a:r>
          </a:p>
          <a:p>
            <a:r>
              <a:rPr lang="en-US" dirty="0" smtClean="0"/>
              <a:t>Differentiation of services</a:t>
            </a:r>
          </a:p>
          <a:p>
            <a:r>
              <a:rPr lang="en-US" dirty="0" smtClean="0"/>
              <a:t>Personalisation of software</a:t>
            </a:r>
          </a:p>
          <a:p>
            <a:r>
              <a:rPr lang="en-US" dirty="0" smtClean="0"/>
              <a:t>Evolution of design principles</a:t>
            </a:r>
          </a:p>
          <a:p>
            <a:r>
              <a:rPr lang="en-US" dirty="0" smtClean="0"/>
              <a:t>Options</a:t>
            </a:r>
          </a:p>
          <a:p>
            <a:r>
              <a:rPr lang="en-US" dirty="0" smtClean="0"/>
              <a:t>Nobody likes wasting time on simple tasks, they are busy trying to pretend to be busy! (unless its procrastination via YouTube and cute ninja turtle baby dinosaurs!)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579671" y="2313020"/>
            <a:ext cx="25658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Customer Experience</a:t>
            </a:r>
            <a:endParaRPr lang="en-US" sz="3200" dirty="0"/>
          </a:p>
        </p:txBody>
      </p:sp>
      <p:sp>
        <p:nvSpPr>
          <p:cNvPr id="6" name="Chevron 5"/>
          <p:cNvSpPr/>
          <p:nvPr/>
        </p:nvSpPr>
        <p:spPr>
          <a:xfrm>
            <a:off x="5388891" y="2493650"/>
            <a:ext cx="635027" cy="720958"/>
          </a:xfrm>
          <a:prstGeom prst="chevron">
            <a:avLst/>
          </a:prstGeom>
          <a:solidFill>
            <a:schemeClr val="accent3">
              <a:alpha val="12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>
            <a:off x="5579010" y="2491150"/>
            <a:ext cx="635027" cy="720958"/>
          </a:xfrm>
          <a:prstGeom prst="chevron">
            <a:avLst/>
          </a:prstGeom>
          <a:solidFill>
            <a:schemeClr val="accent3">
              <a:alpha val="12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07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How did I get into this</a:t>
            </a:r>
            <a:br>
              <a:rPr lang="en-US" dirty="0" smtClean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sz="2200" dirty="0" smtClean="0">
                <a:solidFill>
                  <a:schemeClr val="bg2">
                    <a:lumMod val="25000"/>
                  </a:schemeClr>
                </a:solidFill>
              </a:rPr>
              <a:t>(Graduate Student </a:t>
            </a:r>
            <a:r>
              <a:rPr lang="en-US" sz="2200" dirty="0" err="1" smtClean="0">
                <a:solidFill>
                  <a:schemeClr val="bg2">
                    <a:lumMod val="25000"/>
                  </a:schemeClr>
                </a:solidFill>
              </a:rPr>
              <a:t>livin</a:t>
            </a:r>
            <a:r>
              <a:rPr lang="en-US" sz="2200" dirty="0" smtClean="0">
                <a:solidFill>
                  <a:schemeClr val="bg2">
                    <a:lumMod val="25000"/>
                  </a:schemeClr>
                </a:solidFill>
              </a:rPr>
              <a:t>’ it up)</a:t>
            </a:r>
            <a:endParaRPr lang="en-US" sz="2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0" name="Content Placeholder 19" descr="classy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487" y="2540000"/>
            <a:ext cx="4581525" cy="35147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9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did I get into this</a:t>
            </a:r>
            <a:br>
              <a:rPr lang="en-US" dirty="0" smtClean="0"/>
            </a:br>
            <a:r>
              <a:rPr lang="en-US" sz="2200" dirty="0" smtClean="0"/>
              <a:t>(Graduate Student </a:t>
            </a:r>
            <a:r>
              <a:rPr lang="en-US" sz="2200" dirty="0" err="1" smtClean="0"/>
              <a:t>livin</a:t>
            </a:r>
            <a:r>
              <a:rPr lang="en-US" sz="2200" dirty="0" smtClean="0"/>
              <a:t>’ it up)</a:t>
            </a:r>
            <a:endParaRPr lang="en-US" sz="2200" dirty="0"/>
          </a:p>
        </p:txBody>
      </p:sp>
      <p:pic>
        <p:nvPicPr>
          <p:cNvPr id="5" name="Content Placeholder 4" descr="doing stuff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433" y="2286000"/>
            <a:ext cx="5363633" cy="40227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0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did I get into this</a:t>
            </a:r>
            <a:br>
              <a:rPr lang="en-US" dirty="0" smtClean="0"/>
            </a:br>
            <a:r>
              <a:rPr lang="en-US" sz="2200" dirty="0" smtClean="0"/>
              <a:t>(Graduate Student </a:t>
            </a:r>
            <a:r>
              <a:rPr lang="en-US" sz="2200" dirty="0" err="1" smtClean="0"/>
              <a:t>livin</a:t>
            </a:r>
            <a:r>
              <a:rPr lang="en-US" sz="2200" dirty="0" smtClean="0"/>
              <a:t>’ it up)</a:t>
            </a:r>
            <a:endParaRPr lang="en-US" sz="2200" dirty="0"/>
          </a:p>
        </p:txBody>
      </p:sp>
      <p:pic>
        <p:nvPicPr>
          <p:cNvPr id="6" name="Content Placeholder 5" descr="partyin it up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946" y="2286000"/>
            <a:ext cx="6422607" cy="40227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7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did I get into this</a:t>
            </a:r>
            <a:br>
              <a:rPr lang="en-US" dirty="0" smtClean="0"/>
            </a:br>
            <a:r>
              <a:rPr lang="en-US" sz="2200" dirty="0" smtClean="0"/>
              <a:t>(Graduate Student </a:t>
            </a:r>
            <a:r>
              <a:rPr lang="en-US" sz="2200" dirty="0" err="1" smtClean="0"/>
              <a:t>livin</a:t>
            </a:r>
            <a:r>
              <a:rPr lang="en-US" sz="2200" dirty="0" smtClean="0"/>
              <a:t>’ it up)</a:t>
            </a:r>
            <a:endParaRPr lang="en-US" sz="2200" dirty="0"/>
          </a:p>
        </p:txBody>
      </p:sp>
      <p:pic>
        <p:nvPicPr>
          <p:cNvPr id="5" name="Content Placeholder 4" descr="livin it up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433" y="2286000"/>
            <a:ext cx="5363633" cy="40227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0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did I get into this</a:t>
            </a:r>
            <a:br>
              <a:rPr lang="en-US" dirty="0" smtClean="0"/>
            </a:br>
            <a:r>
              <a:rPr lang="en-US" sz="2200" dirty="0" smtClean="0"/>
              <a:t>(Graduate Student </a:t>
            </a:r>
            <a:r>
              <a:rPr lang="en-US" sz="2200" dirty="0" err="1" smtClean="0"/>
              <a:t>livin</a:t>
            </a:r>
            <a:r>
              <a:rPr lang="en-US" sz="2200" dirty="0" smtClean="0"/>
              <a:t>’ it up)</a:t>
            </a:r>
            <a:endParaRPr lang="en-US" sz="2200" dirty="0"/>
          </a:p>
        </p:txBody>
      </p:sp>
      <p:pic>
        <p:nvPicPr>
          <p:cNvPr id="6" name="Content Placeholder 5" descr="grad student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904728" y="2286000"/>
            <a:ext cx="3017043" cy="40227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3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8413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How did I get into this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413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Cutting edge hardcore Front-end developer (XAML + C#) for ARM MS Metro Styled Windows 8 (after 4 months it sucked!)</a:t>
            </a:r>
          </a:p>
          <a:p>
            <a:r>
              <a:rPr lang="en-US" dirty="0"/>
              <a:t>C</a:t>
            </a:r>
            <a:r>
              <a:rPr lang="en-US" dirty="0" smtClean="0"/>
              <a:t>heck-list background: </a:t>
            </a:r>
            <a:r>
              <a:rPr lang="en-US" dirty="0"/>
              <a:t>Technical Server room and Networking </a:t>
            </a:r>
            <a:r>
              <a:rPr lang="en-US" dirty="0" smtClean="0"/>
              <a:t> (used this approach for the UI=UX): </a:t>
            </a:r>
            <a:r>
              <a:rPr lang="en-US" i="1" dirty="0" smtClean="0"/>
              <a:t>What </a:t>
            </a:r>
            <a:r>
              <a:rPr lang="en-US" i="1" dirty="0" smtClean="0"/>
              <a:t>design </a:t>
            </a:r>
            <a:r>
              <a:rPr lang="en-US" i="1" dirty="0" smtClean="0"/>
              <a:t>principles?</a:t>
            </a:r>
          </a:p>
          <a:p>
            <a:r>
              <a:rPr lang="en-US" dirty="0" smtClean="0"/>
              <a:t>Final presentation resulted in a range or emotions: anger, shock, disbelieve, intrigue</a:t>
            </a:r>
          </a:p>
          <a:p>
            <a:r>
              <a:rPr lang="en-US" dirty="0" smtClean="0"/>
              <a:t>So, I got a job in a UX department of the largest middleware vendor in Germany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Now we start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4731238"/>
            <a:ext cx="8229600" cy="1698898"/>
          </a:xfrm>
          <a:prstGeom prst="rect">
            <a:avLst/>
          </a:prstGeom>
          <a:solidFill>
            <a:schemeClr val="accent3">
              <a:alpha val="49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i="1" dirty="0" smtClean="0"/>
              <a:t>UX is the technical study of how users interact with your product/software</a:t>
            </a:r>
            <a:endParaRPr lang="en-US" i="1" dirty="0"/>
          </a:p>
        </p:txBody>
      </p:sp>
      <p:pic>
        <p:nvPicPr>
          <p:cNvPr id="8" name="Picture 7" descr="ux-verses-ui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" t="15138" r="-390" b="17962"/>
          <a:stretch/>
        </p:blipFill>
        <p:spPr>
          <a:xfrm>
            <a:off x="154800" y="1994400"/>
            <a:ext cx="8890000" cy="25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9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Now we </a:t>
            </a:r>
            <a:r>
              <a:rPr lang="en-US" dirty="0" smtClean="0"/>
              <a:t>start 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84832"/>
            <a:ext cx="8229600" cy="397303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three commandments I live by:</a:t>
            </a:r>
          </a:p>
          <a:p>
            <a:pPr marL="0" indent="0">
              <a:buNone/>
            </a:pPr>
            <a:r>
              <a:rPr lang="en-US" dirty="0" smtClean="0"/>
              <a:t>1. You are not your users</a:t>
            </a:r>
          </a:p>
          <a:p>
            <a:pPr marL="0" indent="0">
              <a:buNone/>
            </a:pPr>
            <a:r>
              <a:rPr lang="en-US" dirty="0" smtClean="0"/>
              <a:t>2. Know thy Users</a:t>
            </a:r>
          </a:p>
          <a:p>
            <a:pPr marL="0" indent="0">
              <a:buNone/>
            </a:pPr>
            <a:r>
              <a:rPr lang="en-US" dirty="0" smtClean="0"/>
              <a:t>3. Not all users are the same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1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1. You are not your 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You know your product inside out, well since you thought of it!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You might end up wasting a lot of </a:t>
            </a:r>
            <a:r>
              <a:rPr lang="en-US" dirty="0" smtClean="0"/>
              <a:t>person-hours </a:t>
            </a:r>
            <a:r>
              <a:rPr lang="en-US" dirty="0" smtClean="0"/>
              <a:t>only to find that</a:t>
            </a:r>
            <a:r>
              <a:rPr lang="mr-IN" dirty="0" smtClean="0"/>
              <a:t>’</a:t>
            </a:r>
            <a:r>
              <a:rPr lang="en-US" dirty="0" smtClean="0"/>
              <a:t>s not what your client wanted.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>
                <a:solidFill>
                  <a:srgbClr val="B3A2C7"/>
                </a:solidFill>
              </a:rPr>
              <a:t>“Knowing how people will use something is essential” </a:t>
            </a:r>
            <a:r>
              <a:rPr lang="mr-IN" dirty="0" smtClean="0">
                <a:solidFill>
                  <a:srgbClr val="B3A2C7"/>
                </a:solidFill>
              </a:rPr>
              <a:t>–</a:t>
            </a:r>
            <a:r>
              <a:rPr lang="en-US" dirty="0" smtClean="0">
                <a:solidFill>
                  <a:srgbClr val="B3A2C7"/>
                </a:solidFill>
              </a:rPr>
              <a:t> Donald Norman</a:t>
            </a:r>
            <a:endParaRPr lang="en-US" dirty="0">
              <a:solidFill>
                <a:srgbClr val="B3A2C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9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dirty="0" smtClean="0"/>
              <a:t>2. Know thy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000" dirty="0" smtClean="0"/>
              <a:t>“UX Without Users is NOT UX” </a:t>
            </a:r>
          </a:p>
          <a:p>
            <a:pPr marL="0" indent="0" algn="ctr">
              <a:buNone/>
            </a:pPr>
            <a:r>
              <a:rPr lang="en-US" sz="2400" dirty="0" smtClean="0"/>
              <a:t>- Nielsen Norman Group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88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USER RESEARCH</a:t>
            </a:r>
            <a:endParaRPr lang="en-US" sz="88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4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dirty="0" smtClean="0"/>
              <a:t>2. Know thy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Screen Shot 2016-11-25 at 08.25.4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16" y="1893261"/>
            <a:ext cx="6641625" cy="454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8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dirty="0" smtClean="0"/>
              <a:t>3. Not all users are the same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know what they want and can tell you</a:t>
            </a:r>
          </a:p>
          <a:p>
            <a:r>
              <a:rPr lang="en-US" dirty="0" smtClean="0"/>
              <a:t>Some know what they want and want you to tell them</a:t>
            </a:r>
          </a:p>
          <a:p>
            <a:r>
              <a:rPr lang="en-US" dirty="0" smtClean="0"/>
              <a:t>Some know what they want but can’t tell you</a:t>
            </a:r>
          </a:p>
          <a:p>
            <a:r>
              <a:rPr lang="en-US" dirty="0" smtClean="0"/>
              <a:t>Some want everything</a:t>
            </a:r>
          </a:p>
          <a:p>
            <a:r>
              <a:rPr lang="en-US" dirty="0" smtClean="0"/>
              <a:t>Some don’t know what they want but want something</a:t>
            </a:r>
          </a:p>
          <a:p>
            <a:r>
              <a:rPr lang="en-US" dirty="0" smtClean="0"/>
              <a:t>Some don’t even want</a:t>
            </a:r>
          </a:p>
          <a:p>
            <a:r>
              <a:rPr lang="en-US" dirty="0" smtClean="0"/>
              <a:t>Some don’t want they need</a:t>
            </a:r>
          </a:p>
          <a:p>
            <a:r>
              <a:rPr lang="en-US" dirty="0" smtClean="0"/>
              <a:t>Some don’t really want but have #FOMO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4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Okay, this is the middle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Ohh</a:t>
            </a:r>
            <a:r>
              <a:rPr lang="en-US" dirty="0" smtClean="0"/>
              <a:t> I still don’t want to make things look “pretty”!</a:t>
            </a:r>
          </a:p>
          <a:p>
            <a:pPr lvl="1"/>
            <a:r>
              <a:rPr lang="en-US" dirty="0" smtClean="0"/>
              <a:t>No Need, get a Graphics Designer and a Front-end Developer!</a:t>
            </a:r>
          </a:p>
          <a:p>
            <a:pPr lvl="1"/>
            <a:r>
              <a:rPr lang="en-US" dirty="0" smtClean="0"/>
              <a:t>UX doesn’t deal with beautification </a:t>
            </a:r>
            <a:r>
              <a:rPr lang="mr-IN" dirty="0" smtClean="0"/>
              <a:t>–</a:t>
            </a:r>
            <a:r>
              <a:rPr lang="en-US" dirty="0" smtClean="0"/>
              <a:t> Directly!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0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Okay, this is the middle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 algn="ctr">
              <a:buNone/>
            </a:pP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1" indent="0" 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1" indent="0" algn="ctr">
              <a:buNone/>
            </a:pPr>
            <a:endParaRPr lang="en-US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7200" lvl="1" indent="0" algn="ctr">
              <a:buNone/>
            </a:pP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 algn="ctr">
              <a:buNone/>
            </a:pP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</a:rPr>
              <a:t>Just 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</a:rPr>
              <a:t>ask some basic questions before, during and after you are done with your project </a:t>
            </a:r>
            <a:r>
              <a:rPr lang="mr-IN" sz="2800" dirty="0" smtClean="0">
                <a:solidFill>
                  <a:schemeClr val="accent2">
                    <a:lumMod val="75000"/>
                  </a:schemeClr>
                </a:solidFill>
              </a:rPr>
              <a:t>–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</a:rPr>
              <a:t>but… 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</a:rPr>
              <a:t>like, Listen and iterate on design, you won’t die!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5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Almost the 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Developers and </a:t>
            </a:r>
            <a:r>
              <a:rPr lang="en-US" dirty="0" err="1" smtClean="0"/>
              <a:t>UX’ers</a:t>
            </a:r>
            <a:r>
              <a:rPr lang="en-US" dirty="0" smtClean="0"/>
              <a:t> share a common goal</a:t>
            </a:r>
          </a:p>
          <a:p>
            <a:endParaRPr lang="en-US" dirty="0" smtClean="0"/>
          </a:p>
          <a:p>
            <a:r>
              <a:rPr lang="en-US" sz="2400" dirty="0" smtClean="0"/>
              <a:t>Developer: </a:t>
            </a:r>
            <a:r>
              <a:rPr lang="en-US" sz="2400" i="1" dirty="0" smtClean="0"/>
              <a:t>“Is the process an </a:t>
            </a:r>
            <a:r>
              <a:rPr lang="en-US" sz="2400" b="1" i="1" dirty="0" smtClean="0">
                <a:solidFill>
                  <a:schemeClr val="accent2">
                    <a:lumMod val="75000"/>
                  </a:schemeClr>
                </a:solidFill>
              </a:rPr>
              <a:t>efficient</a:t>
            </a:r>
            <a:r>
              <a:rPr lang="en-US" sz="2400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i="1" dirty="0" smtClean="0"/>
              <a:t>use of resources” </a:t>
            </a:r>
          </a:p>
          <a:p>
            <a:r>
              <a:rPr lang="en-US" sz="2400" dirty="0" smtClean="0"/>
              <a:t>UX: </a:t>
            </a:r>
            <a:r>
              <a:rPr lang="en-US" sz="2400" i="1" dirty="0" smtClean="0"/>
              <a:t>“Is the process </a:t>
            </a:r>
            <a:r>
              <a:rPr lang="en-US" sz="2400" b="1" i="1" dirty="0" smtClean="0">
                <a:solidFill>
                  <a:schemeClr val="accent2">
                    <a:lumMod val="75000"/>
                  </a:schemeClr>
                </a:solidFill>
              </a:rPr>
              <a:t>efficient</a:t>
            </a:r>
            <a:r>
              <a:rPr lang="en-US" sz="2400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i="1" dirty="0" smtClean="0"/>
              <a:t>for the user?”</a:t>
            </a:r>
            <a:endParaRPr lang="en-US" sz="2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9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Almost almost the 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19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26272" y="2506169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603952" y="2477879"/>
            <a:ext cx="1498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UX: User Flow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4648" y="3482512"/>
            <a:ext cx="2407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User flow should define</a:t>
            </a:r>
          </a:p>
          <a:p>
            <a:r>
              <a:rPr lang="en-US" dirty="0" smtClean="0"/>
              <a:t>Technical Scope 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152907" y="2321926"/>
            <a:ext cx="4400293" cy="3804237"/>
            <a:chOff x="2152907" y="1600200"/>
            <a:chExt cx="5235100" cy="4525963"/>
          </a:xfrm>
        </p:grpSpPr>
        <p:grpSp>
          <p:nvGrpSpPr>
            <p:cNvPr id="9" name="Group 8"/>
            <p:cNvGrpSpPr/>
            <p:nvPr/>
          </p:nvGrpSpPr>
          <p:grpSpPr>
            <a:xfrm>
              <a:off x="2152907" y="1600200"/>
              <a:ext cx="5235100" cy="4525963"/>
              <a:chOff x="2152907" y="1600200"/>
              <a:chExt cx="5235100" cy="4525963"/>
            </a:xfrm>
          </p:grpSpPr>
          <p:sp>
            <p:nvSpPr>
              <p:cNvPr id="8" name="Round Same Side Corner Rectangle 7"/>
              <p:cNvSpPr/>
              <p:nvPr/>
            </p:nvSpPr>
            <p:spPr>
              <a:xfrm>
                <a:off x="2152907" y="1600200"/>
                <a:ext cx="5235100" cy="4525963"/>
              </a:xfrm>
              <a:prstGeom prst="round2SameRect">
                <a:avLst/>
              </a:prstGeom>
              <a:solidFill>
                <a:schemeClr val="accent5">
                  <a:lumMod val="20000"/>
                  <a:lumOff val="80000"/>
                  <a:alpha val="12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 smtClean="0">
                    <a:solidFill>
                      <a:schemeClr val="tx1"/>
                    </a:solidFill>
                  </a:rPr>
                  <a:t>Dev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: Technical Scope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2540107" y="1734829"/>
                <a:ext cx="4259327" cy="4259327"/>
              </a:xfrm>
              <a:prstGeom prst="ellipse">
                <a:avLst/>
              </a:prstGeom>
              <a:solidFill>
                <a:schemeClr val="accent1">
                  <a:lumMod val="75000"/>
                  <a:alpha val="12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3082204" y="2292454"/>
                <a:ext cx="3128889" cy="3128889"/>
              </a:xfrm>
              <a:prstGeom prst="ellipse">
                <a:avLst/>
              </a:prstGeom>
              <a:solidFill>
                <a:srgbClr val="25EFFF">
                  <a:alpha val="12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Down Arrow 6"/>
              <p:cNvSpPr/>
              <p:nvPr/>
            </p:nvSpPr>
            <p:spPr>
              <a:xfrm>
                <a:off x="4646538" y="2292454"/>
                <a:ext cx="449166" cy="495666"/>
              </a:xfrm>
              <a:prstGeom prst="down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Curved Left Arrow 13"/>
            <p:cNvSpPr/>
            <p:nvPr/>
          </p:nvSpPr>
          <p:spPr>
            <a:xfrm>
              <a:off x="5947569" y="2927526"/>
              <a:ext cx="263524" cy="506925"/>
            </a:xfrm>
            <a:prstGeom prst="curved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Curved Down Arrow 14"/>
            <p:cNvSpPr/>
            <p:nvPr/>
          </p:nvSpPr>
          <p:spPr>
            <a:xfrm>
              <a:off x="5343519" y="2540287"/>
              <a:ext cx="727957" cy="247833"/>
            </a:xfrm>
            <a:prstGeom prst="curved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22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References</a:t>
            </a:r>
            <a:br>
              <a:rPr lang="en-US" dirty="0" smtClean="0"/>
            </a:br>
            <a:r>
              <a:rPr lang="en-US" sz="1400" dirty="0" smtClean="0"/>
              <a:t>(If you can read this and you are interested in learning more about UX read the list below </a:t>
            </a:r>
            <a:r>
              <a:rPr lang="en-US" sz="1400" dirty="0" smtClean="0">
                <a:sym typeface="Wingdings"/>
              </a:rPr>
              <a:t></a:t>
            </a:r>
            <a:r>
              <a:rPr lang="en-US" sz="1400" dirty="0" smtClean="0"/>
              <a:t>)</a:t>
            </a:r>
            <a:endParaRPr lang="en-US" sz="1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Designing the Obvious </a:t>
            </a:r>
            <a:r>
              <a:rPr lang="mr-IN" dirty="0" smtClean="0"/>
              <a:t>–</a:t>
            </a:r>
            <a:r>
              <a:rPr lang="en-US" dirty="0" smtClean="0"/>
              <a:t> Robert </a:t>
            </a:r>
            <a:r>
              <a:rPr lang="en-US" dirty="0" err="1" smtClean="0"/>
              <a:t>Hoekman</a:t>
            </a:r>
            <a:r>
              <a:rPr lang="en-US" dirty="0" smtClean="0"/>
              <a:t>, Jr.</a:t>
            </a:r>
          </a:p>
          <a:p>
            <a:r>
              <a:rPr lang="en-US" dirty="0" smtClean="0"/>
              <a:t>Sketching User Experiences </a:t>
            </a:r>
            <a:r>
              <a:rPr lang="mr-IN" dirty="0" smtClean="0"/>
              <a:t>–</a:t>
            </a:r>
            <a:r>
              <a:rPr lang="en-US" dirty="0" smtClean="0"/>
              <a:t> Bill Buxton</a:t>
            </a:r>
          </a:p>
          <a:p>
            <a:r>
              <a:rPr lang="en-US" dirty="0" smtClean="0"/>
              <a:t>Don’t Make me think </a:t>
            </a:r>
            <a:r>
              <a:rPr lang="mr-IN" dirty="0" smtClean="0"/>
              <a:t>–</a:t>
            </a:r>
            <a:r>
              <a:rPr lang="en-US" dirty="0" smtClean="0"/>
              <a:t> Steve Krug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Please also read on Norman Nielsen’s work and heuristics evaluation and a bunch of stuff from the </a:t>
            </a:r>
            <a:r>
              <a:rPr lang="en-US" dirty="0" err="1" smtClean="0"/>
              <a:t>uxmag.com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0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dirty="0"/>
              <a:t>Thank </a:t>
            </a:r>
            <a:r>
              <a:rPr lang="en-US" sz="2800" dirty="0" smtClean="0"/>
              <a:t>you</a:t>
            </a:r>
          </a:p>
          <a:p>
            <a:pPr marL="0" indent="0" algn="ctr">
              <a:buNone/>
            </a:pPr>
            <a:endParaRPr lang="en-US" sz="2800" dirty="0" smtClean="0"/>
          </a:p>
          <a:p>
            <a:pPr marL="0" indent="0" algn="ctr">
              <a:buNone/>
            </a:pP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Gabriel “G” </a:t>
            </a:r>
            <a:r>
              <a:rPr lang="en-US" sz="2800" dirty="0" smtClean="0"/>
              <a:t>Nhinda</a:t>
            </a:r>
          </a:p>
          <a:p>
            <a:pPr marL="0" indent="0" algn="ctr">
              <a:buNone/>
            </a:pP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Twitter: </a:t>
            </a:r>
            <a:r>
              <a:rPr lang="en-US" sz="2800" dirty="0" smtClean="0">
                <a:solidFill>
                  <a:srgbClr val="3366FF"/>
                </a:solidFill>
              </a:rPr>
              <a:t>@</a:t>
            </a:r>
            <a:r>
              <a:rPr lang="en-US" sz="2800" dirty="0" err="1" smtClean="0">
                <a:solidFill>
                  <a:srgbClr val="3366FF"/>
                </a:solidFill>
              </a:rPr>
              <a:t>JustShingapi</a:t>
            </a:r>
            <a:r>
              <a:rPr lang="en-US" sz="2800" dirty="0">
                <a:solidFill>
                  <a:srgbClr val="3366FF"/>
                </a:solidFill>
              </a:rPr>
              <a:t/>
            </a:r>
            <a:br>
              <a:rPr lang="en-US" sz="2800" dirty="0">
                <a:solidFill>
                  <a:srgbClr val="3366FF"/>
                </a:solidFill>
              </a:rPr>
            </a:br>
            <a:r>
              <a:rPr lang="en-US" sz="2800" dirty="0"/>
              <a:t>Twitter: </a:t>
            </a:r>
            <a:r>
              <a:rPr lang="en-US" sz="2800" dirty="0" smtClean="0">
                <a:solidFill>
                  <a:srgbClr val="3366FF"/>
                </a:solidFill>
              </a:rPr>
              <a:t>@</a:t>
            </a:r>
            <a:r>
              <a:rPr lang="en-US" sz="2800" dirty="0" err="1">
                <a:solidFill>
                  <a:srgbClr val="3366FF"/>
                </a:solidFill>
              </a:rPr>
              <a:t>pyconNa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>
                <a:solidFill>
                  <a:srgbClr val="3366FF"/>
                </a:solidFill>
              </a:rPr>
              <a:t>na.pycon.org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>
                <a:solidFill>
                  <a:srgbClr val="3366FF"/>
                </a:solidFill>
              </a:rPr>
              <a:t>www.unam.na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B0A-1186-A74C-A05A-71BC8845D2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9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1380</TotalTime>
  <Words>709</Words>
  <Application>Microsoft Office PowerPoint</Application>
  <PresentationFormat>On-screen Show (4:3)</PresentationFormat>
  <Paragraphs>137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Mangal</vt:lpstr>
      <vt:lpstr>Tw Cen MT</vt:lpstr>
      <vt:lpstr>Tw Cen MT Condensed</vt:lpstr>
      <vt:lpstr>Wingdings</vt:lpstr>
      <vt:lpstr>Wingdings 3</vt:lpstr>
      <vt:lpstr>Integral</vt:lpstr>
      <vt:lpstr>UX Design: For developers or nah?</vt:lpstr>
      <vt:lpstr>Agenda/To Do/Talking Points/ …</vt:lpstr>
      <vt:lpstr>Why now</vt:lpstr>
      <vt:lpstr>How did I get into this (Graduate Student livin’ it up)</vt:lpstr>
      <vt:lpstr>How did I get into this (Graduate Student livin’ it up)</vt:lpstr>
      <vt:lpstr>How did I get into this (Graduate Student livin’ it up)</vt:lpstr>
      <vt:lpstr>How did I get into this (Graduate Student livin’ it up)</vt:lpstr>
      <vt:lpstr>How did I get into this (Graduate Student livin’ it up)</vt:lpstr>
      <vt:lpstr>How did I get into this</vt:lpstr>
      <vt:lpstr>Now we start</vt:lpstr>
      <vt:lpstr>Now we start Cont…</vt:lpstr>
      <vt:lpstr>1. You are not your users</vt:lpstr>
      <vt:lpstr>2. Know thy Users</vt:lpstr>
      <vt:lpstr>2. Know thy Users</vt:lpstr>
      <vt:lpstr>3. Not all users are the same</vt:lpstr>
      <vt:lpstr>Okay, this is the middle</vt:lpstr>
      <vt:lpstr>Okay, this is the middle</vt:lpstr>
      <vt:lpstr>Almost the end</vt:lpstr>
      <vt:lpstr>Almost almost the end</vt:lpstr>
      <vt:lpstr>References (If you can read this and you are interested in learning more about UX read the list below )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UX: For developers or nah?</dc:title>
  <dc:creator>Gabriel Tuhafeni  Nhinda</dc:creator>
  <cp:lastModifiedBy>Nhinda, Gabriel Tuhafeni</cp:lastModifiedBy>
  <cp:revision>24</cp:revision>
  <dcterms:created xsi:type="dcterms:W3CDTF">2016-11-24T13:15:17Z</dcterms:created>
  <dcterms:modified xsi:type="dcterms:W3CDTF">2018-09-11T08:19:16Z</dcterms:modified>
</cp:coreProperties>
</file>