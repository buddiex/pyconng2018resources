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7" r:id="rId3"/>
    <p:sldId id="318" r:id="rId4"/>
    <p:sldId id="287" r:id="rId5"/>
    <p:sldId id="258" r:id="rId6"/>
    <p:sldId id="260" r:id="rId7"/>
    <p:sldId id="261" r:id="rId8"/>
    <p:sldId id="328" r:id="rId9"/>
    <p:sldId id="269" r:id="rId10"/>
    <p:sldId id="262" r:id="rId11"/>
    <p:sldId id="263" r:id="rId12"/>
    <p:sldId id="264" r:id="rId13"/>
    <p:sldId id="265" r:id="rId14"/>
    <p:sldId id="266" r:id="rId15"/>
    <p:sldId id="267" r:id="rId16"/>
    <p:sldId id="326" r:id="rId17"/>
    <p:sldId id="268"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327" r:id="rId35"/>
    <p:sldId id="286" r:id="rId36"/>
    <p:sldId id="291" r:id="rId37"/>
    <p:sldId id="288" r:id="rId38"/>
    <p:sldId id="295" r:id="rId39"/>
    <p:sldId id="325" r:id="rId40"/>
    <p:sldId id="296" r:id="rId41"/>
    <p:sldId id="298" r:id="rId42"/>
    <p:sldId id="297" r:id="rId43"/>
    <p:sldId id="299" r:id="rId44"/>
    <p:sldId id="293" r:id="rId45"/>
    <p:sldId id="300" r:id="rId46"/>
    <p:sldId id="301" r:id="rId47"/>
    <p:sldId id="302" r:id="rId48"/>
    <p:sldId id="303" r:id="rId49"/>
    <p:sldId id="304" r:id="rId50"/>
    <p:sldId id="305" r:id="rId51"/>
    <p:sldId id="310" r:id="rId52"/>
    <p:sldId id="306" r:id="rId53"/>
    <p:sldId id="307" r:id="rId54"/>
    <p:sldId id="308" r:id="rId55"/>
    <p:sldId id="309" r:id="rId56"/>
    <p:sldId id="311" r:id="rId57"/>
    <p:sldId id="312" r:id="rId58"/>
    <p:sldId id="315" r:id="rId59"/>
    <p:sldId id="313" r:id="rId60"/>
    <p:sldId id="314" r:id="rId61"/>
    <p:sldId id="316" r:id="rId62"/>
    <p:sldId id="317" r:id="rId63"/>
    <p:sldId id="319" r:id="rId64"/>
    <p:sldId id="320" r:id="rId65"/>
    <p:sldId id="321" r:id="rId66"/>
    <p:sldId id="322" r:id="rId67"/>
    <p:sldId id="323" r:id="rId68"/>
    <p:sldId id="324"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4" autoAdjust="0"/>
    <p:restoredTop sz="94660"/>
  </p:normalViewPr>
  <p:slideViewPr>
    <p:cSldViewPr snapToGrid="0">
      <p:cViewPr varScale="1">
        <p:scale>
          <a:sx n="64" d="100"/>
          <a:sy n="64" d="100"/>
        </p:scale>
        <p:origin x="804" y="60"/>
      </p:cViewPr>
      <p:guideLst/>
    </p:cSldViewPr>
  </p:slideViewPr>
  <p:notesTextViewPr>
    <p:cViewPr>
      <p:scale>
        <a:sx n="1" d="1"/>
        <a:sy n="1" d="1"/>
      </p:scale>
      <p:origin x="0" y="0"/>
    </p:cViewPr>
  </p:notesTextViewPr>
  <p:sorterViewPr>
    <p:cViewPr>
      <p:scale>
        <a:sx n="100" d="100"/>
        <a:sy n="100" d="100"/>
      </p:scale>
      <p:origin x="0" y="-2515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131FF-427F-42B4-AEA1-E29B398377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82B9682-1D36-41AC-BEF6-1E65059433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E5C915-A2D3-4380-8155-62326E40AFB2}"/>
              </a:ext>
            </a:extLst>
          </p:cNvPr>
          <p:cNvSpPr>
            <a:spLocks noGrp="1"/>
          </p:cNvSpPr>
          <p:nvPr>
            <p:ph type="dt" sz="half" idx="10"/>
          </p:nvPr>
        </p:nvSpPr>
        <p:spPr/>
        <p:txBody>
          <a:bodyPr/>
          <a:lstStyle/>
          <a:p>
            <a:fld id="{470F0A65-0C9C-47D4-93C9-C117671E24BB}" type="datetimeFigureOut">
              <a:rPr lang="en-US" smtClean="0"/>
              <a:t>9/2/2018</a:t>
            </a:fld>
            <a:endParaRPr lang="en-US"/>
          </a:p>
        </p:txBody>
      </p:sp>
      <p:sp>
        <p:nvSpPr>
          <p:cNvPr id="5" name="Footer Placeholder 4">
            <a:extLst>
              <a:ext uri="{FF2B5EF4-FFF2-40B4-BE49-F238E27FC236}">
                <a16:creationId xmlns:a16="http://schemas.microsoft.com/office/drawing/2014/main" id="{98754490-F29D-4AE8-96BF-4B3382A903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9EA34A-3F09-4E0D-A044-2929B0ED874B}"/>
              </a:ext>
            </a:extLst>
          </p:cNvPr>
          <p:cNvSpPr>
            <a:spLocks noGrp="1"/>
          </p:cNvSpPr>
          <p:nvPr>
            <p:ph type="sldNum" sz="quarter" idx="12"/>
          </p:nvPr>
        </p:nvSpPr>
        <p:spPr/>
        <p:txBody>
          <a:bodyPr/>
          <a:lstStyle/>
          <a:p>
            <a:fld id="{DB505090-52EF-4E3A-BD8D-9704178EF006}" type="slidenum">
              <a:rPr lang="en-US" smtClean="0"/>
              <a:t>‹#›</a:t>
            </a:fld>
            <a:endParaRPr lang="en-US"/>
          </a:p>
        </p:txBody>
      </p:sp>
    </p:spTree>
    <p:extLst>
      <p:ext uri="{BB962C8B-B14F-4D97-AF65-F5344CB8AC3E}">
        <p14:creationId xmlns:p14="http://schemas.microsoft.com/office/powerpoint/2010/main" val="373595186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B9FCF-1331-4C14-99AC-614DDF0675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89309A-4790-4039-BAFD-71247525BB8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04A947-F452-4E69-A807-EC94733E72AD}"/>
              </a:ext>
            </a:extLst>
          </p:cNvPr>
          <p:cNvSpPr>
            <a:spLocks noGrp="1"/>
          </p:cNvSpPr>
          <p:nvPr>
            <p:ph type="dt" sz="half" idx="10"/>
          </p:nvPr>
        </p:nvSpPr>
        <p:spPr/>
        <p:txBody>
          <a:bodyPr/>
          <a:lstStyle/>
          <a:p>
            <a:fld id="{470F0A65-0C9C-47D4-93C9-C117671E24BB}" type="datetimeFigureOut">
              <a:rPr lang="en-US" smtClean="0"/>
              <a:t>9/2/2018</a:t>
            </a:fld>
            <a:endParaRPr lang="en-US"/>
          </a:p>
        </p:txBody>
      </p:sp>
      <p:sp>
        <p:nvSpPr>
          <p:cNvPr id="5" name="Footer Placeholder 4">
            <a:extLst>
              <a:ext uri="{FF2B5EF4-FFF2-40B4-BE49-F238E27FC236}">
                <a16:creationId xmlns:a16="http://schemas.microsoft.com/office/drawing/2014/main" id="{B5466BE6-CB87-4A6E-B78A-89F73062CD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18B0A8-54C4-429F-98B7-766B0DC1057E}"/>
              </a:ext>
            </a:extLst>
          </p:cNvPr>
          <p:cNvSpPr>
            <a:spLocks noGrp="1"/>
          </p:cNvSpPr>
          <p:nvPr>
            <p:ph type="sldNum" sz="quarter" idx="12"/>
          </p:nvPr>
        </p:nvSpPr>
        <p:spPr/>
        <p:txBody>
          <a:bodyPr/>
          <a:lstStyle/>
          <a:p>
            <a:fld id="{DB505090-52EF-4E3A-BD8D-9704178EF006}" type="slidenum">
              <a:rPr lang="en-US" smtClean="0"/>
              <a:t>‹#›</a:t>
            </a:fld>
            <a:endParaRPr lang="en-US"/>
          </a:p>
        </p:txBody>
      </p:sp>
    </p:spTree>
    <p:extLst>
      <p:ext uri="{BB962C8B-B14F-4D97-AF65-F5344CB8AC3E}">
        <p14:creationId xmlns:p14="http://schemas.microsoft.com/office/powerpoint/2010/main" val="3058959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30574-4B04-4B09-9A0F-2C658BC344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C484047-AC59-48B5-B3DE-DC1450B6D9F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7CBEC45-3121-4FD8-A192-CFA9ABD06584}"/>
              </a:ext>
            </a:extLst>
          </p:cNvPr>
          <p:cNvSpPr>
            <a:spLocks noGrp="1"/>
          </p:cNvSpPr>
          <p:nvPr>
            <p:ph type="dt" sz="half" idx="10"/>
          </p:nvPr>
        </p:nvSpPr>
        <p:spPr/>
        <p:txBody>
          <a:bodyPr/>
          <a:lstStyle/>
          <a:p>
            <a:fld id="{470F0A65-0C9C-47D4-93C9-C117671E24BB}" type="datetimeFigureOut">
              <a:rPr lang="en-US" smtClean="0"/>
              <a:t>9/2/2018</a:t>
            </a:fld>
            <a:endParaRPr lang="en-US"/>
          </a:p>
        </p:txBody>
      </p:sp>
      <p:sp>
        <p:nvSpPr>
          <p:cNvPr id="5" name="Footer Placeholder 4">
            <a:extLst>
              <a:ext uri="{FF2B5EF4-FFF2-40B4-BE49-F238E27FC236}">
                <a16:creationId xmlns:a16="http://schemas.microsoft.com/office/drawing/2014/main" id="{51FFD9E0-E4C4-4998-8A94-93F6627A8D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4AD066-C8C5-401D-AC5E-528C7025EC1B}"/>
              </a:ext>
            </a:extLst>
          </p:cNvPr>
          <p:cNvSpPr>
            <a:spLocks noGrp="1"/>
          </p:cNvSpPr>
          <p:nvPr>
            <p:ph type="sldNum" sz="quarter" idx="12"/>
          </p:nvPr>
        </p:nvSpPr>
        <p:spPr/>
        <p:txBody>
          <a:bodyPr/>
          <a:lstStyle/>
          <a:p>
            <a:fld id="{DB505090-52EF-4E3A-BD8D-9704178EF006}" type="slidenum">
              <a:rPr lang="en-US" smtClean="0"/>
              <a:t>‹#›</a:t>
            </a:fld>
            <a:endParaRPr lang="en-US"/>
          </a:p>
        </p:txBody>
      </p:sp>
    </p:spTree>
    <p:extLst>
      <p:ext uri="{BB962C8B-B14F-4D97-AF65-F5344CB8AC3E}">
        <p14:creationId xmlns:p14="http://schemas.microsoft.com/office/powerpoint/2010/main" val="527331063"/>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E69A5-FD18-4D01-93C4-63D2E63941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9F534F-894E-4180-80FB-DEE0ACCCDFE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5EF8EE1-A775-419E-8E16-8C142F52A56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F5505B0-9A4E-4CC9-B9CE-B408B4093A30}"/>
              </a:ext>
            </a:extLst>
          </p:cNvPr>
          <p:cNvSpPr>
            <a:spLocks noGrp="1"/>
          </p:cNvSpPr>
          <p:nvPr>
            <p:ph type="dt" sz="half" idx="10"/>
          </p:nvPr>
        </p:nvSpPr>
        <p:spPr/>
        <p:txBody>
          <a:bodyPr/>
          <a:lstStyle/>
          <a:p>
            <a:fld id="{470F0A65-0C9C-47D4-93C9-C117671E24BB}" type="datetimeFigureOut">
              <a:rPr lang="en-US" smtClean="0"/>
              <a:t>9/2/2018</a:t>
            </a:fld>
            <a:endParaRPr lang="en-US"/>
          </a:p>
        </p:txBody>
      </p:sp>
      <p:sp>
        <p:nvSpPr>
          <p:cNvPr id="6" name="Footer Placeholder 5">
            <a:extLst>
              <a:ext uri="{FF2B5EF4-FFF2-40B4-BE49-F238E27FC236}">
                <a16:creationId xmlns:a16="http://schemas.microsoft.com/office/drawing/2014/main" id="{28022FCF-1F0F-4012-9686-81E91C0430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65B764-F6CB-4141-9A7F-EFA651767025}"/>
              </a:ext>
            </a:extLst>
          </p:cNvPr>
          <p:cNvSpPr>
            <a:spLocks noGrp="1"/>
          </p:cNvSpPr>
          <p:nvPr>
            <p:ph type="sldNum" sz="quarter" idx="12"/>
          </p:nvPr>
        </p:nvSpPr>
        <p:spPr/>
        <p:txBody>
          <a:bodyPr/>
          <a:lstStyle/>
          <a:p>
            <a:fld id="{DB505090-52EF-4E3A-BD8D-9704178EF006}" type="slidenum">
              <a:rPr lang="en-US" smtClean="0"/>
              <a:t>‹#›</a:t>
            </a:fld>
            <a:endParaRPr lang="en-US"/>
          </a:p>
        </p:txBody>
      </p:sp>
    </p:spTree>
    <p:extLst>
      <p:ext uri="{BB962C8B-B14F-4D97-AF65-F5344CB8AC3E}">
        <p14:creationId xmlns:p14="http://schemas.microsoft.com/office/powerpoint/2010/main" val="3690782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FBC51-F064-4785-B994-8A7ACAD86E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F0CFF2A-C4B4-4BA2-BF12-5E69230313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6B26B29-BE21-42C4-801D-1A00BEE3068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DA67F7E-4610-4AA2-B8E1-AC3C9B005E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10119DF-3513-40EE-808D-5D7E28F150B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A9BC0D8-FD5D-467A-A4E5-E7D6A4348F07}"/>
              </a:ext>
            </a:extLst>
          </p:cNvPr>
          <p:cNvSpPr>
            <a:spLocks noGrp="1"/>
          </p:cNvSpPr>
          <p:nvPr>
            <p:ph type="dt" sz="half" idx="10"/>
          </p:nvPr>
        </p:nvSpPr>
        <p:spPr/>
        <p:txBody>
          <a:bodyPr/>
          <a:lstStyle/>
          <a:p>
            <a:fld id="{470F0A65-0C9C-47D4-93C9-C117671E24BB}" type="datetimeFigureOut">
              <a:rPr lang="en-US" smtClean="0"/>
              <a:t>9/2/2018</a:t>
            </a:fld>
            <a:endParaRPr lang="en-US"/>
          </a:p>
        </p:txBody>
      </p:sp>
      <p:sp>
        <p:nvSpPr>
          <p:cNvPr id="8" name="Footer Placeholder 7">
            <a:extLst>
              <a:ext uri="{FF2B5EF4-FFF2-40B4-BE49-F238E27FC236}">
                <a16:creationId xmlns:a16="http://schemas.microsoft.com/office/drawing/2014/main" id="{2F9DD381-F497-4431-AF28-12E9A62F592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B56DE76-5CD0-44A0-9BF3-7545BFF90068}"/>
              </a:ext>
            </a:extLst>
          </p:cNvPr>
          <p:cNvSpPr>
            <a:spLocks noGrp="1"/>
          </p:cNvSpPr>
          <p:nvPr>
            <p:ph type="sldNum" sz="quarter" idx="12"/>
          </p:nvPr>
        </p:nvSpPr>
        <p:spPr/>
        <p:txBody>
          <a:bodyPr/>
          <a:lstStyle/>
          <a:p>
            <a:fld id="{DB505090-52EF-4E3A-BD8D-9704178EF006}" type="slidenum">
              <a:rPr lang="en-US" smtClean="0"/>
              <a:t>‹#›</a:t>
            </a:fld>
            <a:endParaRPr lang="en-US"/>
          </a:p>
        </p:txBody>
      </p:sp>
    </p:spTree>
    <p:extLst>
      <p:ext uri="{BB962C8B-B14F-4D97-AF65-F5344CB8AC3E}">
        <p14:creationId xmlns:p14="http://schemas.microsoft.com/office/powerpoint/2010/main" val="543020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67E6D-9EB4-4A84-83B1-CE389B79B16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8B7758-6B77-4EB9-877F-DE2DC45D084C}"/>
              </a:ext>
            </a:extLst>
          </p:cNvPr>
          <p:cNvSpPr>
            <a:spLocks noGrp="1"/>
          </p:cNvSpPr>
          <p:nvPr>
            <p:ph type="dt" sz="half" idx="10"/>
          </p:nvPr>
        </p:nvSpPr>
        <p:spPr/>
        <p:txBody>
          <a:bodyPr/>
          <a:lstStyle/>
          <a:p>
            <a:fld id="{470F0A65-0C9C-47D4-93C9-C117671E24BB}" type="datetimeFigureOut">
              <a:rPr lang="en-US" smtClean="0"/>
              <a:t>9/2/2018</a:t>
            </a:fld>
            <a:endParaRPr lang="en-US"/>
          </a:p>
        </p:txBody>
      </p:sp>
      <p:sp>
        <p:nvSpPr>
          <p:cNvPr id="4" name="Footer Placeholder 3">
            <a:extLst>
              <a:ext uri="{FF2B5EF4-FFF2-40B4-BE49-F238E27FC236}">
                <a16:creationId xmlns:a16="http://schemas.microsoft.com/office/drawing/2014/main" id="{48740A52-2281-43D4-835A-1BD2AF5840B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03A35DD-5E2B-4DEF-AAF1-FAFB7FCC23F4}"/>
              </a:ext>
            </a:extLst>
          </p:cNvPr>
          <p:cNvSpPr>
            <a:spLocks noGrp="1"/>
          </p:cNvSpPr>
          <p:nvPr>
            <p:ph type="sldNum" sz="quarter" idx="12"/>
          </p:nvPr>
        </p:nvSpPr>
        <p:spPr/>
        <p:txBody>
          <a:bodyPr/>
          <a:lstStyle/>
          <a:p>
            <a:fld id="{DB505090-52EF-4E3A-BD8D-9704178EF006}" type="slidenum">
              <a:rPr lang="en-US" smtClean="0"/>
              <a:t>‹#›</a:t>
            </a:fld>
            <a:endParaRPr lang="en-US"/>
          </a:p>
        </p:txBody>
      </p:sp>
    </p:spTree>
    <p:extLst>
      <p:ext uri="{BB962C8B-B14F-4D97-AF65-F5344CB8AC3E}">
        <p14:creationId xmlns:p14="http://schemas.microsoft.com/office/powerpoint/2010/main" val="3304877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AF083C-ED42-4BBC-81D8-F4D852C7E5B8}"/>
              </a:ext>
            </a:extLst>
          </p:cNvPr>
          <p:cNvSpPr>
            <a:spLocks noGrp="1"/>
          </p:cNvSpPr>
          <p:nvPr>
            <p:ph type="dt" sz="half" idx="10"/>
          </p:nvPr>
        </p:nvSpPr>
        <p:spPr/>
        <p:txBody>
          <a:bodyPr/>
          <a:lstStyle/>
          <a:p>
            <a:fld id="{470F0A65-0C9C-47D4-93C9-C117671E24BB}" type="datetimeFigureOut">
              <a:rPr lang="en-US" smtClean="0"/>
              <a:t>9/2/2018</a:t>
            </a:fld>
            <a:endParaRPr lang="en-US"/>
          </a:p>
        </p:txBody>
      </p:sp>
      <p:sp>
        <p:nvSpPr>
          <p:cNvPr id="3" name="Footer Placeholder 2">
            <a:extLst>
              <a:ext uri="{FF2B5EF4-FFF2-40B4-BE49-F238E27FC236}">
                <a16:creationId xmlns:a16="http://schemas.microsoft.com/office/drawing/2014/main" id="{EBA60069-6F33-49EE-AD07-D61D0780AE9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8DDCEA9-B324-43FE-9E04-75225F8DDDCA}"/>
              </a:ext>
            </a:extLst>
          </p:cNvPr>
          <p:cNvSpPr>
            <a:spLocks noGrp="1"/>
          </p:cNvSpPr>
          <p:nvPr>
            <p:ph type="sldNum" sz="quarter" idx="12"/>
          </p:nvPr>
        </p:nvSpPr>
        <p:spPr/>
        <p:txBody>
          <a:bodyPr/>
          <a:lstStyle/>
          <a:p>
            <a:fld id="{DB505090-52EF-4E3A-BD8D-9704178EF006}" type="slidenum">
              <a:rPr lang="en-US" smtClean="0"/>
              <a:t>‹#›</a:t>
            </a:fld>
            <a:endParaRPr lang="en-US"/>
          </a:p>
        </p:txBody>
      </p:sp>
    </p:spTree>
    <p:extLst>
      <p:ext uri="{BB962C8B-B14F-4D97-AF65-F5344CB8AC3E}">
        <p14:creationId xmlns:p14="http://schemas.microsoft.com/office/powerpoint/2010/main" val="172799947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7524F-1B2C-44A6-B753-7BCDA60B92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A74496D-E82C-4F38-8D57-A7F708D1E7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1F677B9-8FFF-4325-A864-271F081D20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C56B98C-0A87-4A0B-A2F4-7DADB4136679}"/>
              </a:ext>
            </a:extLst>
          </p:cNvPr>
          <p:cNvSpPr>
            <a:spLocks noGrp="1"/>
          </p:cNvSpPr>
          <p:nvPr>
            <p:ph type="dt" sz="half" idx="10"/>
          </p:nvPr>
        </p:nvSpPr>
        <p:spPr/>
        <p:txBody>
          <a:bodyPr/>
          <a:lstStyle/>
          <a:p>
            <a:fld id="{470F0A65-0C9C-47D4-93C9-C117671E24BB}" type="datetimeFigureOut">
              <a:rPr lang="en-US" smtClean="0"/>
              <a:t>9/2/2018</a:t>
            </a:fld>
            <a:endParaRPr lang="en-US"/>
          </a:p>
        </p:txBody>
      </p:sp>
      <p:sp>
        <p:nvSpPr>
          <p:cNvPr id="6" name="Footer Placeholder 5">
            <a:extLst>
              <a:ext uri="{FF2B5EF4-FFF2-40B4-BE49-F238E27FC236}">
                <a16:creationId xmlns:a16="http://schemas.microsoft.com/office/drawing/2014/main" id="{0DE5B167-2BD3-4ACE-AFB3-5FBDA33A56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9DD7F2-74BA-4F1A-8BE5-4E31E452C90B}"/>
              </a:ext>
            </a:extLst>
          </p:cNvPr>
          <p:cNvSpPr>
            <a:spLocks noGrp="1"/>
          </p:cNvSpPr>
          <p:nvPr>
            <p:ph type="sldNum" sz="quarter" idx="12"/>
          </p:nvPr>
        </p:nvSpPr>
        <p:spPr/>
        <p:txBody>
          <a:bodyPr/>
          <a:lstStyle/>
          <a:p>
            <a:fld id="{DB505090-52EF-4E3A-BD8D-9704178EF006}" type="slidenum">
              <a:rPr lang="en-US" smtClean="0"/>
              <a:t>‹#›</a:t>
            </a:fld>
            <a:endParaRPr lang="en-US"/>
          </a:p>
        </p:txBody>
      </p:sp>
    </p:spTree>
    <p:extLst>
      <p:ext uri="{BB962C8B-B14F-4D97-AF65-F5344CB8AC3E}">
        <p14:creationId xmlns:p14="http://schemas.microsoft.com/office/powerpoint/2010/main" val="316765508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A5D35-7B5E-44B2-91B8-3188D70716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C46C24-D817-4CE7-943F-1DDC799F10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CC586B6-786A-4719-8ED8-CA57797113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4C080E5-29EA-4069-8902-F9C84179FDEC}"/>
              </a:ext>
            </a:extLst>
          </p:cNvPr>
          <p:cNvSpPr>
            <a:spLocks noGrp="1"/>
          </p:cNvSpPr>
          <p:nvPr>
            <p:ph type="dt" sz="half" idx="10"/>
          </p:nvPr>
        </p:nvSpPr>
        <p:spPr/>
        <p:txBody>
          <a:bodyPr/>
          <a:lstStyle/>
          <a:p>
            <a:fld id="{470F0A65-0C9C-47D4-93C9-C117671E24BB}" type="datetimeFigureOut">
              <a:rPr lang="en-US" smtClean="0"/>
              <a:t>9/2/2018</a:t>
            </a:fld>
            <a:endParaRPr lang="en-US"/>
          </a:p>
        </p:txBody>
      </p:sp>
      <p:sp>
        <p:nvSpPr>
          <p:cNvPr id="6" name="Footer Placeholder 5">
            <a:extLst>
              <a:ext uri="{FF2B5EF4-FFF2-40B4-BE49-F238E27FC236}">
                <a16:creationId xmlns:a16="http://schemas.microsoft.com/office/drawing/2014/main" id="{B6556578-6AD8-4D2E-9E46-97DC7C21F8B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AED5B5C-B0C9-46F0-9C3D-239F03D4F986}"/>
              </a:ext>
            </a:extLst>
          </p:cNvPr>
          <p:cNvSpPr>
            <a:spLocks noGrp="1"/>
          </p:cNvSpPr>
          <p:nvPr>
            <p:ph type="sldNum" sz="quarter" idx="12"/>
          </p:nvPr>
        </p:nvSpPr>
        <p:spPr/>
        <p:txBody>
          <a:bodyPr/>
          <a:lstStyle/>
          <a:p>
            <a:fld id="{DB505090-52EF-4E3A-BD8D-9704178EF006}" type="slidenum">
              <a:rPr lang="en-US" smtClean="0"/>
              <a:t>‹#›</a:t>
            </a:fld>
            <a:endParaRPr lang="en-US"/>
          </a:p>
        </p:txBody>
      </p:sp>
    </p:spTree>
    <p:extLst>
      <p:ext uri="{BB962C8B-B14F-4D97-AF65-F5344CB8AC3E}">
        <p14:creationId xmlns:p14="http://schemas.microsoft.com/office/powerpoint/2010/main" val="309620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E00C6-02FC-4E51-A9B9-082DD66D10E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17F098B-59B8-4F8B-BA88-7A3C75DE173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67C7B6-DF19-4D0F-9A8B-C6967F628458}"/>
              </a:ext>
            </a:extLst>
          </p:cNvPr>
          <p:cNvSpPr>
            <a:spLocks noGrp="1"/>
          </p:cNvSpPr>
          <p:nvPr>
            <p:ph type="dt" sz="half" idx="10"/>
          </p:nvPr>
        </p:nvSpPr>
        <p:spPr/>
        <p:txBody>
          <a:bodyPr/>
          <a:lstStyle/>
          <a:p>
            <a:fld id="{470F0A65-0C9C-47D4-93C9-C117671E24BB}" type="datetimeFigureOut">
              <a:rPr lang="en-US" smtClean="0"/>
              <a:t>9/2/2018</a:t>
            </a:fld>
            <a:endParaRPr lang="en-US"/>
          </a:p>
        </p:txBody>
      </p:sp>
      <p:sp>
        <p:nvSpPr>
          <p:cNvPr id="5" name="Footer Placeholder 4">
            <a:extLst>
              <a:ext uri="{FF2B5EF4-FFF2-40B4-BE49-F238E27FC236}">
                <a16:creationId xmlns:a16="http://schemas.microsoft.com/office/drawing/2014/main" id="{B9C87D8F-A455-4137-A85B-767D5B6AEF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A562EE-1A87-4F57-9A02-121C5D81AB72}"/>
              </a:ext>
            </a:extLst>
          </p:cNvPr>
          <p:cNvSpPr>
            <a:spLocks noGrp="1"/>
          </p:cNvSpPr>
          <p:nvPr>
            <p:ph type="sldNum" sz="quarter" idx="12"/>
          </p:nvPr>
        </p:nvSpPr>
        <p:spPr/>
        <p:txBody>
          <a:bodyPr/>
          <a:lstStyle/>
          <a:p>
            <a:fld id="{DB505090-52EF-4E3A-BD8D-9704178EF006}" type="slidenum">
              <a:rPr lang="en-US" smtClean="0"/>
              <a:t>‹#›</a:t>
            </a:fld>
            <a:endParaRPr lang="en-US"/>
          </a:p>
        </p:txBody>
      </p:sp>
    </p:spTree>
    <p:extLst>
      <p:ext uri="{BB962C8B-B14F-4D97-AF65-F5344CB8AC3E}">
        <p14:creationId xmlns:p14="http://schemas.microsoft.com/office/powerpoint/2010/main" val="1744663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A51C38-8915-4B5A-9183-D728B0866FD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397B6E-0E49-46A0-A917-18B3AE2ABEE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53C395-DFE8-48FB-B122-980BCC1308A7}"/>
              </a:ext>
            </a:extLst>
          </p:cNvPr>
          <p:cNvSpPr>
            <a:spLocks noGrp="1"/>
          </p:cNvSpPr>
          <p:nvPr>
            <p:ph type="dt" sz="half" idx="10"/>
          </p:nvPr>
        </p:nvSpPr>
        <p:spPr/>
        <p:txBody>
          <a:bodyPr/>
          <a:lstStyle/>
          <a:p>
            <a:fld id="{470F0A65-0C9C-47D4-93C9-C117671E24BB}" type="datetimeFigureOut">
              <a:rPr lang="en-US" smtClean="0"/>
              <a:t>9/2/2018</a:t>
            </a:fld>
            <a:endParaRPr lang="en-US"/>
          </a:p>
        </p:txBody>
      </p:sp>
      <p:sp>
        <p:nvSpPr>
          <p:cNvPr id="5" name="Footer Placeholder 4">
            <a:extLst>
              <a:ext uri="{FF2B5EF4-FFF2-40B4-BE49-F238E27FC236}">
                <a16:creationId xmlns:a16="http://schemas.microsoft.com/office/drawing/2014/main" id="{F5A01100-DEBD-40DF-94A3-29D5080CD1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8B9FB6-1C37-43B3-A034-1616A682875B}"/>
              </a:ext>
            </a:extLst>
          </p:cNvPr>
          <p:cNvSpPr>
            <a:spLocks noGrp="1"/>
          </p:cNvSpPr>
          <p:nvPr>
            <p:ph type="sldNum" sz="quarter" idx="12"/>
          </p:nvPr>
        </p:nvSpPr>
        <p:spPr/>
        <p:txBody>
          <a:bodyPr/>
          <a:lstStyle/>
          <a:p>
            <a:fld id="{DB505090-52EF-4E3A-BD8D-9704178EF006}" type="slidenum">
              <a:rPr lang="en-US" smtClean="0"/>
              <a:t>‹#›</a:t>
            </a:fld>
            <a:endParaRPr lang="en-US"/>
          </a:p>
        </p:txBody>
      </p:sp>
    </p:spTree>
    <p:extLst>
      <p:ext uri="{BB962C8B-B14F-4D97-AF65-F5344CB8AC3E}">
        <p14:creationId xmlns:p14="http://schemas.microsoft.com/office/powerpoint/2010/main" val="1977950511"/>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910CB2-337B-471D-BB23-07D1E0BCC9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1F2C0A-C797-4D8D-BD5B-1436B18692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8A2764-68B2-42C1-B018-C04E80B83D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0F0A65-0C9C-47D4-93C9-C117671E24BB}" type="datetimeFigureOut">
              <a:rPr lang="en-US" smtClean="0"/>
              <a:t>9/2/2018</a:t>
            </a:fld>
            <a:endParaRPr lang="en-US"/>
          </a:p>
        </p:txBody>
      </p:sp>
      <p:sp>
        <p:nvSpPr>
          <p:cNvPr id="5" name="Footer Placeholder 4">
            <a:extLst>
              <a:ext uri="{FF2B5EF4-FFF2-40B4-BE49-F238E27FC236}">
                <a16:creationId xmlns:a16="http://schemas.microsoft.com/office/drawing/2014/main" id="{3D118441-786E-48A9-8479-A0CCA99B07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CDE3758-5876-48AA-92BA-2B074BA395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505090-52EF-4E3A-BD8D-9704178EF006}" type="slidenum">
              <a:rPr lang="en-US" smtClean="0"/>
              <a:t>‹#›</a:t>
            </a:fld>
            <a:endParaRPr lang="en-US"/>
          </a:p>
        </p:txBody>
      </p:sp>
    </p:spTree>
    <p:extLst>
      <p:ext uri="{BB962C8B-B14F-4D97-AF65-F5344CB8AC3E}">
        <p14:creationId xmlns:p14="http://schemas.microsoft.com/office/powerpoint/2010/main" val="3395712884"/>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ogbanugot@gmail.com" TargetMode="Externa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github.com/ogbanugot/Artificial-Neural-Network-" TargetMode="Externa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11.jpg"/></Relationships>
</file>

<file path=ppt/slides/_rels/slide9.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hyperlink" Target="https://stanford.edu/~shervine/teaching/cs-229/cheatsheet-deep-learning.html" TargetMode="External"/><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JP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2.JP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2.JPG"/><Relationship Id="rId1" Type="http://schemas.openxmlformats.org/officeDocument/2006/relationships/slideLayout" Target="../slideLayouts/slideLayout4.xml"/><Relationship Id="rId4" Type="http://schemas.openxmlformats.org/officeDocument/2006/relationships/image" Target="../media/image170.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2.JPG"/><Relationship Id="rId1" Type="http://schemas.openxmlformats.org/officeDocument/2006/relationships/slideLayout" Target="../slideLayouts/slideLayout4.xml"/><Relationship Id="rId4" Type="http://schemas.openxmlformats.org/officeDocument/2006/relationships/image" Target="../media/image170.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2.JPG"/><Relationship Id="rId1" Type="http://schemas.openxmlformats.org/officeDocument/2006/relationships/slideLayout" Target="../slideLayouts/slideLayout4.xml"/><Relationship Id="rId6" Type="http://schemas.openxmlformats.org/officeDocument/2006/relationships/image" Target="../media/image150.png"/><Relationship Id="rId5" Type="http://schemas.openxmlformats.org/officeDocument/2006/relationships/image" Target="../media/image22.png"/><Relationship Id="rId4" Type="http://schemas.openxmlformats.org/officeDocument/2006/relationships/image" Target="../media/image20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3.JPG"/><Relationship Id="rId1" Type="http://schemas.openxmlformats.org/officeDocument/2006/relationships/slideLayout" Target="../slideLayouts/slideLayout4.xml"/><Relationship Id="rId4" Type="http://schemas.openxmlformats.org/officeDocument/2006/relationships/image" Target="../media/image26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4.jp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hyperlink" Target="https://blog.keras.io/the-limitations-of-deep-learning.html" TargetMode="External"/><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github.com/ogbanugot/Artificial-Neural-Network-" TargetMode="Externa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hyperlink" Target="https://keras.io/" TargetMode="Externa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hyperlink" Target="http://scikit-learn.org/stable/modules/generated/sklearn.metrics.confusion_matrix.html" TargetMode="Externa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10.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A7CA4-7E22-4C73-9FCD-12A1DB27ADAD}"/>
              </a:ext>
            </a:extLst>
          </p:cNvPr>
          <p:cNvSpPr>
            <a:spLocks noGrp="1"/>
          </p:cNvSpPr>
          <p:nvPr>
            <p:ph type="ctrTitle"/>
          </p:nvPr>
        </p:nvSpPr>
        <p:spPr/>
        <p:txBody>
          <a:bodyPr>
            <a:normAutofit fontScale="90000"/>
          </a:bodyPr>
          <a:lstStyle/>
          <a:p>
            <a:r>
              <a:rPr lang="en-US" dirty="0"/>
              <a:t>Getting Started with Deep Learning using Keras</a:t>
            </a:r>
            <a:br>
              <a:rPr lang="en-US" dirty="0"/>
            </a:br>
            <a:endParaRPr lang="en-US" dirty="0"/>
          </a:p>
        </p:txBody>
      </p:sp>
      <p:sp>
        <p:nvSpPr>
          <p:cNvPr id="3" name="Subtitle 2">
            <a:extLst>
              <a:ext uri="{FF2B5EF4-FFF2-40B4-BE49-F238E27FC236}">
                <a16:creationId xmlns:a16="http://schemas.microsoft.com/office/drawing/2014/main" id="{D1E4A246-2B9A-465E-A69C-D8FB71BD0583}"/>
              </a:ext>
            </a:extLst>
          </p:cNvPr>
          <p:cNvSpPr>
            <a:spLocks noGrp="1"/>
          </p:cNvSpPr>
          <p:nvPr>
            <p:ph type="subTitle" idx="1"/>
          </p:nvPr>
        </p:nvSpPr>
        <p:spPr/>
        <p:txBody>
          <a:bodyPr/>
          <a:lstStyle/>
          <a:p>
            <a:r>
              <a:rPr lang="en-US" sz="2800" dirty="0"/>
              <a:t>Ogban-Asuquo Ugot</a:t>
            </a:r>
          </a:p>
          <a:p>
            <a:endParaRPr lang="en-US" dirty="0"/>
          </a:p>
          <a:p>
            <a:r>
              <a:rPr lang="en-US" dirty="0">
                <a:hlinkClick r:id="rId2"/>
              </a:rPr>
              <a:t>ogbanugot@gmail.com</a:t>
            </a:r>
            <a:r>
              <a:rPr lang="en-US" dirty="0"/>
              <a:t>                   @</a:t>
            </a:r>
            <a:r>
              <a:rPr lang="en-US" dirty="0" err="1"/>
              <a:t>ogbanugot</a:t>
            </a:r>
            <a:r>
              <a:rPr lang="en-US" dirty="0"/>
              <a:t>                     </a:t>
            </a:r>
            <a:r>
              <a:rPr lang="en-US" dirty="0" err="1"/>
              <a:t>ogbanugot</a:t>
            </a:r>
            <a:endParaRPr lang="en-US" dirty="0"/>
          </a:p>
          <a:p>
            <a:endParaRPr lang="en-US" dirty="0"/>
          </a:p>
        </p:txBody>
      </p:sp>
      <p:pic>
        <p:nvPicPr>
          <p:cNvPr id="5" name="Picture 4">
            <a:extLst>
              <a:ext uri="{FF2B5EF4-FFF2-40B4-BE49-F238E27FC236}">
                <a16:creationId xmlns:a16="http://schemas.microsoft.com/office/drawing/2014/main" id="{E16345A0-73BE-4E4B-A50B-A0FA2C09DA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9134" y="4564337"/>
            <a:ext cx="409731" cy="409731"/>
          </a:xfrm>
          <a:prstGeom prst="rect">
            <a:avLst/>
          </a:prstGeom>
        </p:spPr>
      </p:pic>
      <p:pic>
        <p:nvPicPr>
          <p:cNvPr id="7" name="Picture 6">
            <a:extLst>
              <a:ext uri="{FF2B5EF4-FFF2-40B4-BE49-F238E27FC236}">
                <a16:creationId xmlns:a16="http://schemas.microsoft.com/office/drawing/2014/main" id="{324BAF7F-C543-40D6-AE5D-46FD1B9545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81871" y="4498247"/>
            <a:ext cx="541910" cy="541910"/>
          </a:xfrm>
          <a:prstGeom prst="rect">
            <a:avLst/>
          </a:prstGeom>
        </p:spPr>
      </p:pic>
      <p:pic>
        <p:nvPicPr>
          <p:cNvPr id="9" name="Picture 8">
            <a:extLst>
              <a:ext uri="{FF2B5EF4-FFF2-40B4-BE49-F238E27FC236}">
                <a16:creationId xmlns:a16="http://schemas.microsoft.com/office/drawing/2014/main" id="{D493C6ED-8ACD-4D73-B86B-6A476F2B54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6603" y="4432157"/>
            <a:ext cx="541911" cy="541911"/>
          </a:xfrm>
          <a:prstGeom prst="rect">
            <a:avLst/>
          </a:prstGeom>
        </p:spPr>
      </p:pic>
      <p:pic>
        <p:nvPicPr>
          <p:cNvPr id="6" name="Picture 5">
            <a:extLst>
              <a:ext uri="{FF2B5EF4-FFF2-40B4-BE49-F238E27FC236}">
                <a16:creationId xmlns:a16="http://schemas.microsoft.com/office/drawing/2014/main" id="{B11521C3-87C5-44D9-8CD1-AB7D352F461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1252" y="1168185"/>
            <a:ext cx="1655763" cy="1655763"/>
          </a:xfrm>
          <a:prstGeom prst="rect">
            <a:avLst/>
          </a:prstGeom>
        </p:spPr>
      </p:pic>
    </p:spTree>
    <p:extLst>
      <p:ext uri="{BB962C8B-B14F-4D97-AF65-F5344CB8AC3E}">
        <p14:creationId xmlns:p14="http://schemas.microsoft.com/office/powerpoint/2010/main" val="2393302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240B6-97C1-4192-8759-99FFC8130169}"/>
              </a:ext>
            </a:extLst>
          </p:cNvPr>
          <p:cNvSpPr>
            <a:spLocks noGrp="1"/>
          </p:cNvSpPr>
          <p:nvPr>
            <p:ph type="title"/>
          </p:nvPr>
        </p:nvSpPr>
        <p:spPr/>
        <p:txBody>
          <a:bodyPr>
            <a:normAutofit/>
          </a:bodyPr>
          <a:lstStyle/>
          <a:p>
            <a:pPr algn="ctr"/>
            <a:r>
              <a:rPr lang="en-US" dirty="0"/>
              <a:t>Outline </a:t>
            </a:r>
          </a:p>
        </p:txBody>
      </p:sp>
      <p:sp>
        <p:nvSpPr>
          <p:cNvPr id="3" name="Content Placeholder 2">
            <a:extLst>
              <a:ext uri="{FF2B5EF4-FFF2-40B4-BE49-F238E27FC236}">
                <a16:creationId xmlns:a16="http://schemas.microsoft.com/office/drawing/2014/main" id="{8A2F1A69-3365-4598-BE0B-9E23C3B7C244}"/>
              </a:ext>
            </a:extLst>
          </p:cNvPr>
          <p:cNvSpPr>
            <a:spLocks noGrp="1"/>
          </p:cNvSpPr>
          <p:nvPr>
            <p:ph sz="half" idx="1"/>
          </p:nvPr>
        </p:nvSpPr>
        <p:spPr/>
        <p:txBody>
          <a:bodyPr>
            <a:normAutofit fontScale="55000" lnSpcReduction="20000"/>
          </a:bodyPr>
          <a:lstStyle/>
          <a:p>
            <a:pPr marL="0" indent="0">
              <a:buNone/>
            </a:pPr>
            <a:r>
              <a:rPr lang="en-US" b="1" dirty="0"/>
              <a:t>Theory session (Time: 50 minutes):</a:t>
            </a:r>
          </a:p>
          <a:p>
            <a:pPr lvl="0"/>
            <a:r>
              <a:rPr lang="en-US" dirty="0"/>
              <a:t>Introduction</a:t>
            </a:r>
          </a:p>
          <a:p>
            <a:pPr lvl="0"/>
            <a:r>
              <a:rPr lang="en-US" dirty="0"/>
              <a:t>What is Deep learning</a:t>
            </a:r>
          </a:p>
          <a:p>
            <a:pPr lvl="0"/>
            <a:r>
              <a:rPr lang="en-US" dirty="0"/>
              <a:t>Deep Learning Architecture</a:t>
            </a:r>
          </a:p>
          <a:p>
            <a:r>
              <a:rPr lang="en-US" dirty="0"/>
              <a:t>How do Neural Networks work?</a:t>
            </a:r>
          </a:p>
          <a:p>
            <a:pPr lvl="0"/>
            <a:r>
              <a:rPr lang="en-US" dirty="0"/>
              <a:t>Activation functions and output nodes</a:t>
            </a:r>
          </a:p>
          <a:p>
            <a:pPr lvl="0"/>
            <a:r>
              <a:rPr lang="en-US" dirty="0"/>
              <a:t>How do Neural Networks learn?</a:t>
            </a:r>
          </a:p>
          <a:p>
            <a:r>
              <a:rPr lang="en-US" dirty="0"/>
              <a:t>Cost functions</a:t>
            </a:r>
          </a:p>
          <a:p>
            <a:r>
              <a:rPr lang="en-US" dirty="0"/>
              <a:t>Backpropagation</a:t>
            </a:r>
          </a:p>
          <a:p>
            <a:pPr lvl="0"/>
            <a:r>
              <a:rPr lang="en-US" dirty="0"/>
              <a:t>Gradient descent </a:t>
            </a:r>
          </a:p>
          <a:p>
            <a:pPr lvl="0"/>
            <a:r>
              <a:rPr lang="en-US" dirty="0"/>
              <a:t>Modern practices in deep learning</a:t>
            </a:r>
          </a:p>
          <a:p>
            <a:pPr lvl="0"/>
            <a:r>
              <a:rPr lang="en-US" dirty="0"/>
              <a:t>Deep learning and hardware requirements</a:t>
            </a:r>
          </a:p>
          <a:p>
            <a:pPr lvl="0"/>
            <a:r>
              <a:rPr lang="en-US" dirty="0"/>
              <a:t>Limitations of Deep learning</a:t>
            </a:r>
          </a:p>
          <a:p>
            <a:pPr lvl="0"/>
            <a:r>
              <a:rPr lang="en-US" dirty="0"/>
              <a:t>Summary</a:t>
            </a:r>
          </a:p>
          <a:p>
            <a:pPr lvl="0"/>
            <a:r>
              <a:rPr lang="en-US" b="1" dirty="0"/>
              <a:t>Q&amp;A session (Time: 10 minutes)</a:t>
            </a:r>
          </a:p>
          <a:p>
            <a:pPr marL="0" indent="0">
              <a:buNone/>
            </a:pPr>
            <a:endParaRPr lang="en-US" dirty="0"/>
          </a:p>
        </p:txBody>
      </p:sp>
      <p:pic>
        <p:nvPicPr>
          <p:cNvPr id="6" name="Content Placeholder 5">
            <a:extLst>
              <a:ext uri="{FF2B5EF4-FFF2-40B4-BE49-F238E27FC236}">
                <a16:creationId xmlns:a16="http://schemas.microsoft.com/office/drawing/2014/main" id="{89D99A0A-ECED-4DC6-86D8-EE33657CFEC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277133" y="2303243"/>
            <a:ext cx="3866396" cy="2976378"/>
          </a:xfrm>
        </p:spPr>
      </p:pic>
    </p:spTree>
    <p:extLst>
      <p:ext uri="{BB962C8B-B14F-4D97-AF65-F5344CB8AC3E}">
        <p14:creationId xmlns:p14="http://schemas.microsoft.com/office/powerpoint/2010/main" val="1458678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35973-978F-4FC4-92DF-35B7BC4F6898}"/>
              </a:ext>
            </a:extLst>
          </p:cNvPr>
          <p:cNvSpPr>
            <a:spLocks noGrp="1"/>
          </p:cNvSpPr>
          <p:nvPr>
            <p:ph type="title"/>
          </p:nvPr>
        </p:nvSpPr>
        <p:spPr/>
        <p:txBody>
          <a:bodyPr/>
          <a:lstStyle/>
          <a:p>
            <a:pPr algn="ctr"/>
            <a:r>
              <a:rPr lang="en-US" dirty="0"/>
              <a:t>Outline</a:t>
            </a:r>
          </a:p>
        </p:txBody>
      </p:sp>
      <p:sp>
        <p:nvSpPr>
          <p:cNvPr id="3" name="Content Placeholder 2">
            <a:extLst>
              <a:ext uri="{FF2B5EF4-FFF2-40B4-BE49-F238E27FC236}">
                <a16:creationId xmlns:a16="http://schemas.microsoft.com/office/drawing/2014/main" id="{57F5D882-7B62-4279-AD24-D98000359D19}"/>
              </a:ext>
            </a:extLst>
          </p:cNvPr>
          <p:cNvSpPr>
            <a:spLocks noGrp="1"/>
          </p:cNvSpPr>
          <p:nvPr>
            <p:ph sz="half" idx="1"/>
          </p:nvPr>
        </p:nvSpPr>
        <p:spPr/>
        <p:txBody>
          <a:bodyPr>
            <a:normAutofit/>
          </a:bodyPr>
          <a:lstStyle/>
          <a:p>
            <a:pPr marL="0" indent="0">
              <a:buNone/>
            </a:pPr>
            <a:r>
              <a:rPr lang="en-US" sz="2000" b="1" dirty="0"/>
              <a:t>Practical session (Time: 40 minutes):</a:t>
            </a:r>
          </a:p>
          <a:p>
            <a:r>
              <a:rPr lang="en-US" sz="2000" dirty="0"/>
              <a:t>About Keras</a:t>
            </a:r>
          </a:p>
          <a:p>
            <a:r>
              <a:rPr lang="en-US" sz="2000" dirty="0"/>
              <a:t>Data preprocessing</a:t>
            </a:r>
          </a:p>
          <a:p>
            <a:pPr lvl="0"/>
            <a:r>
              <a:rPr lang="en-US" sz="2000" dirty="0"/>
              <a:t>Building the ANN</a:t>
            </a:r>
          </a:p>
          <a:p>
            <a:pPr lvl="0"/>
            <a:r>
              <a:rPr lang="en-US" sz="2000" dirty="0"/>
              <a:t>Training the ANN</a:t>
            </a:r>
          </a:p>
          <a:p>
            <a:pPr lvl="0"/>
            <a:r>
              <a:rPr lang="en-US" sz="2000" dirty="0"/>
              <a:t>Testing the ANN</a:t>
            </a:r>
          </a:p>
          <a:p>
            <a:pPr lvl="0"/>
            <a:r>
              <a:rPr lang="en-US" sz="2000" dirty="0"/>
              <a:t>Plotting, saving and loading Keras models </a:t>
            </a:r>
          </a:p>
          <a:p>
            <a:pPr marL="0" indent="0">
              <a:buNone/>
            </a:pPr>
            <a:endParaRPr lang="en-US" sz="2000" b="1" dirty="0"/>
          </a:p>
          <a:p>
            <a:pPr marL="0" indent="0">
              <a:buNone/>
            </a:pPr>
            <a:r>
              <a:rPr lang="en-US" sz="2000" b="1" dirty="0"/>
              <a:t>Source Code:</a:t>
            </a:r>
          </a:p>
          <a:p>
            <a:pPr marL="0" indent="0">
              <a:buNone/>
            </a:pPr>
            <a:r>
              <a:rPr lang="en-US" sz="2000" dirty="0">
                <a:hlinkClick r:id="rId2"/>
              </a:rPr>
              <a:t>https://github.com/ogbanugot/Artificial-Neural-Network-</a:t>
            </a:r>
            <a:endParaRPr lang="en-US" sz="2000" dirty="0"/>
          </a:p>
        </p:txBody>
      </p:sp>
      <p:pic>
        <p:nvPicPr>
          <p:cNvPr id="7" name="Content Placeholder 6">
            <a:extLst>
              <a:ext uri="{FF2B5EF4-FFF2-40B4-BE49-F238E27FC236}">
                <a16:creationId xmlns:a16="http://schemas.microsoft.com/office/drawing/2014/main" id="{A1FA35CA-A8E5-435C-89C6-0BA3A68F3BA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770179" y="2175641"/>
            <a:ext cx="5583621" cy="3878318"/>
          </a:xfrm>
        </p:spPr>
      </p:pic>
    </p:spTree>
    <p:extLst>
      <p:ext uri="{BB962C8B-B14F-4D97-AF65-F5344CB8AC3E}">
        <p14:creationId xmlns:p14="http://schemas.microsoft.com/office/powerpoint/2010/main" val="1862365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668D6-1F1D-4DD6-9B26-C451CBED164A}"/>
              </a:ext>
            </a:extLst>
          </p:cNvPr>
          <p:cNvSpPr>
            <a:spLocks noGrp="1"/>
          </p:cNvSpPr>
          <p:nvPr>
            <p:ph type="ctrTitle"/>
          </p:nvPr>
        </p:nvSpPr>
        <p:spPr/>
        <p:txBody>
          <a:bodyPr/>
          <a:lstStyle/>
          <a:p>
            <a:r>
              <a:rPr lang="en-US" dirty="0"/>
              <a:t>Theory Session </a:t>
            </a:r>
          </a:p>
        </p:txBody>
      </p:sp>
    </p:spTree>
    <p:extLst>
      <p:ext uri="{BB962C8B-B14F-4D97-AF65-F5344CB8AC3E}">
        <p14:creationId xmlns:p14="http://schemas.microsoft.com/office/powerpoint/2010/main" val="2878470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F7B4F-3EE4-48B2-AB69-3F384E57AB7B}"/>
              </a:ext>
            </a:extLst>
          </p:cNvPr>
          <p:cNvSpPr>
            <a:spLocks noGrp="1"/>
          </p:cNvSpPr>
          <p:nvPr>
            <p:ph type="title"/>
          </p:nvPr>
        </p:nvSpPr>
        <p:spPr/>
        <p:txBody>
          <a:bodyPr/>
          <a:lstStyle/>
          <a:p>
            <a:pPr algn="ctr"/>
            <a:r>
              <a:rPr lang="en-US" dirty="0"/>
              <a:t>Introduction</a:t>
            </a:r>
          </a:p>
        </p:txBody>
      </p:sp>
      <p:pic>
        <p:nvPicPr>
          <p:cNvPr id="5" name="Content Placeholder 4">
            <a:extLst>
              <a:ext uri="{FF2B5EF4-FFF2-40B4-BE49-F238E27FC236}">
                <a16:creationId xmlns:a16="http://schemas.microsoft.com/office/drawing/2014/main" id="{CB7F24CA-A85F-4D8B-A303-10634557EF3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60129" y="2218544"/>
            <a:ext cx="4746192" cy="3991509"/>
          </a:xfrm>
        </p:spPr>
      </p:pic>
      <p:sp>
        <p:nvSpPr>
          <p:cNvPr id="6" name="Content Placeholder 5">
            <a:extLst>
              <a:ext uri="{FF2B5EF4-FFF2-40B4-BE49-F238E27FC236}">
                <a16:creationId xmlns:a16="http://schemas.microsoft.com/office/drawing/2014/main" id="{6F534661-93B0-4EA3-83BD-A51EFAF3D6D7}"/>
              </a:ext>
            </a:extLst>
          </p:cNvPr>
          <p:cNvSpPr>
            <a:spLocks noGrp="1"/>
          </p:cNvSpPr>
          <p:nvPr>
            <p:ph sz="half" idx="2"/>
          </p:nvPr>
        </p:nvSpPr>
        <p:spPr>
          <a:xfrm>
            <a:off x="6172200" y="1810635"/>
            <a:ext cx="5181600" cy="4351338"/>
          </a:xfrm>
        </p:spPr>
        <p:txBody>
          <a:bodyPr>
            <a:normAutofit/>
          </a:bodyPr>
          <a:lstStyle/>
          <a:p>
            <a:r>
              <a:rPr lang="en-US" sz="2000" dirty="0"/>
              <a:t>Artificial Intelligence (AI) concerns itself with designing intelligent agents capable of rational decision making in an environment</a:t>
            </a:r>
          </a:p>
          <a:p>
            <a:r>
              <a:rPr lang="en-US" sz="2000" dirty="0"/>
              <a:t>Machine learning models learn without being explicitly programmed to do so. The learning model may enhance the AI’s performance</a:t>
            </a:r>
          </a:p>
          <a:p>
            <a:r>
              <a:rPr lang="en-US" sz="2000" dirty="0"/>
              <a:t>Artificial Neural Networks (ANNs) are a type of machine learning model for learning abstract data representations.</a:t>
            </a:r>
          </a:p>
        </p:txBody>
      </p:sp>
      <p:sp>
        <p:nvSpPr>
          <p:cNvPr id="3" name="TextBox 2">
            <a:extLst>
              <a:ext uri="{FF2B5EF4-FFF2-40B4-BE49-F238E27FC236}">
                <a16:creationId xmlns:a16="http://schemas.microsoft.com/office/drawing/2014/main" id="{F216B089-74D6-4EBF-BE7D-8829531FC90C}"/>
              </a:ext>
            </a:extLst>
          </p:cNvPr>
          <p:cNvSpPr txBox="1"/>
          <p:nvPr/>
        </p:nvSpPr>
        <p:spPr>
          <a:xfrm>
            <a:off x="1663909" y="6368577"/>
            <a:ext cx="2798138" cy="369332"/>
          </a:xfrm>
          <a:prstGeom prst="rect">
            <a:avLst/>
          </a:prstGeom>
          <a:noFill/>
        </p:spPr>
        <p:txBody>
          <a:bodyPr wrap="none" rtlCol="0">
            <a:spAutoFit/>
          </a:bodyPr>
          <a:lstStyle/>
          <a:p>
            <a:r>
              <a:rPr lang="en-US" dirty="0"/>
              <a:t>Machine learning taxonomy</a:t>
            </a:r>
          </a:p>
        </p:txBody>
      </p:sp>
    </p:spTree>
    <p:extLst>
      <p:ext uri="{BB962C8B-B14F-4D97-AF65-F5344CB8AC3E}">
        <p14:creationId xmlns:p14="http://schemas.microsoft.com/office/powerpoint/2010/main" val="3021137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8F25A-C3D2-4D45-82F5-FC3C69D1B508}"/>
              </a:ext>
            </a:extLst>
          </p:cNvPr>
          <p:cNvSpPr>
            <a:spLocks noGrp="1"/>
          </p:cNvSpPr>
          <p:nvPr>
            <p:ph type="title"/>
          </p:nvPr>
        </p:nvSpPr>
        <p:spPr/>
        <p:txBody>
          <a:bodyPr/>
          <a:lstStyle/>
          <a:p>
            <a:pPr algn="ctr"/>
            <a:r>
              <a:rPr lang="en-US" dirty="0"/>
              <a:t>What is Deep Learning?</a:t>
            </a:r>
          </a:p>
        </p:txBody>
      </p:sp>
      <p:sp>
        <p:nvSpPr>
          <p:cNvPr id="4" name="Content Placeholder 3">
            <a:extLst>
              <a:ext uri="{FF2B5EF4-FFF2-40B4-BE49-F238E27FC236}">
                <a16:creationId xmlns:a16="http://schemas.microsoft.com/office/drawing/2014/main" id="{DFF1DE82-A43A-46D3-9216-EE8EF8FF15CA}"/>
              </a:ext>
            </a:extLst>
          </p:cNvPr>
          <p:cNvSpPr>
            <a:spLocks noGrp="1"/>
          </p:cNvSpPr>
          <p:nvPr>
            <p:ph sz="half" idx="1"/>
          </p:nvPr>
        </p:nvSpPr>
        <p:spPr/>
        <p:txBody>
          <a:bodyPr>
            <a:normAutofit/>
          </a:bodyPr>
          <a:lstStyle/>
          <a:p>
            <a:r>
              <a:rPr lang="en-US" sz="2000" b="1" dirty="0"/>
              <a:t>Deep learning</a:t>
            </a:r>
            <a:r>
              <a:rPr lang="en-US" sz="2000" dirty="0"/>
              <a:t> is an advanced architecture for artificial neural networks that can learn data representations from larger and more complex datasets.</a:t>
            </a:r>
          </a:p>
          <a:p>
            <a:r>
              <a:rPr lang="en-US" sz="2000" dirty="0"/>
              <a:t>Deep learning is built on concepts from the basic Multilayer Perceptron.</a:t>
            </a:r>
          </a:p>
          <a:p>
            <a:r>
              <a:rPr lang="en-US" sz="2000" dirty="0"/>
              <a:t>The “deep” in deep learning implies that the multilayer perceptron has multiple hidden layers. </a:t>
            </a:r>
          </a:p>
          <a:p>
            <a:r>
              <a:rPr lang="en-US" sz="2000" dirty="0"/>
              <a:t>Deep learning makes use of modern optimization and regularization techniques to achieve improved performance.</a:t>
            </a:r>
          </a:p>
        </p:txBody>
      </p:sp>
      <p:pic>
        <p:nvPicPr>
          <p:cNvPr id="12" name="Content Placeholder 11">
            <a:extLst>
              <a:ext uri="{FF2B5EF4-FFF2-40B4-BE49-F238E27FC236}">
                <a16:creationId xmlns:a16="http://schemas.microsoft.com/office/drawing/2014/main" id="{CE5D4736-7003-40BD-A53B-06CA4D6C8E9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96000" y="1825625"/>
            <a:ext cx="5909872" cy="3792282"/>
          </a:xfrm>
        </p:spPr>
      </p:pic>
      <p:sp>
        <p:nvSpPr>
          <p:cNvPr id="3" name="TextBox 2">
            <a:extLst>
              <a:ext uri="{FF2B5EF4-FFF2-40B4-BE49-F238E27FC236}">
                <a16:creationId xmlns:a16="http://schemas.microsoft.com/office/drawing/2014/main" id="{4172E589-D9E4-4111-A755-5FA920F56349}"/>
              </a:ext>
            </a:extLst>
          </p:cNvPr>
          <p:cNvSpPr txBox="1"/>
          <p:nvPr/>
        </p:nvSpPr>
        <p:spPr>
          <a:xfrm>
            <a:off x="7812969" y="4916774"/>
            <a:ext cx="2475934" cy="369332"/>
          </a:xfrm>
          <a:prstGeom prst="rect">
            <a:avLst/>
          </a:prstGeom>
          <a:noFill/>
        </p:spPr>
        <p:txBody>
          <a:bodyPr wrap="none" rtlCol="0">
            <a:spAutoFit/>
          </a:bodyPr>
          <a:lstStyle/>
          <a:p>
            <a:r>
              <a:rPr lang="en-US" dirty="0"/>
              <a:t>Deep learning taxonomy</a:t>
            </a:r>
          </a:p>
        </p:txBody>
      </p:sp>
    </p:spTree>
    <p:extLst>
      <p:ext uri="{BB962C8B-B14F-4D97-AF65-F5344CB8AC3E}">
        <p14:creationId xmlns:p14="http://schemas.microsoft.com/office/powerpoint/2010/main" val="156679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DBA4F-50C5-4899-94A2-57CAD027411B}"/>
              </a:ext>
            </a:extLst>
          </p:cNvPr>
          <p:cNvSpPr>
            <a:spLocks noGrp="1"/>
          </p:cNvSpPr>
          <p:nvPr>
            <p:ph type="title"/>
          </p:nvPr>
        </p:nvSpPr>
        <p:spPr/>
        <p:txBody>
          <a:bodyPr/>
          <a:lstStyle/>
          <a:p>
            <a:pPr algn="ctr"/>
            <a:r>
              <a:rPr lang="en-US" dirty="0"/>
              <a:t>Deep Neural Network Architecture</a:t>
            </a:r>
          </a:p>
        </p:txBody>
      </p:sp>
      <p:sp>
        <p:nvSpPr>
          <p:cNvPr id="3" name="Content Placeholder 2">
            <a:extLst>
              <a:ext uri="{FF2B5EF4-FFF2-40B4-BE49-F238E27FC236}">
                <a16:creationId xmlns:a16="http://schemas.microsoft.com/office/drawing/2014/main" id="{02294F67-9430-4044-8785-B8B3E41933AE}"/>
              </a:ext>
            </a:extLst>
          </p:cNvPr>
          <p:cNvSpPr>
            <a:spLocks noGrp="1"/>
          </p:cNvSpPr>
          <p:nvPr>
            <p:ph sz="half" idx="1"/>
          </p:nvPr>
        </p:nvSpPr>
        <p:spPr/>
        <p:txBody>
          <a:bodyPr>
            <a:normAutofit/>
          </a:bodyPr>
          <a:lstStyle/>
          <a:p>
            <a:r>
              <a:rPr lang="en-US" sz="2000" dirty="0"/>
              <a:t>Deep neural networks (DNNs) consists of computational nodes ( artificial neurons) arranged in layers.</a:t>
            </a:r>
          </a:p>
          <a:p>
            <a:r>
              <a:rPr lang="en-US" sz="2000" dirty="0"/>
              <a:t>The layer that takes in input from a dataset is the input layer.</a:t>
            </a:r>
          </a:p>
          <a:p>
            <a:r>
              <a:rPr lang="en-US" sz="2000" dirty="0"/>
              <a:t>The layer that gives us our final output is the output layer.</a:t>
            </a:r>
          </a:p>
          <a:p>
            <a:r>
              <a:rPr lang="en-US" sz="2000" dirty="0"/>
              <a:t>Hidden layers are everything in  between (the input and output layer) and are called “hidden” because their output is not defined in the dataset and therefore must be optimized.</a:t>
            </a:r>
          </a:p>
        </p:txBody>
      </p:sp>
      <p:pic>
        <p:nvPicPr>
          <p:cNvPr id="6" name="Content Placeholder 5">
            <a:extLst>
              <a:ext uri="{FF2B5EF4-FFF2-40B4-BE49-F238E27FC236}">
                <a16:creationId xmlns:a16="http://schemas.microsoft.com/office/drawing/2014/main" id="{45F6C33C-D818-455B-9778-08040E84AE7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829802" y="2513105"/>
            <a:ext cx="3866396" cy="2976378"/>
          </a:xfrm>
        </p:spPr>
      </p:pic>
      <p:sp>
        <p:nvSpPr>
          <p:cNvPr id="7" name="TextBox 6">
            <a:extLst>
              <a:ext uri="{FF2B5EF4-FFF2-40B4-BE49-F238E27FC236}">
                <a16:creationId xmlns:a16="http://schemas.microsoft.com/office/drawing/2014/main" id="{E5E30F8F-EB13-4900-8589-E6C67793D62F}"/>
              </a:ext>
            </a:extLst>
          </p:cNvPr>
          <p:cNvSpPr txBox="1"/>
          <p:nvPr/>
        </p:nvSpPr>
        <p:spPr>
          <a:xfrm>
            <a:off x="7210692" y="5682288"/>
            <a:ext cx="3485506" cy="369332"/>
          </a:xfrm>
          <a:prstGeom prst="rect">
            <a:avLst/>
          </a:prstGeom>
          <a:noFill/>
        </p:spPr>
        <p:txBody>
          <a:bodyPr wrap="none" rtlCol="0">
            <a:spAutoFit/>
          </a:bodyPr>
          <a:lstStyle/>
          <a:p>
            <a:r>
              <a:rPr lang="en-US" dirty="0"/>
              <a:t>A three layer feed forward network</a:t>
            </a:r>
          </a:p>
        </p:txBody>
      </p:sp>
    </p:spTree>
    <p:extLst>
      <p:ext uri="{BB962C8B-B14F-4D97-AF65-F5344CB8AC3E}">
        <p14:creationId xmlns:p14="http://schemas.microsoft.com/office/powerpoint/2010/main" val="1514378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7B47C-67B8-4C32-8A36-BD336824F54A}"/>
              </a:ext>
            </a:extLst>
          </p:cNvPr>
          <p:cNvSpPr>
            <a:spLocks noGrp="1"/>
          </p:cNvSpPr>
          <p:nvPr>
            <p:ph type="title"/>
          </p:nvPr>
        </p:nvSpPr>
        <p:spPr/>
        <p:txBody>
          <a:bodyPr/>
          <a:lstStyle/>
          <a:p>
            <a:pPr algn="ctr"/>
            <a:r>
              <a:rPr lang="en-US" dirty="0"/>
              <a:t>Applying Deep Neural Nets</a:t>
            </a:r>
          </a:p>
        </p:txBody>
      </p:sp>
      <p:pic>
        <p:nvPicPr>
          <p:cNvPr id="5" name="Content Placeholder 4">
            <a:extLst>
              <a:ext uri="{FF2B5EF4-FFF2-40B4-BE49-F238E27FC236}">
                <a16:creationId xmlns:a16="http://schemas.microsoft.com/office/drawing/2014/main" id="{C5329406-1C50-49E3-9287-FAF289BE76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8950" y="1555802"/>
            <a:ext cx="4802498" cy="2701405"/>
          </a:xfrm>
        </p:spPr>
      </p:pic>
      <p:pic>
        <p:nvPicPr>
          <p:cNvPr id="7" name="Picture 6">
            <a:extLst>
              <a:ext uri="{FF2B5EF4-FFF2-40B4-BE49-F238E27FC236}">
                <a16:creationId xmlns:a16="http://schemas.microsoft.com/office/drawing/2014/main" id="{AB421622-A0D3-4D0D-AF94-1818614F52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957716"/>
            <a:ext cx="5773466" cy="2032463"/>
          </a:xfrm>
          <a:prstGeom prst="rect">
            <a:avLst/>
          </a:prstGeom>
        </p:spPr>
      </p:pic>
      <p:pic>
        <p:nvPicPr>
          <p:cNvPr id="9" name="Picture 8">
            <a:extLst>
              <a:ext uri="{FF2B5EF4-FFF2-40B4-BE49-F238E27FC236}">
                <a16:creationId xmlns:a16="http://schemas.microsoft.com/office/drawing/2014/main" id="{DE840C17-F109-4903-90BF-E47E9CB8D1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96216" y="4768923"/>
            <a:ext cx="2857500" cy="1600200"/>
          </a:xfrm>
          <a:prstGeom prst="rect">
            <a:avLst/>
          </a:prstGeom>
        </p:spPr>
      </p:pic>
      <p:sp>
        <p:nvSpPr>
          <p:cNvPr id="10" name="TextBox 9">
            <a:extLst>
              <a:ext uri="{FF2B5EF4-FFF2-40B4-BE49-F238E27FC236}">
                <a16:creationId xmlns:a16="http://schemas.microsoft.com/office/drawing/2014/main" id="{E6D930A7-AA0D-42AC-A7BD-C1BD7CBBC466}"/>
              </a:ext>
            </a:extLst>
          </p:cNvPr>
          <p:cNvSpPr txBox="1"/>
          <p:nvPr/>
        </p:nvSpPr>
        <p:spPr>
          <a:xfrm>
            <a:off x="1708878" y="4337679"/>
            <a:ext cx="3834768" cy="369332"/>
          </a:xfrm>
          <a:prstGeom prst="rect">
            <a:avLst/>
          </a:prstGeom>
          <a:noFill/>
        </p:spPr>
        <p:txBody>
          <a:bodyPr wrap="none" rtlCol="0">
            <a:spAutoFit/>
          </a:bodyPr>
          <a:lstStyle/>
          <a:p>
            <a:r>
              <a:rPr lang="en-US" dirty="0"/>
              <a:t>Computer vision object detection tasks</a:t>
            </a:r>
          </a:p>
        </p:txBody>
      </p:sp>
      <p:sp>
        <p:nvSpPr>
          <p:cNvPr id="11" name="TextBox 10">
            <a:extLst>
              <a:ext uri="{FF2B5EF4-FFF2-40B4-BE49-F238E27FC236}">
                <a16:creationId xmlns:a16="http://schemas.microsoft.com/office/drawing/2014/main" id="{971BDFB5-4B5B-407B-87A5-DE283BF60EFA}"/>
              </a:ext>
            </a:extLst>
          </p:cNvPr>
          <p:cNvSpPr txBox="1"/>
          <p:nvPr/>
        </p:nvSpPr>
        <p:spPr>
          <a:xfrm>
            <a:off x="8144641" y="3968347"/>
            <a:ext cx="1983107" cy="369332"/>
          </a:xfrm>
          <a:prstGeom prst="rect">
            <a:avLst/>
          </a:prstGeom>
          <a:noFill/>
        </p:spPr>
        <p:txBody>
          <a:bodyPr wrap="none" rtlCol="0">
            <a:spAutoFit/>
          </a:bodyPr>
          <a:lstStyle/>
          <a:p>
            <a:r>
              <a:rPr lang="en-US" dirty="0"/>
              <a:t>Speech recognition</a:t>
            </a:r>
          </a:p>
        </p:txBody>
      </p:sp>
      <p:sp>
        <p:nvSpPr>
          <p:cNvPr id="12" name="TextBox 11">
            <a:extLst>
              <a:ext uri="{FF2B5EF4-FFF2-40B4-BE49-F238E27FC236}">
                <a16:creationId xmlns:a16="http://schemas.microsoft.com/office/drawing/2014/main" id="{BCF7D5D3-D016-49CF-8619-BD34CB8F7E12}"/>
              </a:ext>
            </a:extLst>
          </p:cNvPr>
          <p:cNvSpPr txBox="1"/>
          <p:nvPr/>
        </p:nvSpPr>
        <p:spPr>
          <a:xfrm>
            <a:off x="3828347" y="6387683"/>
            <a:ext cx="5134739" cy="369332"/>
          </a:xfrm>
          <a:prstGeom prst="rect">
            <a:avLst/>
          </a:prstGeom>
          <a:noFill/>
        </p:spPr>
        <p:txBody>
          <a:bodyPr wrap="none" rtlCol="0">
            <a:spAutoFit/>
          </a:bodyPr>
          <a:lstStyle/>
          <a:p>
            <a:r>
              <a:rPr lang="en-US" dirty="0"/>
              <a:t>Expert systems capable of outperforming any human</a:t>
            </a:r>
          </a:p>
        </p:txBody>
      </p:sp>
      <p:pic>
        <p:nvPicPr>
          <p:cNvPr id="14" name="Picture 13">
            <a:extLst>
              <a:ext uri="{FF2B5EF4-FFF2-40B4-BE49-F238E27FC236}">
                <a16:creationId xmlns:a16="http://schemas.microsoft.com/office/drawing/2014/main" id="{F67DF1B9-A60D-461F-9202-1DC63EBCCCA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85903" y="4768923"/>
            <a:ext cx="2657475" cy="1600200"/>
          </a:xfrm>
          <a:prstGeom prst="rect">
            <a:avLst/>
          </a:prstGeom>
        </p:spPr>
      </p:pic>
    </p:spTree>
    <p:extLst>
      <p:ext uri="{BB962C8B-B14F-4D97-AF65-F5344CB8AC3E}">
        <p14:creationId xmlns:p14="http://schemas.microsoft.com/office/powerpoint/2010/main" val="1638318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257D8-F59A-4574-A9BF-7BD332B5F3B9}"/>
              </a:ext>
            </a:extLst>
          </p:cNvPr>
          <p:cNvSpPr>
            <a:spLocks noGrp="1"/>
          </p:cNvSpPr>
          <p:nvPr>
            <p:ph type="title"/>
          </p:nvPr>
        </p:nvSpPr>
        <p:spPr/>
        <p:txBody>
          <a:bodyPr/>
          <a:lstStyle/>
          <a:p>
            <a:pPr algn="ctr"/>
            <a:r>
              <a:rPr lang="en-US" dirty="0"/>
              <a:t>How do neural networks work?</a:t>
            </a:r>
          </a:p>
        </p:txBody>
      </p:sp>
      <p:sp>
        <p:nvSpPr>
          <p:cNvPr id="3" name="Content Placeholder 2">
            <a:extLst>
              <a:ext uri="{FF2B5EF4-FFF2-40B4-BE49-F238E27FC236}">
                <a16:creationId xmlns:a16="http://schemas.microsoft.com/office/drawing/2014/main" id="{A1C7A245-C293-40EB-902C-0F4908E62001}"/>
              </a:ext>
            </a:extLst>
          </p:cNvPr>
          <p:cNvSpPr>
            <a:spLocks noGrp="1"/>
          </p:cNvSpPr>
          <p:nvPr>
            <p:ph idx="1"/>
          </p:nvPr>
        </p:nvSpPr>
        <p:spPr/>
        <p:txBody>
          <a:bodyPr>
            <a:normAutofit/>
          </a:bodyPr>
          <a:lstStyle/>
          <a:p>
            <a:pPr marL="0" indent="0" algn="ctr">
              <a:buNone/>
            </a:pPr>
            <a:r>
              <a:rPr lang="en-US" sz="2000" dirty="0"/>
              <a:t>	Given the 3 layer neural network; </a:t>
            </a:r>
          </a:p>
          <a:p>
            <a:pPr marL="0" indent="0" algn="ctr">
              <a:buNone/>
            </a:pPr>
            <a:endParaRPr lang="en-US" sz="2000" dirty="0"/>
          </a:p>
        </p:txBody>
      </p:sp>
      <p:pic>
        <p:nvPicPr>
          <p:cNvPr id="5" name="Picture 4">
            <a:extLst>
              <a:ext uri="{FF2B5EF4-FFF2-40B4-BE49-F238E27FC236}">
                <a16:creationId xmlns:a16="http://schemas.microsoft.com/office/drawing/2014/main" id="{B755F8C9-8BFF-4F1A-BA1C-E5C5366893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1525" y="2872256"/>
            <a:ext cx="4840440" cy="2134459"/>
          </a:xfrm>
          <a:prstGeom prst="rect">
            <a:avLst/>
          </a:prstGeom>
        </p:spPr>
      </p:pic>
    </p:spTree>
    <p:extLst>
      <p:ext uri="{BB962C8B-B14F-4D97-AF65-F5344CB8AC3E}">
        <p14:creationId xmlns:p14="http://schemas.microsoft.com/office/powerpoint/2010/main" val="2073490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BA7C9-0D63-4EAA-AFFF-A4DFD78D55EB}"/>
              </a:ext>
            </a:extLst>
          </p:cNvPr>
          <p:cNvSpPr>
            <a:spLocks noGrp="1"/>
          </p:cNvSpPr>
          <p:nvPr>
            <p:ph type="title"/>
          </p:nvPr>
        </p:nvSpPr>
        <p:spPr/>
        <p:txBody>
          <a:bodyPr/>
          <a:lstStyle/>
          <a:p>
            <a:pPr algn="ctr"/>
            <a:r>
              <a:rPr lang="en-US" dirty="0"/>
              <a:t>How do Neural Networks work?</a:t>
            </a:r>
          </a:p>
        </p:txBody>
      </p:sp>
      <p:sp>
        <p:nvSpPr>
          <p:cNvPr id="3" name="Content Placeholder 2">
            <a:extLst>
              <a:ext uri="{FF2B5EF4-FFF2-40B4-BE49-F238E27FC236}">
                <a16:creationId xmlns:a16="http://schemas.microsoft.com/office/drawing/2014/main" id="{E948FA05-00BD-47F9-84BF-F305A3F7FE53}"/>
              </a:ext>
            </a:extLst>
          </p:cNvPr>
          <p:cNvSpPr>
            <a:spLocks noGrp="1"/>
          </p:cNvSpPr>
          <p:nvPr>
            <p:ph idx="1"/>
          </p:nvPr>
        </p:nvSpPr>
        <p:spPr/>
        <p:txBody>
          <a:bodyPr>
            <a:normAutofit/>
          </a:bodyPr>
          <a:lstStyle/>
          <a:p>
            <a:pPr marL="0" indent="0">
              <a:buNone/>
            </a:pPr>
            <a:r>
              <a:rPr lang="en-US" sz="2000" b="1" dirty="0"/>
              <a:t>1. Input is fed into the network</a:t>
            </a:r>
          </a:p>
          <a:p>
            <a:pPr marL="0" indent="0">
              <a:buNone/>
            </a:pPr>
            <a:r>
              <a:rPr lang="en-US" sz="2000" dirty="0"/>
              <a:t>An input vector is fed to the input layer, a vector unit to one input node.</a:t>
            </a:r>
          </a:p>
        </p:txBody>
      </p:sp>
      <p:pic>
        <p:nvPicPr>
          <p:cNvPr id="5" name="Picture 4">
            <a:extLst>
              <a:ext uri="{FF2B5EF4-FFF2-40B4-BE49-F238E27FC236}">
                <a16:creationId xmlns:a16="http://schemas.microsoft.com/office/drawing/2014/main" id="{C687A637-CFA8-4F4E-8857-4E126BEF24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1725" y="3095254"/>
            <a:ext cx="2740440" cy="2580803"/>
          </a:xfrm>
          <a:prstGeom prst="rect">
            <a:avLst/>
          </a:prstGeom>
        </p:spPr>
      </p:pic>
    </p:spTree>
    <p:extLst>
      <p:ext uri="{BB962C8B-B14F-4D97-AF65-F5344CB8AC3E}">
        <p14:creationId xmlns:p14="http://schemas.microsoft.com/office/powerpoint/2010/main" val="2284243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C97AB-B984-4058-A2C6-285706FE33E8}"/>
              </a:ext>
            </a:extLst>
          </p:cNvPr>
          <p:cNvSpPr>
            <a:spLocks noGrp="1"/>
          </p:cNvSpPr>
          <p:nvPr>
            <p:ph type="title"/>
          </p:nvPr>
        </p:nvSpPr>
        <p:spPr/>
        <p:txBody>
          <a:bodyPr/>
          <a:lstStyle/>
          <a:p>
            <a:pPr algn="ctr"/>
            <a:r>
              <a:rPr lang="en-US" dirty="0"/>
              <a:t>How do Neural Networks work?</a:t>
            </a:r>
          </a:p>
        </p:txBody>
      </p:sp>
      <p:sp>
        <p:nvSpPr>
          <p:cNvPr id="3" name="Content Placeholder 2">
            <a:extLst>
              <a:ext uri="{FF2B5EF4-FFF2-40B4-BE49-F238E27FC236}">
                <a16:creationId xmlns:a16="http://schemas.microsoft.com/office/drawing/2014/main" id="{F951F8E5-2C8D-4FC6-AFAA-D7CEB9A09130}"/>
              </a:ext>
            </a:extLst>
          </p:cNvPr>
          <p:cNvSpPr>
            <a:spLocks noGrp="1"/>
          </p:cNvSpPr>
          <p:nvPr>
            <p:ph idx="1"/>
          </p:nvPr>
        </p:nvSpPr>
        <p:spPr/>
        <p:txBody>
          <a:bodyPr/>
          <a:lstStyle/>
          <a:p>
            <a:pPr marL="0" indent="0">
              <a:buNone/>
            </a:pPr>
            <a:r>
              <a:rPr lang="en-US" sz="2000" b="1" dirty="0"/>
              <a:t>2. Each input node is computed with its weights (W) and bias (b)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pic>
        <p:nvPicPr>
          <p:cNvPr id="9" name="Picture 8">
            <a:extLst>
              <a:ext uri="{FF2B5EF4-FFF2-40B4-BE49-F238E27FC236}">
                <a16:creationId xmlns:a16="http://schemas.microsoft.com/office/drawing/2014/main" id="{83696D0B-88DF-4B8A-9D5D-DA9AC566F6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7504" y="2696368"/>
            <a:ext cx="4114800" cy="3206962"/>
          </a:xfrm>
          <a:prstGeom prst="rect">
            <a:avLst/>
          </a:prstGeom>
        </p:spPr>
      </p:pic>
      <p:sp>
        <p:nvSpPr>
          <p:cNvPr id="4" name="TextBox 3">
            <a:extLst>
              <a:ext uri="{FF2B5EF4-FFF2-40B4-BE49-F238E27FC236}">
                <a16:creationId xmlns:a16="http://schemas.microsoft.com/office/drawing/2014/main" id="{A870F1A6-B9B7-46A0-977F-33D4A8ADE14D}"/>
              </a:ext>
            </a:extLst>
          </p:cNvPr>
          <p:cNvSpPr txBox="1"/>
          <p:nvPr/>
        </p:nvSpPr>
        <p:spPr>
          <a:xfrm>
            <a:off x="4991725" y="6176963"/>
            <a:ext cx="184731" cy="369332"/>
          </a:xfrm>
          <a:prstGeom prst="rect">
            <a:avLst/>
          </a:prstGeom>
          <a:noFill/>
        </p:spPr>
        <p:txBody>
          <a:bodyPr wrap="none" rtlCol="0">
            <a:spAutoFit/>
          </a:bodyPr>
          <a:lstStyle/>
          <a:p>
            <a:endParaRPr lang="en-US" dirty="0"/>
          </a:p>
        </p:txBody>
      </p:sp>
      <p:pic>
        <p:nvPicPr>
          <p:cNvPr id="6" name="Picture 5">
            <a:extLst>
              <a:ext uri="{FF2B5EF4-FFF2-40B4-BE49-F238E27FC236}">
                <a16:creationId xmlns:a16="http://schemas.microsoft.com/office/drawing/2014/main" id="{A0A032E2-63B6-481E-A806-EF0960A0EF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0710" y="5808954"/>
            <a:ext cx="2142092" cy="683921"/>
          </a:xfrm>
          <a:prstGeom prst="rect">
            <a:avLst/>
          </a:prstGeom>
        </p:spPr>
      </p:pic>
    </p:spTree>
    <p:extLst>
      <p:ext uri="{BB962C8B-B14F-4D97-AF65-F5344CB8AC3E}">
        <p14:creationId xmlns:p14="http://schemas.microsoft.com/office/powerpoint/2010/main" val="3641816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8E18F-355D-40DC-A1E8-46F6A508CFE4}"/>
              </a:ext>
            </a:extLst>
          </p:cNvPr>
          <p:cNvSpPr>
            <a:spLocks noGrp="1"/>
          </p:cNvSpPr>
          <p:nvPr>
            <p:ph type="title"/>
          </p:nvPr>
        </p:nvSpPr>
        <p:spPr/>
        <p:txBody>
          <a:bodyPr/>
          <a:lstStyle/>
          <a:p>
            <a:pPr algn="ctr"/>
            <a:r>
              <a:rPr lang="en-US" dirty="0"/>
              <a:t>How do Neural Networks work?</a:t>
            </a:r>
          </a:p>
        </p:txBody>
      </p:sp>
      <p:sp>
        <p:nvSpPr>
          <p:cNvPr id="3" name="Content Placeholder 2">
            <a:extLst>
              <a:ext uri="{FF2B5EF4-FFF2-40B4-BE49-F238E27FC236}">
                <a16:creationId xmlns:a16="http://schemas.microsoft.com/office/drawing/2014/main" id="{9DD6B476-9D4E-4934-8140-F810E129F27F}"/>
              </a:ext>
            </a:extLst>
          </p:cNvPr>
          <p:cNvSpPr>
            <a:spLocks noGrp="1"/>
          </p:cNvSpPr>
          <p:nvPr>
            <p:ph idx="1"/>
          </p:nvPr>
        </p:nvSpPr>
        <p:spPr/>
        <p:txBody>
          <a:bodyPr>
            <a:normAutofit fontScale="62500" lnSpcReduction="20000"/>
          </a:bodyPr>
          <a:lstStyle/>
          <a:p>
            <a:pPr marL="0" indent="0">
              <a:buNone/>
            </a:pPr>
            <a:r>
              <a:rPr lang="en-US" b="1" dirty="0"/>
              <a:t>3. The output from an input node is fed to every node of the next layer, the hidden layer.</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Each node of the hidden layer performs a summation of all incoming signals, applies an </a:t>
            </a:r>
            <a:r>
              <a:rPr lang="en-US" b="1" dirty="0"/>
              <a:t>activation function </a:t>
            </a:r>
            <a:r>
              <a:rPr lang="en-US" dirty="0"/>
              <a:t>to this summation and sends its output to all the nodes of the next layer, which maybe a hidden layer or an output layer.</a:t>
            </a:r>
          </a:p>
        </p:txBody>
      </p:sp>
      <p:pic>
        <p:nvPicPr>
          <p:cNvPr id="8" name="Picture 7">
            <a:extLst>
              <a:ext uri="{FF2B5EF4-FFF2-40B4-BE49-F238E27FC236}">
                <a16:creationId xmlns:a16="http://schemas.microsoft.com/office/drawing/2014/main" id="{3901AE43-D622-4403-B71D-BB3F465F96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4212" y="2204100"/>
            <a:ext cx="5743575" cy="3019425"/>
          </a:xfrm>
          <a:prstGeom prst="rect">
            <a:avLst/>
          </a:prstGeom>
        </p:spPr>
      </p:pic>
    </p:spTree>
    <p:extLst>
      <p:ext uri="{BB962C8B-B14F-4D97-AF65-F5344CB8AC3E}">
        <p14:creationId xmlns:p14="http://schemas.microsoft.com/office/powerpoint/2010/main" val="26666899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5394B-4983-4976-8B79-355B80EF70FA}"/>
              </a:ext>
            </a:extLst>
          </p:cNvPr>
          <p:cNvSpPr>
            <a:spLocks noGrp="1"/>
          </p:cNvSpPr>
          <p:nvPr>
            <p:ph type="title"/>
          </p:nvPr>
        </p:nvSpPr>
        <p:spPr/>
        <p:txBody>
          <a:bodyPr/>
          <a:lstStyle/>
          <a:p>
            <a:pPr algn="ctr"/>
            <a:r>
              <a:rPr lang="en-US" dirty="0"/>
              <a:t>How do Neural Networks work?</a:t>
            </a:r>
          </a:p>
        </p:txBody>
      </p:sp>
      <p:sp>
        <p:nvSpPr>
          <p:cNvPr id="3" name="Content Placeholder 2">
            <a:extLst>
              <a:ext uri="{FF2B5EF4-FFF2-40B4-BE49-F238E27FC236}">
                <a16:creationId xmlns:a16="http://schemas.microsoft.com/office/drawing/2014/main" id="{BD133B07-289D-4963-B8AF-3074778314EB}"/>
              </a:ext>
            </a:extLst>
          </p:cNvPr>
          <p:cNvSpPr>
            <a:spLocks noGrp="1"/>
          </p:cNvSpPr>
          <p:nvPr>
            <p:ph idx="1"/>
          </p:nvPr>
        </p:nvSpPr>
        <p:spPr/>
        <p:txBody>
          <a:bodyPr>
            <a:normAutofit/>
          </a:bodyPr>
          <a:lstStyle/>
          <a:p>
            <a:pPr marL="0" indent="0">
              <a:buNone/>
            </a:pPr>
            <a:r>
              <a:rPr lang="en-US" sz="2000" b="1" dirty="0"/>
              <a:t>4. If the next layer is an output layer, the output node computes the summation of all incoming signals and transforms this sum with a function to get the output. </a:t>
            </a:r>
          </a:p>
          <a:p>
            <a:pPr marL="0" indent="0">
              <a:buNone/>
            </a:pPr>
            <a:endParaRPr lang="en-US" sz="2000" b="1"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dirty="0"/>
              <a:t>Else if the next layer is a hidden layer, step 3 is repeated this time from a hidden layer to another hidden layer, until it gets to the output layer. </a:t>
            </a:r>
          </a:p>
        </p:txBody>
      </p:sp>
      <p:pic>
        <p:nvPicPr>
          <p:cNvPr id="8" name="Picture 7">
            <a:extLst>
              <a:ext uri="{FF2B5EF4-FFF2-40B4-BE49-F238E27FC236}">
                <a16:creationId xmlns:a16="http://schemas.microsoft.com/office/drawing/2014/main" id="{4066B53F-9EEA-42DB-96EA-1E944AC253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21057" y="2434431"/>
            <a:ext cx="4756218" cy="2887077"/>
          </a:xfrm>
          <a:prstGeom prst="rect">
            <a:avLst/>
          </a:prstGeom>
        </p:spPr>
      </p:pic>
    </p:spTree>
    <p:extLst>
      <p:ext uri="{BB962C8B-B14F-4D97-AF65-F5344CB8AC3E}">
        <p14:creationId xmlns:p14="http://schemas.microsoft.com/office/powerpoint/2010/main" val="2635143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5DE13-0C2D-447B-B6B6-22372405F067}"/>
              </a:ext>
            </a:extLst>
          </p:cNvPr>
          <p:cNvSpPr>
            <a:spLocks noGrp="1"/>
          </p:cNvSpPr>
          <p:nvPr>
            <p:ph type="title"/>
          </p:nvPr>
        </p:nvSpPr>
        <p:spPr/>
        <p:txBody>
          <a:bodyPr/>
          <a:lstStyle/>
          <a:p>
            <a:pPr algn="ctr"/>
            <a:r>
              <a:rPr lang="en-US" dirty="0"/>
              <a:t>How do Neural Networks work?</a:t>
            </a:r>
          </a:p>
        </p:txBody>
      </p:sp>
      <p:sp>
        <p:nvSpPr>
          <p:cNvPr id="4" name="Content Placeholder 3">
            <a:extLst>
              <a:ext uri="{FF2B5EF4-FFF2-40B4-BE49-F238E27FC236}">
                <a16:creationId xmlns:a16="http://schemas.microsoft.com/office/drawing/2014/main" id="{A4FDC084-F5BB-4701-ADD2-1FE60CEC2DAC}"/>
              </a:ext>
            </a:extLst>
          </p:cNvPr>
          <p:cNvSpPr>
            <a:spLocks noGrp="1"/>
          </p:cNvSpPr>
          <p:nvPr>
            <p:ph sz="half" idx="1"/>
          </p:nvPr>
        </p:nvSpPr>
        <p:spPr/>
        <p:txBody>
          <a:bodyPr>
            <a:normAutofit/>
          </a:bodyPr>
          <a:lstStyle/>
          <a:p>
            <a:r>
              <a:rPr lang="en-US" sz="2000" dirty="0"/>
              <a:t>The output from a neural network is an estimate of a real value defined in our dataset.</a:t>
            </a:r>
          </a:p>
          <a:p>
            <a:r>
              <a:rPr lang="en-US" sz="2000" dirty="0"/>
              <a:t>The process of flowing an input through the network to get an estimated output is know as the feedforward propagation.</a:t>
            </a:r>
          </a:p>
          <a:p>
            <a:r>
              <a:rPr lang="en-US" sz="2000" dirty="0"/>
              <a:t>The difference between the estimated output and a real output is known as the error.</a:t>
            </a:r>
          </a:p>
          <a:p>
            <a:r>
              <a:rPr lang="en-US" sz="2000" dirty="0"/>
              <a:t>This error is back propagated through the network in a backward direction and is the crucial step in making neural networks learn. </a:t>
            </a:r>
          </a:p>
          <a:p>
            <a:r>
              <a:rPr lang="en-US" sz="2000" dirty="0"/>
              <a:t>The backpropagation algorithm describes how to flow the error signal backwards.</a:t>
            </a:r>
          </a:p>
        </p:txBody>
      </p:sp>
      <p:pic>
        <p:nvPicPr>
          <p:cNvPr id="7" name="Content Placeholder 6">
            <a:extLst>
              <a:ext uri="{FF2B5EF4-FFF2-40B4-BE49-F238E27FC236}">
                <a16:creationId xmlns:a16="http://schemas.microsoft.com/office/drawing/2014/main" id="{EDB9F5DF-5FA8-4268-B804-5E594F7F416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19800" y="2336562"/>
            <a:ext cx="5065597" cy="3138593"/>
          </a:xfrm>
        </p:spPr>
      </p:pic>
      <p:sp>
        <p:nvSpPr>
          <p:cNvPr id="16" name="TextBox 15">
            <a:extLst>
              <a:ext uri="{FF2B5EF4-FFF2-40B4-BE49-F238E27FC236}">
                <a16:creationId xmlns:a16="http://schemas.microsoft.com/office/drawing/2014/main" id="{1273BD02-5C48-4344-A5F0-E42D3A532209}"/>
              </a:ext>
            </a:extLst>
          </p:cNvPr>
          <p:cNvSpPr txBox="1"/>
          <p:nvPr/>
        </p:nvSpPr>
        <p:spPr>
          <a:xfrm>
            <a:off x="7362496" y="5475155"/>
            <a:ext cx="3229410" cy="369332"/>
          </a:xfrm>
          <a:prstGeom prst="rect">
            <a:avLst/>
          </a:prstGeom>
          <a:noFill/>
        </p:spPr>
        <p:txBody>
          <a:bodyPr wrap="none" rtlCol="0">
            <a:spAutoFit/>
          </a:bodyPr>
          <a:lstStyle/>
          <a:p>
            <a:r>
              <a:rPr lang="en-US" dirty="0"/>
              <a:t>Fully Connected Neural Network</a:t>
            </a:r>
          </a:p>
        </p:txBody>
      </p:sp>
    </p:spTree>
    <p:extLst>
      <p:ext uri="{BB962C8B-B14F-4D97-AF65-F5344CB8AC3E}">
        <p14:creationId xmlns:p14="http://schemas.microsoft.com/office/powerpoint/2010/main" val="632696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87C48-7625-4030-964A-4C2C6D3CC300}"/>
              </a:ext>
            </a:extLst>
          </p:cNvPr>
          <p:cNvSpPr>
            <a:spLocks noGrp="1"/>
          </p:cNvSpPr>
          <p:nvPr>
            <p:ph type="title"/>
          </p:nvPr>
        </p:nvSpPr>
        <p:spPr>
          <a:xfrm>
            <a:off x="839788" y="869472"/>
            <a:ext cx="10515600" cy="504346"/>
          </a:xfrm>
        </p:spPr>
        <p:txBody>
          <a:bodyPr>
            <a:noAutofit/>
          </a:bodyPr>
          <a:lstStyle/>
          <a:p>
            <a:pPr algn="ctr"/>
            <a:r>
              <a:rPr lang="en-US" sz="3200" dirty="0"/>
              <a:t>Activation functions and output nodes</a:t>
            </a:r>
            <a:br>
              <a:rPr lang="en-US" sz="3200" dirty="0"/>
            </a:br>
            <a:endParaRPr lang="en-US" sz="3200" dirty="0"/>
          </a:p>
        </p:txBody>
      </p:sp>
      <p:sp>
        <p:nvSpPr>
          <p:cNvPr id="6" name="Text Placeholder 5">
            <a:extLst>
              <a:ext uri="{FF2B5EF4-FFF2-40B4-BE49-F238E27FC236}">
                <a16:creationId xmlns:a16="http://schemas.microsoft.com/office/drawing/2014/main" id="{3FF1FFF0-6986-47CD-9852-D467D8A9C1ED}"/>
              </a:ext>
            </a:extLst>
          </p:cNvPr>
          <p:cNvSpPr>
            <a:spLocks noGrp="1"/>
          </p:cNvSpPr>
          <p:nvPr>
            <p:ph type="body" idx="1"/>
          </p:nvPr>
        </p:nvSpPr>
        <p:spPr>
          <a:xfrm>
            <a:off x="839788" y="1434662"/>
            <a:ext cx="5157787" cy="504346"/>
          </a:xfrm>
        </p:spPr>
        <p:txBody>
          <a:bodyPr/>
          <a:lstStyle/>
          <a:p>
            <a:pPr algn="ctr"/>
            <a:r>
              <a:rPr lang="en-US" dirty="0"/>
              <a:t>Activation Functions </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AF5781F2-6D7B-4AD6-9346-B89406D1A876}"/>
                  </a:ext>
                </a:extLst>
              </p:cNvPr>
              <p:cNvSpPr>
                <a:spLocks noGrp="1"/>
              </p:cNvSpPr>
              <p:nvPr>
                <p:ph sz="half" idx="2"/>
              </p:nvPr>
            </p:nvSpPr>
            <p:spPr>
              <a:xfrm>
                <a:off x="839788" y="2102956"/>
                <a:ext cx="5157787" cy="4086707"/>
              </a:xfrm>
            </p:spPr>
            <p:txBody>
              <a:bodyPr>
                <a:normAutofit fontScale="62500" lnSpcReduction="20000"/>
              </a:bodyPr>
              <a:lstStyle/>
              <a:p>
                <a:r>
                  <a:rPr lang="en-US" dirty="0"/>
                  <a:t>Activation functions transform an incoming signal to a nonlinear value. </a:t>
                </a:r>
              </a:p>
              <a:p>
                <a:r>
                  <a:rPr lang="en-US" dirty="0"/>
                  <a:t>This is more desirable because nonlinear functions are differentiable.</a:t>
                </a:r>
              </a:p>
              <a:p>
                <a:pPr marL="0" indent="0">
                  <a:buNone/>
                </a:pPr>
                <a:r>
                  <a:rPr lang="en-US" dirty="0"/>
                  <a:t>Most used activation functions in the hidden layer are</a:t>
                </a:r>
              </a:p>
              <a:p>
                <a:r>
                  <a:rPr lang="en-US" dirty="0"/>
                  <a:t>Rectified Linear Unit (ReLU) - </a:t>
                </a:r>
                <a14:m>
                  <m:oMath xmlns:m="http://schemas.openxmlformats.org/officeDocument/2006/math">
                    <m:r>
                      <m:rPr>
                        <m:sty m:val="p"/>
                      </m:rPr>
                      <a:rPr lang="en-US" dirty="0">
                        <a:latin typeface="Cambria Math" panose="02040503050406030204" pitchFamily="18" charset="0"/>
                      </a:rPr>
                      <m:t>g</m:t>
                    </m:r>
                    <m:d>
                      <m:dPr>
                        <m:ctrlPr>
                          <a:rPr lang="en-US" i="1">
                            <a:latin typeface="Cambria Math" panose="02040503050406030204" pitchFamily="18" charset="0"/>
                          </a:rPr>
                        </m:ctrlPr>
                      </m:dPr>
                      <m:e>
                        <m:r>
                          <m:rPr>
                            <m:sty m:val="p"/>
                          </m:rPr>
                          <a:rPr lang="en-US">
                            <a:latin typeface="Cambria Math" panose="02040503050406030204" pitchFamily="18" charset="0"/>
                          </a:rPr>
                          <m:t>x</m:t>
                        </m:r>
                      </m:e>
                    </m:d>
                    <m:r>
                      <a:rPr lang="en-US">
                        <a:latin typeface="Cambria Math" panose="02040503050406030204" pitchFamily="18" charset="0"/>
                      </a:rPr>
                      <m:t>=</m:t>
                    </m:r>
                    <m:r>
                      <m:rPr>
                        <m:sty m:val="p"/>
                      </m:rPr>
                      <a:rPr lang="en-US">
                        <a:latin typeface="Cambria Math" panose="02040503050406030204" pitchFamily="18" charset="0"/>
                      </a:rPr>
                      <m:t>max</m:t>
                    </m:r>
                    <m:r>
                      <a:rPr lang="en-US" i="1">
                        <a:latin typeface="Cambria Math" panose="02040503050406030204" pitchFamily="18" charset="0"/>
                      </a:rPr>
                      <m:t>{0,</m:t>
                    </m:r>
                    <m:r>
                      <a:rPr lang="en-US" i="1">
                        <a:latin typeface="Cambria Math" panose="02040503050406030204" pitchFamily="18" charset="0"/>
                      </a:rPr>
                      <m:t>𝑥</m:t>
                    </m:r>
                    <m:r>
                      <a:rPr lang="en-US" i="1">
                        <a:latin typeface="Cambria Math" panose="02040503050406030204" pitchFamily="18" charset="0"/>
                      </a:rPr>
                      <m:t>}</m:t>
                    </m:r>
                  </m:oMath>
                </a14:m>
                <a:r>
                  <a:rPr lang="en-US" dirty="0"/>
                  <a:t> </a:t>
                </a:r>
              </a:p>
              <a:p>
                <a:pPr marL="0" indent="0">
                  <a:buNone/>
                </a:pPr>
                <a:endParaRPr lang="en-US" dirty="0"/>
              </a:p>
              <a:p>
                <a:r>
                  <a:rPr lang="en-US" dirty="0"/>
                  <a:t>Leaky ReLU - </a:t>
                </a:r>
                <a14:m>
                  <m:oMath xmlns:m="http://schemas.openxmlformats.org/officeDocument/2006/math">
                    <m:r>
                      <m:rPr>
                        <m:sty m:val="p"/>
                      </m:rPr>
                      <a:rPr lang="en-US">
                        <a:latin typeface="Cambria Math" panose="02040503050406030204" pitchFamily="18" charset="0"/>
                      </a:rPr>
                      <m:t>g</m:t>
                    </m:r>
                    <m:r>
                      <a:rPr lang="en-US" b="0" i="0" smtClean="0">
                        <a:latin typeface="Cambria Math" panose="02040503050406030204" pitchFamily="18" charset="0"/>
                      </a:rPr>
                      <m:t>(</m:t>
                    </m:r>
                    <m:r>
                      <m:rPr>
                        <m:sty m:val="p"/>
                      </m:rPr>
                      <a:rPr lang="en-US" b="0" i="0" smtClean="0">
                        <a:latin typeface="Cambria Math" panose="02040503050406030204" pitchFamily="18" charset="0"/>
                      </a:rPr>
                      <m:t>x</m:t>
                    </m:r>
                    <m:r>
                      <a:rPr lang="en-US" b="0" i="1" smtClean="0">
                        <a:latin typeface="Cambria Math" panose="02040503050406030204" pitchFamily="18" charset="0"/>
                      </a:rPr>
                      <m:t>)</m:t>
                    </m:r>
                    <m:d>
                      <m:dPr>
                        <m:begChr m:val="{"/>
                        <m:endChr m:val=""/>
                        <m:ctrlPr>
                          <a:rPr lang="en-US" i="1" smtClean="0">
                            <a:latin typeface="Cambria Math" panose="02040503050406030204" pitchFamily="18" charset="0"/>
                          </a:rPr>
                        </m:ctrlPr>
                      </m:dPr>
                      <m:e>
                        <m:eqArr>
                          <m:eqArrPr>
                            <m:ctrlPr>
                              <a:rPr lang="en-US" i="1" smtClean="0">
                                <a:latin typeface="Cambria Math" panose="02040503050406030204" pitchFamily="18" charset="0"/>
                              </a:rPr>
                            </m:ctrlPr>
                          </m:eqArrPr>
                          <m:e>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𝑖𝑓</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&gt;0</m:t>
                            </m:r>
                          </m:e>
                          <m:e>
                            <m:r>
                              <a:rPr lang="en-US" b="0" i="1" smtClean="0">
                                <a:latin typeface="Cambria Math" panose="02040503050406030204" pitchFamily="18" charset="0"/>
                              </a:rPr>
                              <m:t>0.01</m:t>
                            </m:r>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𝑜𝑡h𝑒𝑟𝑤𝑖𝑠𝑒</m:t>
                            </m:r>
                          </m:e>
                        </m:eqArr>
                      </m:e>
                    </m:d>
                  </m:oMath>
                </a14:m>
                <a:endParaRPr lang="en-US" dirty="0"/>
              </a:p>
              <a:p>
                <a:pPr marL="0" indent="0">
                  <a:buNone/>
                </a:pPr>
                <a:endParaRPr lang="en-US" dirty="0"/>
              </a:p>
              <a:p>
                <a:pPr marL="0" indent="0">
                  <a:buNone/>
                </a:pPr>
                <a:r>
                  <a:rPr lang="en-US" dirty="0"/>
                  <a:t> There are other activation functions</a:t>
                </a:r>
              </a:p>
              <a:p>
                <a:pPr marL="0" indent="0">
                  <a:buNone/>
                </a:pPr>
                <a:r>
                  <a:rPr lang="en-US" dirty="0"/>
                  <a:t>(See Goodfellow et al, 2016 p 289)</a:t>
                </a:r>
              </a:p>
            </p:txBody>
          </p:sp>
        </mc:Choice>
        <mc:Fallback xmlns="">
          <p:sp>
            <p:nvSpPr>
              <p:cNvPr id="7" name="Content Placeholder 6">
                <a:extLst>
                  <a:ext uri="{FF2B5EF4-FFF2-40B4-BE49-F238E27FC236}">
                    <a16:creationId xmlns:a16="http://schemas.microsoft.com/office/drawing/2014/main" id="{AF5781F2-6D7B-4AD6-9346-B89406D1A876}"/>
                  </a:ext>
                </a:extLst>
              </p:cNvPr>
              <p:cNvSpPr>
                <a:spLocks noGrp="1" noRot="1" noChangeAspect="1" noMove="1" noResize="1" noEditPoints="1" noAdjustHandles="1" noChangeArrowheads="1" noChangeShapeType="1" noTextEdit="1"/>
              </p:cNvSpPr>
              <p:nvPr>
                <p:ph sz="half" idx="2"/>
              </p:nvPr>
            </p:nvSpPr>
            <p:spPr>
              <a:xfrm>
                <a:off x="839788" y="2102956"/>
                <a:ext cx="5157787" cy="4086707"/>
              </a:xfrm>
              <a:blipFill>
                <a:blip r:embed="rId2"/>
                <a:stretch>
                  <a:fillRect l="-1064" t="-2537" r="-946"/>
                </a:stretch>
              </a:blipFill>
            </p:spPr>
            <p:txBody>
              <a:bodyPr/>
              <a:lstStyle/>
              <a:p>
                <a:r>
                  <a:rPr lang="en-US">
                    <a:noFill/>
                  </a:rPr>
                  <a:t> </a:t>
                </a:r>
              </a:p>
            </p:txBody>
          </p:sp>
        </mc:Fallback>
      </mc:AlternateContent>
      <p:sp>
        <p:nvSpPr>
          <p:cNvPr id="8" name="Text Placeholder 7">
            <a:extLst>
              <a:ext uri="{FF2B5EF4-FFF2-40B4-BE49-F238E27FC236}">
                <a16:creationId xmlns:a16="http://schemas.microsoft.com/office/drawing/2014/main" id="{279035D9-E3C2-4C15-A5D5-D1207A259A70}"/>
              </a:ext>
            </a:extLst>
          </p:cNvPr>
          <p:cNvSpPr>
            <a:spLocks noGrp="1"/>
          </p:cNvSpPr>
          <p:nvPr>
            <p:ph type="body" sz="quarter" idx="3"/>
          </p:nvPr>
        </p:nvSpPr>
        <p:spPr>
          <a:xfrm>
            <a:off x="6194427" y="1486214"/>
            <a:ext cx="5183188" cy="504346"/>
          </a:xfrm>
        </p:spPr>
        <p:txBody>
          <a:bodyPr/>
          <a:lstStyle/>
          <a:p>
            <a:pPr algn="ctr"/>
            <a:r>
              <a:rPr lang="en-US" dirty="0"/>
              <a:t>Output nodes </a:t>
            </a:r>
          </a:p>
        </p:txBody>
      </p:sp>
      <mc:AlternateContent xmlns:mc="http://schemas.openxmlformats.org/markup-compatibility/2006" xmlns:a14="http://schemas.microsoft.com/office/drawing/2010/main">
        <mc:Choice Requires="a14">
          <p:sp>
            <p:nvSpPr>
              <p:cNvPr id="9" name="Content Placeholder 8">
                <a:extLst>
                  <a:ext uri="{FF2B5EF4-FFF2-40B4-BE49-F238E27FC236}">
                    <a16:creationId xmlns:a16="http://schemas.microsoft.com/office/drawing/2014/main" id="{EF8898B3-9815-4654-9E14-F7C55818C455}"/>
                  </a:ext>
                </a:extLst>
              </p:cNvPr>
              <p:cNvSpPr>
                <a:spLocks noGrp="1"/>
              </p:cNvSpPr>
              <p:nvPr>
                <p:ph sz="quarter" idx="4"/>
              </p:nvPr>
            </p:nvSpPr>
            <p:spPr>
              <a:xfrm>
                <a:off x="6172200" y="2102956"/>
                <a:ext cx="5183188" cy="4086707"/>
              </a:xfrm>
            </p:spPr>
            <p:txBody>
              <a:bodyPr>
                <a:normAutofit fontScale="62500" lnSpcReduction="20000"/>
              </a:bodyPr>
              <a:lstStyle/>
              <a:p>
                <a:r>
                  <a:rPr lang="en-US" dirty="0"/>
                  <a:t>The functions used to define an output node are specific to the general task of a neural network. </a:t>
                </a:r>
              </a:p>
              <a:p>
                <a:pPr marL="0" indent="0">
                  <a:buNone/>
                </a:pPr>
                <a:r>
                  <a:rPr lang="en-US" dirty="0"/>
                  <a:t>In general two task exists;</a:t>
                </a:r>
              </a:p>
              <a:p>
                <a:r>
                  <a:rPr lang="en-US" dirty="0"/>
                  <a:t>Classification and Regression</a:t>
                </a:r>
              </a:p>
              <a:p>
                <a:pPr marL="0" indent="0">
                  <a:buNone/>
                </a:pPr>
                <a:r>
                  <a:rPr lang="en-US" dirty="0"/>
                  <a:t>These tasks make use of different functions in the output node</a:t>
                </a:r>
              </a:p>
              <a:p>
                <a:pPr marL="0" indent="0">
                  <a:buNone/>
                </a:pPr>
                <a:r>
                  <a:rPr lang="en-US" b="1" dirty="0"/>
                  <a:t>Classification: </a:t>
                </a:r>
              </a:p>
              <a:p>
                <a:pPr marL="0" indent="0">
                  <a:buNone/>
                </a:pPr>
                <a:r>
                  <a:rPr lang="en-US" dirty="0"/>
                  <a:t>Sigmoid - </a:t>
                </a:r>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b="0" i="1" smtClean="0">
                            <a:latin typeface="Cambria Math" panose="02040503050406030204" pitchFamily="18" charset="0"/>
                          </a:rPr>
                          <m:t>𝑧</m:t>
                        </m:r>
                      </m:e>
                    </m:d>
                    <m:r>
                      <a:rPr lang="en-US" i="1">
                        <a:latin typeface="Cambria Math" panose="02040503050406030204" pitchFamily="18" charset="0"/>
                      </a:rPr>
                      <m:t>=1/ (1+</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b="0" i="1" smtClean="0">
                            <a:latin typeface="Cambria Math" panose="02040503050406030204" pitchFamily="18" charset="0"/>
                          </a:rPr>
                          <m:t>𝑧</m:t>
                        </m:r>
                      </m:sup>
                    </m:sSup>
                    <m:r>
                      <a:rPr lang="en-US" i="1">
                        <a:latin typeface="Cambria Math" panose="02040503050406030204" pitchFamily="18" charset="0"/>
                      </a:rPr>
                      <m:t>)</m:t>
                    </m:r>
                  </m:oMath>
                </a14:m>
                <a:r>
                  <a:rPr lang="en-US" dirty="0"/>
                  <a:t> </a:t>
                </a:r>
              </a:p>
              <a:p>
                <a:pPr marL="0" indent="0">
                  <a:buNone/>
                </a:pPr>
                <a:endParaRPr lang="en-US" dirty="0"/>
              </a:p>
              <a:p>
                <a:pPr marL="0" indent="0">
                  <a:buNone/>
                </a:pPr>
                <a:r>
                  <a:rPr lang="en-US" dirty="0"/>
                  <a:t>Softmax - </a:t>
                </a:r>
                <a14:m>
                  <m:oMath xmlns:m="http://schemas.openxmlformats.org/officeDocument/2006/math">
                    <m:r>
                      <a:rPr lang="en-US" i="1">
                        <a:latin typeface="Cambria Math" panose="02040503050406030204" pitchFamily="18" charset="0"/>
                      </a:rPr>
                      <m:t>𝜎</m:t>
                    </m:r>
                    <m:d>
                      <m:dPr>
                        <m:ctrlPr>
                          <a:rPr lang="en-US" i="1">
                            <a:latin typeface="Cambria Math" panose="02040503050406030204" pitchFamily="18" charset="0"/>
                          </a:rPr>
                        </m:ctrlPr>
                      </m:dPr>
                      <m:e>
                        <m:r>
                          <a:rPr lang="en-US" i="1">
                            <a:latin typeface="Cambria Math" panose="02040503050406030204" pitchFamily="18" charset="0"/>
                          </a:rPr>
                          <m:t>𝑧</m:t>
                        </m:r>
                      </m:e>
                    </m:d>
                    <m:r>
                      <a:rPr lang="en-US" i="1">
                        <a:latin typeface="Cambria Math" panose="02040503050406030204" pitchFamily="18" charset="0"/>
                      </a:rPr>
                      <m:t>𝑗</m:t>
                    </m:r>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𝑧𝑗</m:t>
                            </m:r>
                          </m:sup>
                        </m:sSup>
                      </m:num>
                      <m:den>
                        <m:nary>
                          <m:naryPr>
                            <m:chr m:val="∑"/>
                            <m:limLoc m:val="undOvr"/>
                            <m:ctrlPr>
                              <a:rPr lang="en-US" i="1">
                                <a:latin typeface="Cambria Math" panose="02040503050406030204" pitchFamily="18" charset="0"/>
                              </a:rPr>
                            </m:ctrlPr>
                          </m:naryPr>
                          <m:sub>
                            <m:r>
                              <a:rPr lang="en-US" i="1">
                                <a:latin typeface="Cambria Math" panose="02040503050406030204" pitchFamily="18" charset="0"/>
                              </a:rPr>
                              <m:t>𝑘</m:t>
                            </m:r>
                            <m:r>
                              <a:rPr lang="en-US" i="1">
                                <a:latin typeface="Cambria Math" panose="02040503050406030204" pitchFamily="18" charset="0"/>
                              </a:rPr>
                              <m:t>=1</m:t>
                            </m:r>
                          </m:sub>
                          <m:sup>
                            <m:r>
                              <a:rPr lang="en-US" i="1">
                                <a:latin typeface="Cambria Math" panose="02040503050406030204" pitchFamily="18" charset="0"/>
                              </a:rPr>
                              <m:t>𝑘</m:t>
                            </m:r>
                          </m:sup>
                          <m:e>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𝑧𝑘</m:t>
                                </m:r>
                              </m:sup>
                            </m:sSup>
                          </m:e>
                        </m:nary>
                      </m:den>
                    </m:f>
                    <m:r>
                      <a:rPr lang="en-US" i="1">
                        <a:latin typeface="Cambria Math" panose="02040503050406030204" pitchFamily="18" charset="0"/>
                      </a:rPr>
                      <m:t> </m:t>
                    </m:r>
                    <m:r>
                      <a:rPr lang="en-US" i="1">
                        <a:latin typeface="Cambria Math" panose="02040503050406030204" pitchFamily="18" charset="0"/>
                      </a:rPr>
                      <m:t>𝑓𝑜𝑟𝑗</m:t>
                    </m:r>
                    <m:r>
                      <a:rPr lang="en-US" i="1">
                        <a:latin typeface="Cambria Math" panose="02040503050406030204" pitchFamily="18" charset="0"/>
                      </a:rPr>
                      <m:t>=1,…,</m:t>
                    </m:r>
                    <m:r>
                      <a:rPr lang="en-US" i="1">
                        <a:latin typeface="Cambria Math" panose="02040503050406030204" pitchFamily="18" charset="0"/>
                      </a:rPr>
                      <m:t>𝑘</m:t>
                    </m:r>
                  </m:oMath>
                </a14:m>
                <a:endParaRPr lang="en-US" dirty="0"/>
              </a:p>
              <a:p>
                <a:pPr marL="0" indent="0">
                  <a:buNone/>
                </a:pPr>
                <a:r>
                  <a:rPr lang="en-US" b="1" dirty="0"/>
                  <a:t>Regression: </a:t>
                </a:r>
              </a:p>
              <a:p>
                <a:pPr marL="0" indent="0">
                  <a:buNone/>
                </a:pPr>
                <a:r>
                  <a:rPr lang="en-US" dirty="0"/>
                  <a:t>Linear - </a:t>
                </a:r>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m:t>
                    </m:r>
                    <m:r>
                      <a:rPr lang="en-US" i="1">
                        <a:latin typeface="Cambria Math" panose="02040503050406030204" pitchFamily="18" charset="0"/>
                      </a:rPr>
                      <m:t>𝑎𝑥</m:t>
                    </m:r>
                  </m:oMath>
                </a14:m>
                <a:r>
                  <a:rPr lang="en-US" dirty="0"/>
                  <a:t> </a:t>
                </a:r>
              </a:p>
              <a:p>
                <a:pPr marL="0" indent="0">
                  <a:buNone/>
                </a:pPr>
                <a:r>
                  <a:rPr lang="en-US" dirty="0"/>
                  <a:t>or none</a:t>
                </a:r>
              </a:p>
            </p:txBody>
          </p:sp>
        </mc:Choice>
        <mc:Fallback xmlns="">
          <p:sp>
            <p:nvSpPr>
              <p:cNvPr id="9" name="Content Placeholder 8">
                <a:extLst>
                  <a:ext uri="{FF2B5EF4-FFF2-40B4-BE49-F238E27FC236}">
                    <a16:creationId xmlns:a16="http://schemas.microsoft.com/office/drawing/2014/main" id="{EF8898B3-9815-4654-9E14-F7C55818C455}"/>
                  </a:ext>
                </a:extLst>
              </p:cNvPr>
              <p:cNvSpPr>
                <a:spLocks noGrp="1" noRot="1" noChangeAspect="1" noMove="1" noResize="1" noEditPoints="1" noAdjustHandles="1" noChangeArrowheads="1" noChangeShapeType="1" noTextEdit="1"/>
              </p:cNvSpPr>
              <p:nvPr>
                <p:ph sz="quarter" idx="4"/>
              </p:nvPr>
            </p:nvSpPr>
            <p:spPr>
              <a:xfrm>
                <a:off x="6172200" y="2102956"/>
                <a:ext cx="5183188" cy="4086707"/>
              </a:xfrm>
              <a:blipFill>
                <a:blip r:embed="rId3"/>
                <a:stretch>
                  <a:fillRect l="-1059" t="-2537" b="-1045"/>
                </a:stretch>
              </a:blipFill>
            </p:spPr>
            <p:txBody>
              <a:bodyPr/>
              <a:lstStyle/>
              <a:p>
                <a:r>
                  <a:rPr lang="en-US">
                    <a:noFill/>
                  </a:rPr>
                  <a:t> </a:t>
                </a:r>
              </a:p>
            </p:txBody>
          </p:sp>
        </mc:Fallback>
      </mc:AlternateContent>
    </p:spTree>
    <p:extLst>
      <p:ext uri="{BB962C8B-B14F-4D97-AF65-F5344CB8AC3E}">
        <p14:creationId xmlns:p14="http://schemas.microsoft.com/office/powerpoint/2010/main" val="12944634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313CC-1A76-49FD-8B44-DF711DCD5DBE}"/>
              </a:ext>
            </a:extLst>
          </p:cNvPr>
          <p:cNvSpPr>
            <a:spLocks noGrp="1"/>
          </p:cNvSpPr>
          <p:nvPr>
            <p:ph type="title"/>
          </p:nvPr>
        </p:nvSpPr>
        <p:spPr/>
        <p:txBody>
          <a:bodyPr/>
          <a:lstStyle/>
          <a:p>
            <a:pPr algn="ctr"/>
            <a:r>
              <a:rPr lang="en-US" dirty="0"/>
              <a:t>Activation functions</a:t>
            </a:r>
          </a:p>
        </p:txBody>
      </p:sp>
      <p:pic>
        <p:nvPicPr>
          <p:cNvPr id="5" name="Content Placeholder 4">
            <a:extLst>
              <a:ext uri="{FF2B5EF4-FFF2-40B4-BE49-F238E27FC236}">
                <a16:creationId xmlns:a16="http://schemas.microsoft.com/office/drawing/2014/main" id="{BF1E2DEF-6EB5-45F3-BA33-5CB892930B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43062" y="2396331"/>
            <a:ext cx="8905875" cy="3209925"/>
          </a:xfrm>
        </p:spPr>
      </p:pic>
      <p:sp>
        <p:nvSpPr>
          <p:cNvPr id="6" name="TextBox 5">
            <a:extLst>
              <a:ext uri="{FF2B5EF4-FFF2-40B4-BE49-F238E27FC236}">
                <a16:creationId xmlns:a16="http://schemas.microsoft.com/office/drawing/2014/main" id="{C8BF380E-7EA3-4AFE-8F94-847D4F9CEEBF}"/>
              </a:ext>
            </a:extLst>
          </p:cNvPr>
          <p:cNvSpPr txBox="1"/>
          <p:nvPr/>
        </p:nvSpPr>
        <p:spPr>
          <a:xfrm>
            <a:off x="3267854" y="5711633"/>
            <a:ext cx="6126840" cy="369332"/>
          </a:xfrm>
          <a:prstGeom prst="rect">
            <a:avLst/>
          </a:prstGeom>
          <a:noFill/>
        </p:spPr>
        <p:txBody>
          <a:bodyPr wrap="square" rtlCol="0">
            <a:spAutoFit/>
          </a:bodyPr>
          <a:lstStyle/>
          <a:p>
            <a:pPr algn="ctr"/>
            <a:r>
              <a:rPr lang="en-US" dirty="0"/>
              <a:t>Source: </a:t>
            </a:r>
            <a:r>
              <a:rPr lang="en-US" dirty="0">
                <a:hlinkClick r:id="rId3"/>
              </a:rPr>
              <a:t>CS 229 – Machine learning </a:t>
            </a:r>
            <a:endParaRPr lang="en-US" dirty="0"/>
          </a:p>
        </p:txBody>
      </p:sp>
    </p:spTree>
    <p:extLst>
      <p:ext uri="{BB962C8B-B14F-4D97-AF65-F5344CB8AC3E}">
        <p14:creationId xmlns:p14="http://schemas.microsoft.com/office/powerpoint/2010/main" val="957011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DD355-FCEA-4DE9-B89D-E5781456B8EE}"/>
              </a:ext>
            </a:extLst>
          </p:cNvPr>
          <p:cNvSpPr>
            <a:spLocks noGrp="1"/>
          </p:cNvSpPr>
          <p:nvPr>
            <p:ph type="title"/>
          </p:nvPr>
        </p:nvSpPr>
        <p:spPr/>
        <p:txBody>
          <a:bodyPr/>
          <a:lstStyle/>
          <a:p>
            <a:pPr algn="ctr"/>
            <a:r>
              <a:rPr lang="en-US" dirty="0"/>
              <a:t>How do Neural Networks Learn?</a:t>
            </a:r>
          </a:p>
        </p:txBody>
      </p:sp>
      <p:sp>
        <p:nvSpPr>
          <p:cNvPr id="6" name="Content Placeholder 5">
            <a:extLst>
              <a:ext uri="{FF2B5EF4-FFF2-40B4-BE49-F238E27FC236}">
                <a16:creationId xmlns:a16="http://schemas.microsoft.com/office/drawing/2014/main" id="{47A082E4-FED2-4727-95EA-5787D3D5A8A6}"/>
              </a:ext>
            </a:extLst>
          </p:cNvPr>
          <p:cNvSpPr>
            <a:spLocks noGrp="1"/>
          </p:cNvSpPr>
          <p:nvPr>
            <p:ph idx="1"/>
          </p:nvPr>
        </p:nvSpPr>
        <p:spPr>
          <a:ln>
            <a:solidFill>
              <a:schemeClr val="bg1"/>
            </a:solidFill>
          </a:ln>
        </p:spPr>
        <p:txBody>
          <a:bodyPr>
            <a:normAutofit/>
          </a:bodyPr>
          <a:lstStyle/>
          <a:p>
            <a:pPr marL="0" indent="0" algn="ctr">
              <a:buNone/>
            </a:pPr>
            <a:r>
              <a:rPr lang="en-US" dirty="0"/>
              <a:t> Feedforwarding propagation </a:t>
            </a:r>
          </a:p>
          <a:p>
            <a:pPr marL="0" indent="0" algn="ctr">
              <a:buNone/>
            </a:pPr>
            <a:r>
              <a:rPr lang="en-US" dirty="0"/>
              <a:t>	</a:t>
            </a:r>
          </a:p>
          <a:p>
            <a:r>
              <a:rPr lang="en-US" sz="2000" dirty="0"/>
              <a:t>Take input vector </a:t>
            </a:r>
          </a:p>
          <a:p>
            <a:r>
              <a:rPr lang="en-US" sz="2000" dirty="0"/>
              <a:t>Calculate the output from each node in each layer.</a:t>
            </a:r>
          </a:p>
          <a:p>
            <a:r>
              <a:rPr lang="en-US" sz="2000" dirty="0"/>
              <a:t>Compare the difference between the estimated output of the neural network and the desired output. The difference is known as the error.</a:t>
            </a:r>
          </a:p>
          <a:p>
            <a:r>
              <a:rPr lang="en-US" sz="2000" dirty="0"/>
              <a:t>Calculate this error using a cost function.</a:t>
            </a:r>
          </a:p>
          <a:p>
            <a:endParaRPr lang="en-US" dirty="0"/>
          </a:p>
        </p:txBody>
      </p:sp>
    </p:spTree>
    <p:extLst>
      <p:ext uri="{BB962C8B-B14F-4D97-AF65-F5344CB8AC3E}">
        <p14:creationId xmlns:p14="http://schemas.microsoft.com/office/powerpoint/2010/main" val="1645028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DD355-FCEA-4DE9-B89D-E5781456B8EE}"/>
              </a:ext>
            </a:extLst>
          </p:cNvPr>
          <p:cNvSpPr>
            <a:spLocks noGrp="1"/>
          </p:cNvSpPr>
          <p:nvPr>
            <p:ph type="title"/>
          </p:nvPr>
        </p:nvSpPr>
        <p:spPr/>
        <p:txBody>
          <a:bodyPr/>
          <a:lstStyle/>
          <a:p>
            <a:pPr algn="ctr"/>
            <a:r>
              <a:rPr lang="en-US" dirty="0"/>
              <a:t>How do Neural Networks Learn?</a:t>
            </a:r>
          </a:p>
        </p:txBody>
      </p:sp>
      <p:sp>
        <p:nvSpPr>
          <p:cNvPr id="6" name="Content Placeholder 5">
            <a:extLst>
              <a:ext uri="{FF2B5EF4-FFF2-40B4-BE49-F238E27FC236}">
                <a16:creationId xmlns:a16="http://schemas.microsoft.com/office/drawing/2014/main" id="{47A082E4-FED2-4727-95EA-5787D3D5A8A6}"/>
              </a:ext>
            </a:extLst>
          </p:cNvPr>
          <p:cNvSpPr>
            <a:spLocks noGrp="1"/>
          </p:cNvSpPr>
          <p:nvPr>
            <p:ph idx="1"/>
          </p:nvPr>
        </p:nvSpPr>
        <p:spPr>
          <a:ln>
            <a:solidFill>
              <a:schemeClr val="bg1"/>
            </a:solidFill>
          </a:ln>
        </p:spPr>
        <p:txBody>
          <a:bodyPr>
            <a:normAutofit/>
          </a:bodyPr>
          <a:lstStyle/>
          <a:p>
            <a:pPr marL="0" indent="0" algn="ctr">
              <a:buNone/>
            </a:pPr>
            <a:r>
              <a:rPr lang="en-US" dirty="0"/>
              <a:t>Backward propagation</a:t>
            </a:r>
          </a:p>
          <a:p>
            <a:pPr marL="0" indent="0" algn="ctr">
              <a:buNone/>
            </a:pPr>
            <a:r>
              <a:rPr lang="en-US" dirty="0"/>
              <a:t>(Backpropagation) 	</a:t>
            </a:r>
          </a:p>
          <a:p>
            <a:r>
              <a:rPr lang="en-US" sz="2000" dirty="0"/>
              <a:t>Back-propagate the calculated error by estimating the gradient of each node in the neural network, from the output layer down to the first hidden layer;</a:t>
            </a:r>
          </a:p>
          <a:p>
            <a:r>
              <a:rPr lang="en-US" sz="2000" dirty="0"/>
              <a:t>Update the weights of the neural network so as to minimize the error in the next feedforward processing. </a:t>
            </a:r>
          </a:p>
        </p:txBody>
      </p:sp>
    </p:spTree>
    <p:extLst>
      <p:ext uri="{BB962C8B-B14F-4D97-AF65-F5344CB8AC3E}">
        <p14:creationId xmlns:p14="http://schemas.microsoft.com/office/powerpoint/2010/main" val="317787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F6DEF-024B-4168-A2A6-DA3682C25F20}"/>
              </a:ext>
            </a:extLst>
          </p:cNvPr>
          <p:cNvSpPr>
            <a:spLocks noGrp="1"/>
          </p:cNvSpPr>
          <p:nvPr>
            <p:ph type="title"/>
          </p:nvPr>
        </p:nvSpPr>
        <p:spPr/>
        <p:txBody>
          <a:bodyPr/>
          <a:lstStyle/>
          <a:p>
            <a:pPr algn="ctr"/>
            <a:r>
              <a:rPr lang="en-US" dirty="0"/>
              <a:t>Cost functions </a:t>
            </a:r>
          </a:p>
        </p:txBody>
      </p:sp>
      <p:sp>
        <p:nvSpPr>
          <p:cNvPr id="3" name="Content Placeholder 2">
            <a:extLst>
              <a:ext uri="{FF2B5EF4-FFF2-40B4-BE49-F238E27FC236}">
                <a16:creationId xmlns:a16="http://schemas.microsoft.com/office/drawing/2014/main" id="{D62A02AD-EBD1-4BB6-AE7D-5CDD806D7F17}"/>
              </a:ext>
            </a:extLst>
          </p:cNvPr>
          <p:cNvSpPr>
            <a:spLocks noGrp="1"/>
          </p:cNvSpPr>
          <p:nvPr>
            <p:ph sz="half" idx="1"/>
          </p:nvPr>
        </p:nvSpPr>
        <p:spPr/>
        <p:txBody>
          <a:bodyPr>
            <a:normAutofit/>
          </a:bodyPr>
          <a:lstStyle/>
          <a:p>
            <a:r>
              <a:rPr lang="en-US" sz="2000" dirty="0"/>
              <a:t>A cost function is simply the objective function a deep neural network is trying to minimize </a:t>
            </a:r>
          </a:p>
          <a:p>
            <a:r>
              <a:rPr lang="en-US" sz="2000" dirty="0"/>
              <a:t> It is a measure of how wrong the model is in terms of its ability to estimate the desired output</a:t>
            </a:r>
          </a:p>
          <a:p>
            <a:r>
              <a:rPr lang="en-US" sz="2000" dirty="0"/>
              <a:t>The choice of a cost function is extremely important and we can choose a cost function with respect to the machine learning task.</a:t>
            </a:r>
          </a:p>
          <a:p>
            <a:endParaRPr lang="en-US" sz="2000"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35BA676-02D2-4CEC-A65C-14A407DB673E}"/>
                  </a:ext>
                </a:extLst>
              </p:cNvPr>
              <p:cNvSpPr>
                <a:spLocks noGrp="1"/>
              </p:cNvSpPr>
              <p:nvPr>
                <p:ph sz="half" idx="2"/>
              </p:nvPr>
            </p:nvSpPr>
            <p:spPr/>
            <p:txBody>
              <a:bodyPr>
                <a:normAutofit/>
              </a:bodyPr>
              <a:lstStyle/>
              <a:p>
                <a:pPr marL="0" indent="0">
                  <a:buNone/>
                </a:pPr>
                <a:r>
                  <a:rPr lang="en-US" sz="2000" dirty="0"/>
                  <a:t>Classification Tasks:</a:t>
                </a:r>
              </a:p>
              <a:p>
                <a:r>
                  <a:rPr lang="en-US" sz="2000" dirty="0"/>
                  <a:t>Binary cross-entropy function;</a:t>
                </a:r>
              </a:p>
              <a:p>
                <a:pPr marL="0" indent="0" algn="ctr">
                  <a:buNone/>
                </a:pPr>
                <a14:m>
                  <m:oMath xmlns:m="http://schemas.openxmlformats.org/officeDocument/2006/math">
                    <m:r>
                      <a:rPr lang="en-US" sz="2000" i="1">
                        <a:latin typeface="Cambria Math" panose="02040503050406030204" pitchFamily="18" charset="0"/>
                      </a:rPr>
                      <m:t>𝐽</m:t>
                    </m:r>
                    <m:r>
                      <a:rPr lang="en-US" sz="2000" i="1">
                        <a:latin typeface="Cambria Math" panose="02040503050406030204" pitchFamily="18" charset="0"/>
                      </a:rPr>
                      <m:t>(</m:t>
                    </m:r>
                    <m:r>
                      <a:rPr lang="en-US" sz="2000" i="1">
                        <a:latin typeface="Cambria Math" panose="02040503050406030204" pitchFamily="18" charset="0"/>
                      </a:rPr>
                      <m:t>𝜃</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𝔼</m:t>
                        </m:r>
                      </m:e>
                      <m:sub>
                        <m:r>
                          <a:rPr lang="en-US" sz="2000" i="1">
                            <a:latin typeface="Cambria Math" panose="02040503050406030204" pitchFamily="18" charset="0"/>
                          </a:rPr>
                          <m:t>𝑥</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𝑑𝑎𝑡𝑎</m:t>
                            </m:r>
                          </m:sub>
                        </m:sSub>
                      </m:sub>
                    </m:sSub>
                    <m:r>
                      <a:rPr lang="en-US" sz="2000" i="1">
                        <a:latin typeface="Cambria Math" panose="02040503050406030204" pitchFamily="18" charset="0"/>
                      </a:rPr>
                      <m:t>𝑙𝑜𝑔</m:t>
                    </m:r>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𝑚𝑜𝑑𝑒𝑙</m:t>
                        </m:r>
                      </m:sub>
                    </m:sSub>
                    <m:r>
                      <a:rPr lang="en-US" sz="2000" i="1">
                        <a:latin typeface="Cambria Math" panose="02040503050406030204" pitchFamily="18" charset="0"/>
                      </a:rPr>
                      <m:t>(</m:t>
                    </m:r>
                    <m:r>
                      <a:rPr lang="en-US" sz="2000" i="1">
                        <a:latin typeface="Cambria Math" panose="02040503050406030204" pitchFamily="18" charset="0"/>
                      </a:rPr>
                      <m:t>𝑦</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oMath>
                </a14:m>
                <a:r>
                  <a:rPr lang="en-US" sz="2000" dirty="0"/>
                  <a:t>.</a:t>
                </a:r>
              </a:p>
              <a:p>
                <a:pPr marL="0" indent="0">
                  <a:buNone/>
                </a:pPr>
                <a:endParaRPr lang="en-US" sz="2000" dirty="0"/>
              </a:p>
              <a:p>
                <a:pPr marL="0" indent="0">
                  <a:buNone/>
                </a:pPr>
                <a:r>
                  <a:rPr lang="en-US" sz="2000" dirty="0"/>
                  <a:t>Regression Tasks:</a:t>
                </a:r>
              </a:p>
              <a:p>
                <a:r>
                  <a:rPr lang="en-US" sz="2000" dirty="0"/>
                  <a:t>Mean Squared Error (MSE);</a:t>
                </a:r>
              </a:p>
              <a:p>
                <a:pPr marL="0" indent="0" algn="ctr">
                  <a:buNone/>
                </a:pPr>
                <a14:m>
                  <m:oMath xmlns:m="http://schemas.openxmlformats.org/officeDocument/2006/math">
                    <m:r>
                      <a:rPr lang="en-US" sz="2000" i="1">
                        <a:latin typeface="Cambria Math" panose="02040503050406030204" pitchFamily="18" charset="0"/>
                      </a:rPr>
                      <m:t>𝑚𝑠𝑒</m:t>
                    </m:r>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𝑛</m:t>
                        </m:r>
                      </m:den>
                    </m:f>
                    <m:nary>
                      <m:naryPr>
                        <m:chr m:val="∑"/>
                        <m:limLoc m:val="subSup"/>
                        <m:supHide m:val="on"/>
                        <m:ctrlPr>
                          <a:rPr lang="en-US" sz="2000" i="1">
                            <a:latin typeface="Cambria Math" panose="02040503050406030204" pitchFamily="18" charset="0"/>
                          </a:rPr>
                        </m:ctrlPr>
                      </m:naryPr>
                      <m:sub>
                        <m:r>
                          <a:rPr lang="en-US" sz="2000" i="1">
                            <a:latin typeface="Cambria Math" panose="02040503050406030204" pitchFamily="18" charset="0"/>
                          </a:rPr>
                          <m:t>𝑛</m:t>
                        </m:r>
                        <m:r>
                          <a:rPr lang="en-US" sz="2000" i="1">
                            <a:latin typeface="Cambria Math" panose="02040503050406030204" pitchFamily="18" charset="0"/>
                          </a:rPr>
                          <m:t>=1</m:t>
                        </m:r>
                      </m:sub>
                      <m:sup/>
                      <m:e>
                        <m:sSup>
                          <m:sSupPr>
                            <m:ctrlPr>
                              <a:rPr lang="en-US" sz="2000" i="1">
                                <a:latin typeface="Cambria Math" panose="02040503050406030204" pitchFamily="18" charset="0"/>
                              </a:rPr>
                            </m:ctrlPr>
                          </m:sSupPr>
                          <m:e>
                            <m:r>
                              <a:rPr lang="en-US" sz="2000" i="1">
                                <a:latin typeface="Cambria Math" panose="02040503050406030204" pitchFamily="18" charset="0"/>
                              </a:rPr>
                              <m:t>(</m:t>
                            </m:r>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r>
                              <a:rPr lang="en-US" sz="2000" i="1">
                                <a:latin typeface="Cambria Math" panose="02040503050406030204" pitchFamily="18" charset="0"/>
                              </a:rPr>
                              <m:t>−</m:t>
                            </m:r>
                            <m:r>
                              <a:rPr lang="en-US" sz="2000" i="1">
                                <a:latin typeface="Cambria Math" panose="02040503050406030204" pitchFamily="18" charset="0"/>
                              </a:rPr>
                              <m:t>𝑦</m:t>
                            </m:r>
                            <m:r>
                              <a:rPr lang="en-US" sz="2000" i="1">
                                <a:latin typeface="Cambria Math" panose="02040503050406030204" pitchFamily="18" charset="0"/>
                              </a:rPr>
                              <m:t>)</m:t>
                            </m:r>
                          </m:e>
                          <m:sup>
                            <m:r>
                              <a:rPr lang="en-US" sz="2000" i="1">
                                <a:latin typeface="Cambria Math" panose="02040503050406030204" pitchFamily="18" charset="0"/>
                              </a:rPr>
                              <m:t>2</m:t>
                            </m:r>
                          </m:sup>
                        </m:sSup>
                      </m:e>
                    </m:nary>
                  </m:oMath>
                </a14:m>
                <a:r>
                  <a:rPr lang="en-US" sz="2000" dirty="0"/>
                  <a:t> </a:t>
                </a:r>
              </a:p>
              <a:p>
                <a:r>
                  <a:rPr lang="en-US" sz="2000" dirty="0"/>
                  <a:t>r-squared;</a:t>
                </a:r>
              </a:p>
              <a:p>
                <a:r>
                  <a:rPr lang="en-US" sz="2000" dirty="0"/>
                  <a:t>Mean Log Squared error (MSLE)</a:t>
                </a:r>
              </a:p>
            </p:txBody>
          </p:sp>
        </mc:Choice>
        <mc:Fallback xmlns="">
          <p:sp>
            <p:nvSpPr>
              <p:cNvPr id="4" name="Content Placeholder 3">
                <a:extLst>
                  <a:ext uri="{FF2B5EF4-FFF2-40B4-BE49-F238E27FC236}">
                    <a16:creationId xmlns:a16="http://schemas.microsoft.com/office/drawing/2014/main" id="{E35BA676-02D2-4CEC-A65C-14A407DB673E}"/>
                  </a:ext>
                </a:extLst>
              </p:cNvPr>
              <p:cNvSpPr>
                <a:spLocks noGrp="1" noRot="1" noChangeAspect="1" noMove="1" noResize="1" noEditPoints="1" noAdjustHandles="1" noChangeArrowheads="1" noChangeShapeType="1" noTextEdit="1"/>
              </p:cNvSpPr>
              <p:nvPr>
                <p:ph sz="half" idx="2"/>
              </p:nvPr>
            </p:nvSpPr>
            <p:spPr>
              <a:blipFill>
                <a:blip r:embed="rId2"/>
                <a:stretch>
                  <a:fillRect l="-1294" t="-1401"/>
                </a:stretch>
              </a:blipFill>
            </p:spPr>
            <p:txBody>
              <a:bodyPr/>
              <a:lstStyle/>
              <a:p>
                <a:r>
                  <a:rPr lang="en-US">
                    <a:noFill/>
                  </a:rPr>
                  <a:t> </a:t>
                </a:r>
              </a:p>
            </p:txBody>
          </p:sp>
        </mc:Fallback>
      </mc:AlternateContent>
    </p:spTree>
    <p:extLst>
      <p:ext uri="{BB962C8B-B14F-4D97-AF65-F5344CB8AC3E}">
        <p14:creationId xmlns:p14="http://schemas.microsoft.com/office/powerpoint/2010/main" val="1019049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FC682-5F7D-4E27-9EE0-DFA9470AC3F7}"/>
              </a:ext>
            </a:extLst>
          </p:cNvPr>
          <p:cNvSpPr>
            <a:spLocks noGrp="1"/>
          </p:cNvSpPr>
          <p:nvPr>
            <p:ph type="title"/>
          </p:nvPr>
        </p:nvSpPr>
        <p:spPr/>
        <p:txBody>
          <a:bodyPr/>
          <a:lstStyle/>
          <a:p>
            <a:pPr algn="ctr"/>
            <a:r>
              <a:rPr lang="en-US" dirty="0"/>
              <a:t>Backpropagation</a:t>
            </a:r>
          </a:p>
        </p:txBody>
      </p:sp>
      <p:pic>
        <p:nvPicPr>
          <p:cNvPr id="13" name="Content Placeholder 12">
            <a:extLst>
              <a:ext uri="{FF2B5EF4-FFF2-40B4-BE49-F238E27FC236}">
                <a16:creationId xmlns:a16="http://schemas.microsoft.com/office/drawing/2014/main" id="{6611DE81-FD77-4122-AC00-B0134F2DEA9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2430872"/>
            <a:ext cx="5038356" cy="2221733"/>
          </a:xfrm>
        </p:spPr>
      </p:pic>
      <p:pic>
        <p:nvPicPr>
          <p:cNvPr id="19" name="Content Placeholder 18">
            <a:extLst>
              <a:ext uri="{FF2B5EF4-FFF2-40B4-BE49-F238E27FC236}">
                <a16:creationId xmlns:a16="http://schemas.microsoft.com/office/drawing/2014/main" id="{9E1DD971-E95B-49C2-B491-CEBEF849405B}"/>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096000" y="2771497"/>
            <a:ext cx="5181600" cy="1881108"/>
          </a:xfrm>
        </p:spPr>
      </p:pic>
      <p:sp>
        <p:nvSpPr>
          <p:cNvPr id="14" name="TextBox 13">
            <a:extLst>
              <a:ext uri="{FF2B5EF4-FFF2-40B4-BE49-F238E27FC236}">
                <a16:creationId xmlns:a16="http://schemas.microsoft.com/office/drawing/2014/main" id="{BCA5FCEB-CDEA-41D7-AD0B-193AC013B578}"/>
              </a:ext>
            </a:extLst>
          </p:cNvPr>
          <p:cNvSpPr txBox="1"/>
          <p:nvPr/>
        </p:nvSpPr>
        <p:spPr>
          <a:xfrm>
            <a:off x="1160364" y="4886793"/>
            <a:ext cx="10359311" cy="707886"/>
          </a:xfrm>
          <a:prstGeom prst="rect">
            <a:avLst/>
          </a:prstGeom>
          <a:noFill/>
        </p:spPr>
        <p:txBody>
          <a:bodyPr wrap="none" rtlCol="0">
            <a:spAutoFit/>
          </a:bodyPr>
          <a:lstStyle/>
          <a:p>
            <a:pPr algn="ctr"/>
            <a:r>
              <a:rPr lang="en-US" sz="2000" dirty="0"/>
              <a:t>To begin our discussion of backpropagation, </a:t>
            </a:r>
          </a:p>
          <a:p>
            <a:pPr algn="ctr"/>
            <a:r>
              <a:rPr lang="en-US" sz="2000" dirty="0"/>
              <a:t>Let us visualize (for simplicity) the neural network on the left as the single path queue on the right.</a:t>
            </a:r>
          </a:p>
        </p:txBody>
      </p:sp>
      <p:sp>
        <p:nvSpPr>
          <p:cNvPr id="15" name="TextBox 14">
            <a:extLst>
              <a:ext uri="{FF2B5EF4-FFF2-40B4-BE49-F238E27FC236}">
                <a16:creationId xmlns:a16="http://schemas.microsoft.com/office/drawing/2014/main" id="{F5C1E8B1-E48E-4BF6-9C44-6D1817650880}"/>
              </a:ext>
            </a:extLst>
          </p:cNvPr>
          <p:cNvSpPr txBox="1"/>
          <p:nvPr/>
        </p:nvSpPr>
        <p:spPr>
          <a:xfrm>
            <a:off x="1150614" y="1525589"/>
            <a:ext cx="10378803" cy="707886"/>
          </a:xfrm>
          <a:prstGeom prst="rect">
            <a:avLst/>
          </a:prstGeom>
          <a:noFill/>
        </p:spPr>
        <p:txBody>
          <a:bodyPr wrap="none" rtlCol="0">
            <a:spAutoFit/>
          </a:bodyPr>
          <a:lstStyle/>
          <a:p>
            <a:pPr algn="ctr"/>
            <a:r>
              <a:rPr lang="en-US" sz="2000" dirty="0"/>
              <a:t>We already know that the backpropagation algorithm is used to train the artificial neural network,</a:t>
            </a:r>
          </a:p>
          <a:p>
            <a:pPr algn="ctr"/>
            <a:r>
              <a:rPr lang="en-US" sz="2000" dirty="0"/>
              <a:t>Now lets learn how it works in more detail.</a:t>
            </a:r>
          </a:p>
        </p:txBody>
      </p:sp>
    </p:spTree>
    <p:extLst>
      <p:ext uri="{BB962C8B-B14F-4D97-AF65-F5344CB8AC3E}">
        <p14:creationId xmlns:p14="http://schemas.microsoft.com/office/powerpoint/2010/main" val="4018181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FFC2C-FBD9-4D3B-BD10-38F634754168}"/>
              </a:ext>
            </a:extLst>
          </p:cNvPr>
          <p:cNvSpPr>
            <a:spLocks noGrp="1"/>
          </p:cNvSpPr>
          <p:nvPr>
            <p:ph type="title"/>
          </p:nvPr>
        </p:nvSpPr>
        <p:spPr/>
        <p:txBody>
          <a:bodyPr/>
          <a:lstStyle/>
          <a:p>
            <a:pPr algn="ctr"/>
            <a:r>
              <a:rPr lang="en-US" dirty="0"/>
              <a:t>Backpropagation</a:t>
            </a:r>
          </a:p>
        </p:txBody>
      </p:sp>
      <p:pic>
        <p:nvPicPr>
          <p:cNvPr id="18" name="Content Placeholder 17">
            <a:extLst>
              <a:ext uri="{FF2B5EF4-FFF2-40B4-BE49-F238E27FC236}">
                <a16:creationId xmlns:a16="http://schemas.microsoft.com/office/drawing/2014/main" id="{BDBB7891-2D5D-456B-9AEF-8E45E39F778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11760" y="3143357"/>
            <a:ext cx="5808040" cy="1923318"/>
          </a:xfrm>
        </p:spPr>
      </p:pic>
      <p:sp>
        <p:nvSpPr>
          <p:cNvPr id="4" name="Content Placeholder 3">
            <a:extLst>
              <a:ext uri="{FF2B5EF4-FFF2-40B4-BE49-F238E27FC236}">
                <a16:creationId xmlns:a16="http://schemas.microsoft.com/office/drawing/2014/main" id="{7D387E4C-7C73-46CF-B1AE-5A9DE4D35B2B}"/>
              </a:ext>
            </a:extLst>
          </p:cNvPr>
          <p:cNvSpPr>
            <a:spLocks noGrp="1"/>
          </p:cNvSpPr>
          <p:nvPr>
            <p:ph sz="half" idx="2"/>
          </p:nvPr>
        </p:nvSpPr>
        <p:spPr/>
        <p:txBody>
          <a:bodyPr>
            <a:normAutofit/>
          </a:bodyPr>
          <a:lstStyle/>
          <a:p>
            <a:pPr marL="0" indent="0">
              <a:buNone/>
            </a:pPr>
            <a:r>
              <a:rPr lang="en-US" sz="2000" dirty="0"/>
              <a:t>The neural network in the diagram consists of </a:t>
            </a:r>
          </a:p>
          <a:p>
            <a:r>
              <a:rPr lang="en-US" sz="2000" dirty="0"/>
              <a:t>x - an input; </a:t>
            </a:r>
          </a:p>
          <a:p>
            <a:r>
              <a:rPr lang="en-US" sz="2000" dirty="0"/>
              <a:t>g(x) – the activation function in the hidden layer and </a:t>
            </a:r>
          </a:p>
          <a:p>
            <a:r>
              <a:rPr lang="en-US" sz="2000" dirty="0"/>
              <a:t>f(z) the activation function in the output layer.</a:t>
            </a:r>
          </a:p>
          <a:p>
            <a:pPr marL="0" indent="0">
              <a:buNone/>
            </a:pPr>
            <a:r>
              <a:rPr lang="en-US" sz="2000" dirty="0"/>
              <a:t>The output of g(x) is z</a:t>
            </a:r>
          </a:p>
          <a:p>
            <a:pPr marL="0" indent="0">
              <a:buNone/>
            </a:pPr>
            <a:r>
              <a:rPr lang="en-US" sz="2000" dirty="0"/>
              <a:t>The output of f(z) is y (the final output of the neural network)</a:t>
            </a:r>
          </a:p>
        </p:txBody>
      </p:sp>
      <p:sp>
        <p:nvSpPr>
          <p:cNvPr id="19" name="TextBox 18">
            <a:extLst>
              <a:ext uri="{FF2B5EF4-FFF2-40B4-BE49-F238E27FC236}">
                <a16:creationId xmlns:a16="http://schemas.microsoft.com/office/drawing/2014/main" id="{43754F3E-4E4C-4342-AA5C-E16B3C3E14A6}"/>
              </a:ext>
            </a:extLst>
          </p:cNvPr>
          <p:cNvSpPr txBox="1"/>
          <p:nvPr/>
        </p:nvSpPr>
        <p:spPr>
          <a:xfrm>
            <a:off x="84150" y="4833476"/>
            <a:ext cx="6063263" cy="923330"/>
          </a:xfrm>
          <a:prstGeom prst="rect">
            <a:avLst/>
          </a:prstGeom>
          <a:noFill/>
        </p:spPr>
        <p:txBody>
          <a:bodyPr wrap="none" rtlCol="0">
            <a:spAutoFit/>
          </a:bodyPr>
          <a:lstStyle/>
          <a:p>
            <a:pPr algn="ctr"/>
            <a:r>
              <a:rPr lang="en-US" dirty="0"/>
              <a:t>Next we define the neural network with its activation function </a:t>
            </a:r>
          </a:p>
          <a:p>
            <a:pPr algn="ctr"/>
            <a:r>
              <a:rPr lang="en-US" dirty="0"/>
              <a:t>and output node;</a:t>
            </a:r>
          </a:p>
          <a:p>
            <a:endParaRPr lang="en-US" dirty="0"/>
          </a:p>
        </p:txBody>
      </p:sp>
    </p:spTree>
    <p:extLst>
      <p:ext uri="{BB962C8B-B14F-4D97-AF65-F5344CB8AC3E}">
        <p14:creationId xmlns:p14="http://schemas.microsoft.com/office/powerpoint/2010/main" val="6482871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FFC2C-FBD9-4D3B-BD10-38F634754168}"/>
              </a:ext>
            </a:extLst>
          </p:cNvPr>
          <p:cNvSpPr>
            <a:spLocks noGrp="1"/>
          </p:cNvSpPr>
          <p:nvPr>
            <p:ph type="title"/>
          </p:nvPr>
        </p:nvSpPr>
        <p:spPr/>
        <p:txBody>
          <a:bodyPr/>
          <a:lstStyle/>
          <a:p>
            <a:pPr algn="ctr"/>
            <a:r>
              <a:rPr lang="en-US" dirty="0"/>
              <a:t>Backpropagation</a:t>
            </a:r>
          </a:p>
        </p:txBody>
      </p:sp>
      <p:pic>
        <p:nvPicPr>
          <p:cNvPr id="7" name="Content Placeholder 6">
            <a:extLst>
              <a:ext uri="{FF2B5EF4-FFF2-40B4-BE49-F238E27FC236}">
                <a16:creationId xmlns:a16="http://schemas.microsoft.com/office/drawing/2014/main" id="{11F114E2-235F-425A-BBBE-E27C0781248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47561" y="3143357"/>
            <a:ext cx="5672239" cy="1878348"/>
          </a:xfrm>
        </p:spPr>
      </p:pic>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D387E4C-7C73-46CF-B1AE-5A9DE4D35B2B}"/>
                  </a:ext>
                </a:extLst>
              </p:cNvPr>
              <p:cNvSpPr>
                <a:spLocks noGrp="1"/>
              </p:cNvSpPr>
              <p:nvPr>
                <p:ph sz="half" idx="2"/>
              </p:nvPr>
            </p:nvSpPr>
            <p:spPr/>
            <p:txBody>
              <a:bodyPr>
                <a:normAutofit/>
              </a:bodyPr>
              <a:lstStyle/>
              <a:p>
                <a:r>
                  <a:rPr lang="en-US" sz="2000" dirty="0"/>
                  <a:t>We can describe the neural network as a link of functions;</a:t>
                </a:r>
              </a:p>
              <a:p>
                <a:pPr marL="0" indent="0">
                  <a:buNone/>
                </a:pPr>
                <a14:m>
                  <m:oMathPara xmlns:m="http://schemas.openxmlformats.org/officeDocument/2006/math">
                    <m:oMathParaPr>
                      <m:jc m:val="center"/>
                    </m:oMathParaPr>
                    <m:oMath xmlns:m="http://schemas.openxmlformats.org/officeDocument/2006/math">
                      <m:r>
                        <a:rPr lang="en-US" sz="2000" i="1">
                          <a:latin typeface="Cambria Math" panose="02040503050406030204" pitchFamily="18" charset="0"/>
                        </a:rPr>
                        <m:t>𝑦</m:t>
                      </m:r>
                      <m:r>
                        <a:rPr lang="en-US" sz="2000" i="1">
                          <a:latin typeface="Cambria Math" panose="02040503050406030204" pitchFamily="18" charset="0"/>
                        </a:rPr>
                        <m:t>=</m:t>
                      </m:r>
                      <m:r>
                        <a:rPr lang="en-US" sz="2000" i="1">
                          <a:latin typeface="Cambria Math" panose="02040503050406030204" pitchFamily="18" charset="0"/>
                        </a:rPr>
                        <m:t>𝑓</m:t>
                      </m:r>
                      <m:r>
                        <a:rPr lang="en-US" sz="2000" i="1">
                          <a:latin typeface="Cambria Math" panose="02040503050406030204" pitchFamily="18" charset="0"/>
                        </a:rPr>
                        <m:t>(</m:t>
                      </m:r>
                      <m:r>
                        <a:rPr lang="en-US" sz="2000" i="1">
                          <a:latin typeface="Cambria Math" panose="02040503050406030204" pitchFamily="18" charset="0"/>
                        </a:rPr>
                        <m:t>𝑔</m:t>
                      </m:r>
                      <m:d>
                        <m:dPr>
                          <m:ctrlPr>
                            <a:rPr lang="en-US" sz="2000" i="1">
                              <a:latin typeface="Cambria Math" panose="02040503050406030204" pitchFamily="18" charset="0"/>
                            </a:rPr>
                          </m:ctrlPr>
                        </m:dPr>
                        <m:e>
                          <m:r>
                            <a:rPr lang="en-US" sz="2000" i="1">
                              <a:latin typeface="Cambria Math" panose="02040503050406030204" pitchFamily="18" charset="0"/>
                            </a:rPr>
                            <m:t>𝑥</m:t>
                          </m:r>
                        </m:e>
                      </m:d>
                      <m:r>
                        <a:rPr lang="en-US" sz="2000" i="1">
                          <a:latin typeface="Cambria Math" panose="02040503050406030204" pitchFamily="18" charset="0"/>
                        </a:rPr>
                        <m:t>)</m:t>
                      </m:r>
                    </m:oMath>
                  </m:oMathPara>
                </a14:m>
                <a:endParaRPr lang="en-US" sz="2000" dirty="0"/>
              </a:p>
              <a:p>
                <a:pPr marL="0" indent="0">
                  <a:buNone/>
                </a:pPr>
                <a:r>
                  <a:rPr lang="en-US" sz="2000" dirty="0"/>
                  <a:t>  Where y is the estimated output.</a:t>
                </a:r>
              </a:p>
              <a:p>
                <a:r>
                  <a:rPr lang="en-US" sz="2000" dirty="0"/>
                  <a:t>Next, the cost function calculates the error between our estimated output and the desired output. We can call this error </a:t>
                </a:r>
                <a14:m>
                  <m:oMath xmlns:m="http://schemas.openxmlformats.org/officeDocument/2006/math">
                    <m:r>
                      <a:rPr lang="en-US" sz="2000" b="1" i="1" smtClean="0">
                        <a:latin typeface="Cambria Math" panose="02040503050406030204" pitchFamily="18" charset="0"/>
                      </a:rPr>
                      <m:t>𝒆</m:t>
                    </m:r>
                  </m:oMath>
                </a14:m>
                <a:r>
                  <a:rPr lang="en-US" sz="2000" dirty="0"/>
                  <a:t>. </a:t>
                </a:r>
              </a:p>
              <a:p>
                <a:r>
                  <a:rPr lang="en-US" sz="2000" dirty="0"/>
                  <a:t>Think of  </a:t>
                </a:r>
                <a14:m>
                  <m:oMath xmlns:m="http://schemas.openxmlformats.org/officeDocument/2006/math">
                    <m:r>
                      <a:rPr lang="en-US" sz="2000" b="1" i="1">
                        <a:latin typeface="Cambria Math" panose="02040503050406030204" pitchFamily="18" charset="0"/>
                      </a:rPr>
                      <m:t>𝒆</m:t>
                    </m:r>
                  </m:oMath>
                </a14:m>
                <a:r>
                  <a:rPr lang="en-US" sz="2000" dirty="0"/>
                  <a:t> as the output from the cost function.</a:t>
                </a:r>
              </a:p>
            </p:txBody>
          </p:sp>
        </mc:Choice>
        <mc:Fallback xmlns="">
          <p:sp>
            <p:nvSpPr>
              <p:cNvPr id="4" name="Content Placeholder 3">
                <a:extLst>
                  <a:ext uri="{FF2B5EF4-FFF2-40B4-BE49-F238E27FC236}">
                    <a16:creationId xmlns:a16="http://schemas.microsoft.com/office/drawing/2014/main" id="{7D387E4C-7C73-46CF-B1AE-5A9DE4D35B2B}"/>
                  </a:ext>
                </a:extLst>
              </p:cNvPr>
              <p:cNvSpPr>
                <a:spLocks noGrp="1" noRot="1" noChangeAspect="1" noMove="1" noResize="1" noEditPoints="1" noAdjustHandles="1" noChangeArrowheads="1" noChangeShapeType="1" noTextEdit="1"/>
              </p:cNvSpPr>
              <p:nvPr>
                <p:ph sz="half" idx="2"/>
              </p:nvPr>
            </p:nvSpPr>
            <p:spPr>
              <a:blipFill>
                <a:blip r:embed="rId3"/>
                <a:stretch>
                  <a:fillRect l="-1059" t="-1401"/>
                </a:stretch>
              </a:blipFill>
            </p:spPr>
            <p:txBody>
              <a:bodyPr/>
              <a:lstStyle/>
              <a:p>
                <a:r>
                  <a:rPr lang="en-US">
                    <a:noFill/>
                  </a:rPr>
                  <a:t> </a:t>
                </a:r>
              </a:p>
            </p:txBody>
          </p:sp>
        </mc:Fallback>
      </mc:AlternateContent>
    </p:spTree>
    <p:extLst>
      <p:ext uri="{BB962C8B-B14F-4D97-AF65-F5344CB8AC3E}">
        <p14:creationId xmlns:p14="http://schemas.microsoft.com/office/powerpoint/2010/main" val="3899933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FFC2C-FBD9-4D3B-BD10-38F634754168}"/>
              </a:ext>
            </a:extLst>
          </p:cNvPr>
          <p:cNvSpPr>
            <a:spLocks noGrp="1"/>
          </p:cNvSpPr>
          <p:nvPr>
            <p:ph type="title"/>
          </p:nvPr>
        </p:nvSpPr>
        <p:spPr/>
        <p:txBody>
          <a:bodyPr/>
          <a:lstStyle/>
          <a:p>
            <a:pPr algn="ctr"/>
            <a:r>
              <a:rPr lang="en-US" dirty="0"/>
              <a:t>Backpropagation</a:t>
            </a:r>
          </a:p>
        </p:txBody>
      </p:sp>
      <p:pic>
        <p:nvPicPr>
          <p:cNvPr id="7" name="Content Placeholder 6">
            <a:extLst>
              <a:ext uri="{FF2B5EF4-FFF2-40B4-BE49-F238E27FC236}">
                <a16:creationId xmlns:a16="http://schemas.microsoft.com/office/drawing/2014/main" id="{11F114E2-235F-425A-BBBE-E27C0781248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47561" y="3143357"/>
            <a:ext cx="5672239" cy="1878348"/>
          </a:xfrm>
        </p:spPr>
      </p:pic>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D387E4C-7C73-46CF-B1AE-5A9DE4D35B2B}"/>
                  </a:ext>
                </a:extLst>
              </p:cNvPr>
              <p:cNvSpPr>
                <a:spLocks noGrp="1"/>
              </p:cNvSpPr>
              <p:nvPr>
                <p:ph sz="half" idx="2"/>
              </p:nvPr>
            </p:nvSpPr>
            <p:spPr>
              <a:xfrm>
                <a:off x="6172700" y="1825625"/>
                <a:ext cx="5181600" cy="4667250"/>
              </a:xfrm>
            </p:spPr>
            <p:txBody>
              <a:bodyPr>
                <a:normAutofit/>
              </a:bodyPr>
              <a:lstStyle/>
              <a:p>
                <a:r>
                  <a:rPr lang="en-US" sz="2000" dirty="0"/>
                  <a:t>We wont bother calculating the gradient of the error with respect to the output node y because; </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m:t>
                          </m:r>
                          <m:r>
                            <a:rPr lang="en-US" sz="2000" b="1" i="1">
                              <a:latin typeface="Cambria Math" panose="02040503050406030204" pitchFamily="18" charset="0"/>
                            </a:rPr>
                            <m:t>𝒆</m:t>
                          </m:r>
                        </m:num>
                        <m:den>
                          <m:r>
                            <a:rPr lang="en-US" sz="2000" i="1">
                              <a:latin typeface="Cambria Math" panose="02040503050406030204" pitchFamily="18" charset="0"/>
                            </a:rPr>
                            <m:t>𝜕</m:t>
                          </m:r>
                          <m:r>
                            <a:rPr lang="en-US" sz="2000" b="0" i="1" smtClean="0">
                              <a:latin typeface="Cambria Math" panose="02040503050406030204" pitchFamily="18" charset="0"/>
                            </a:rPr>
                            <m:t>𝑦</m:t>
                          </m:r>
                        </m:den>
                      </m:f>
                      <m:r>
                        <a:rPr lang="en-US" sz="2000" b="0" i="1" smtClean="0">
                          <a:latin typeface="Cambria Math" panose="02040503050406030204" pitchFamily="18" charset="0"/>
                        </a:rPr>
                        <m:t>=</m:t>
                      </m:r>
                      <m:r>
                        <a:rPr lang="en-US" sz="2000" b="1" i="1">
                          <a:latin typeface="Cambria Math" panose="02040503050406030204" pitchFamily="18" charset="0"/>
                        </a:rPr>
                        <m:t>𝒆</m:t>
                      </m:r>
                    </m:oMath>
                  </m:oMathPara>
                </a14:m>
                <a:endParaRPr lang="en-US" sz="2000" dirty="0"/>
              </a:p>
              <a:p>
                <a:r>
                  <a:rPr lang="en-US" sz="2000" dirty="0"/>
                  <a:t>We go ahead to calculate the gradient of the error  </a:t>
                </a:r>
                <a14:m>
                  <m:oMath xmlns:m="http://schemas.openxmlformats.org/officeDocument/2006/math">
                    <m:r>
                      <a:rPr lang="en-US" sz="2000" b="1" i="1">
                        <a:latin typeface="Cambria Math" panose="02040503050406030204" pitchFamily="18" charset="0"/>
                      </a:rPr>
                      <m:t>𝒆</m:t>
                    </m:r>
                  </m:oMath>
                </a14:m>
                <a:r>
                  <a:rPr lang="en-US" sz="2000" dirty="0"/>
                  <a:t> with respect to the output from the hidden node </a:t>
                </a:r>
                <a14:m>
                  <m:oMath xmlns:m="http://schemas.openxmlformats.org/officeDocument/2006/math">
                    <m:r>
                      <a:rPr lang="en-US" sz="2000" b="0" i="1" smtClean="0">
                        <a:latin typeface="Cambria Math" panose="02040503050406030204" pitchFamily="18" charset="0"/>
                      </a:rPr>
                      <m:t>𝑧</m:t>
                    </m:r>
                  </m:oMath>
                </a14:m>
                <a:r>
                  <a:rPr lang="en-US" sz="2000" dirty="0"/>
                  <a:t>.</a:t>
                </a:r>
              </a:p>
              <a:p>
                <a:pPr marL="0" indent="0">
                  <a:buNone/>
                </a:pPr>
                <a:r>
                  <a:rPr lang="en-US" sz="2000" dirty="0"/>
                  <a:t>Using the chain rule of calculus,    we can express this as; </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m:t>
                          </m:r>
                          <m:r>
                            <a:rPr lang="en-US" sz="2000" b="1" i="1">
                              <a:latin typeface="Cambria Math" panose="02040503050406030204" pitchFamily="18" charset="0"/>
                            </a:rPr>
                            <m:t>𝒆</m:t>
                          </m:r>
                        </m:num>
                        <m:den>
                          <m:r>
                            <a:rPr lang="en-US" sz="2000" i="1">
                              <a:latin typeface="Cambria Math" panose="02040503050406030204" pitchFamily="18" charset="0"/>
                            </a:rPr>
                            <m:t>𝜕</m:t>
                          </m:r>
                          <m:r>
                            <a:rPr lang="en-US" sz="2000" b="0" i="1" smtClean="0">
                              <a:latin typeface="Cambria Math" panose="02040503050406030204" pitchFamily="18" charset="0"/>
                            </a:rPr>
                            <m:t>𝑧</m:t>
                          </m:r>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m:t>
                          </m:r>
                          <m:r>
                            <a:rPr lang="en-US" sz="2000" b="1" i="1">
                              <a:latin typeface="Cambria Math" panose="02040503050406030204" pitchFamily="18" charset="0"/>
                            </a:rPr>
                            <m:t>𝒆</m:t>
                          </m:r>
                        </m:num>
                        <m:den>
                          <m:r>
                            <a:rPr lang="en-US" sz="2000" i="1">
                              <a:latin typeface="Cambria Math" panose="02040503050406030204" pitchFamily="18" charset="0"/>
                            </a:rPr>
                            <m:t>𝜕</m:t>
                          </m:r>
                          <m:r>
                            <a:rPr lang="en-US" sz="2000" b="0" i="1" smtClean="0">
                              <a:latin typeface="Cambria Math" panose="02040503050406030204" pitchFamily="18" charset="0"/>
                            </a:rPr>
                            <m:t>𝑦</m:t>
                          </m:r>
                        </m:den>
                      </m:f>
                      <m:f>
                        <m:fPr>
                          <m:ctrlPr>
                            <a:rPr lang="en-US" sz="2000" i="1">
                              <a:latin typeface="Cambria Math" panose="02040503050406030204" pitchFamily="18" charset="0"/>
                            </a:rPr>
                          </m:ctrlPr>
                        </m:fPr>
                        <m:num>
                          <m:r>
                            <a:rPr lang="en-US" sz="2000" i="1">
                              <a:latin typeface="Cambria Math" panose="02040503050406030204" pitchFamily="18" charset="0"/>
                            </a:rPr>
                            <m:t>𝜕</m:t>
                          </m:r>
                          <m:r>
                            <a:rPr lang="en-US" sz="2000" b="0" i="1" smtClean="0">
                              <a:latin typeface="Cambria Math" panose="02040503050406030204" pitchFamily="18" charset="0"/>
                            </a:rPr>
                            <m:t>𝑦</m:t>
                          </m:r>
                        </m:num>
                        <m:den>
                          <m:r>
                            <a:rPr lang="en-US" sz="2000" i="1">
                              <a:latin typeface="Cambria Math" panose="02040503050406030204" pitchFamily="18" charset="0"/>
                            </a:rPr>
                            <m:t>𝜕</m:t>
                          </m:r>
                          <m:r>
                            <a:rPr lang="en-US" sz="2000" b="0" i="1" smtClean="0">
                              <a:latin typeface="Cambria Math" panose="02040503050406030204" pitchFamily="18" charset="0"/>
                            </a:rPr>
                            <m:t>𝑧</m:t>
                          </m:r>
                        </m:den>
                      </m:f>
                    </m:oMath>
                  </m:oMathPara>
                </a14:m>
                <a:endParaRPr lang="en-US" sz="2000" dirty="0"/>
              </a:p>
            </p:txBody>
          </p:sp>
        </mc:Choice>
        <mc:Fallback xmlns="">
          <p:sp>
            <p:nvSpPr>
              <p:cNvPr id="4" name="Content Placeholder 3">
                <a:extLst>
                  <a:ext uri="{FF2B5EF4-FFF2-40B4-BE49-F238E27FC236}">
                    <a16:creationId xmlns:a16="http://schemas.microsoft.com/office/drawing/2014/main" id="{7D387E4C-7C73-46CF-B1AE-5A9DE4D35B2B}"/>
                  </a:ext>
                </a:extLst>
              </p:cNvPr>
              <p:cNvSpPr>
                <a:spLocks noGrp="1" noRot="1" noChangeAspect="1" noMove="1" noResize="1" noEditPoints="1" noAdjustHandles="1" noChangeArrowheads="1" noChangeShapeType="1" noTextEdit="1"/>
              </p:cNvSpPr>
              <p:nvPr>
                <p:ph sz="half" idx="2"/>
              </p:nvPr>
            </p:nvSpPr>
            <p:spPr>
              <a:xfrm>
                <a:off x="6172700" y="1825625"/>
                <a:ext cx="5181600" cy="4667250"/>
              </a:xfrm>
              <a:blipFill>
                <a:blip r:embed="rId3"/>
                <a:stretch>
                  <a:fillRect l="-1294" t="-1305"/>
                </a:stretch>
              </a:blipFill>
            </p:spPr>
            <p:txBody>
              <a:bodyPr/>
              <a:lstStyle/>
              <a:p>
                <a:r>
                  <a:rPr lang="en-US">
                    <a:noFill/>
                  </a:rPr>
                  <a:t> </a:t>
                </a:r>
              </a:p>
            </p:txBody>
          </p:sp>
        </mc:Fallback>
      </mc:AlternateContent>
    </p:spTree>
    <p:extLst>
      <p:ext uri="{BB962C8B-B14F-4D97-AF65-F5344CB8AC3E}">
        <p14:creationId xmlns:p14="http://schemas.microsoft.com/office/powerpoint/2010/main" val="5283258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FFC2C-FBD9-4D3B-BD10-38F634754168}"/>
              </a:ext>
            </a:extLst>
          </p:cNvPr>
          <p:cNvSpPr>
            <a:spLocks noGrp="1"/>
          </p:cNvSpPr>
          <p:nvPr>
            <p:ph type="title"/>
          </p:nvPr>
        </p:nvSpPr>
        <p:spPr>
          <a:xfrm>
            <a:off x="838200" y="365126"/>
            <a:ext cx="10515600" cy="837692"/>
          </a:xfrm>
        </p:spPr>
        <p:txBody>
          <a:bodyPr/>
          <a:lstStyle/>
          <a:p>
            <a:pPr algn="ctr"/>
            <a:r>
              <a:rPr lang="en-US" dirty="0"/>
              <a:t>Backpropagation</a:t>
            </a:r>
          </a:p>
        </p:txBody>
      </p:sp>
      <p:pic>
        <p:nvPicPr>
          <p:cNvPr id="7" name="Content Placeholder 6">
            <a:extLst>
              <a:ext uri="{FF2B5EF4-FFF2-40B4-BE49-F238E27FC236}">
                <a16:creationId xmlns:a16="http://schemas.microsoft.com/office/drawing/2014/main" id="{11F114E2-235F-425A-BBBE-E27C0781248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47561" y="3143357"/>
            <a:ext cx="5672239" cy="1878348"/>
          </a:xfrm>
        </p:spPr>
      </p:pic>
      <mc:AlternateContent xmlns:mc="http://schemas.openxmlformats.org/markup-compatibility/2006" xmlns:a14="http://schemas.microsoft.com/office/drawing/2010/main">
        <mc:Choice Requires="a14">
          <p:graphicFrame>
            <p:nvGraphicFramePr>
              <p:cNvPr id="11" name="Content Placeholder 10">
                <a:extLst>
                  <a:ext uri="{FF2B5EF4-FFF2-40B4-BE49-F238E27FC236}">
                    <a16:creationId xmlns:a16="http://schemas.microsoft.com/office/drawing/2014/main" id="{9568A5B7-AFC7-44B9-8613-8C0A32ED2713}"/>
                  </a:ext>
                </a:extLst>
              </p:cNvPr>
              <p:cNvGraphicFramePr>
                <a:graphicFrameLocks noGrp="1"/>
              </p:cNvGraphicFramePr>
              <p:nvPr>
                <p:ph sz="half" idx="2"/>
                <p:extLst>
                  <p:ext uri="{D42A27DB-BD31-4B8C-83A1-F6EECF244321}">
                    <p14:modId xmlns:p14="http://schemas.microsoft.com/office/powerpoint/2010/main" val="503121117"/>
                  </p:ext>
                </p:extLst>
              </p:nvPr>
            </p:nvGraphicFramePr>
            <p:xfrm>
              <a:off x="6341534" y="1451599"/>
              <a:ext cx="5181600" cy="5034280"/>
            </p:xfrm>
            <a:graphic>
              <a:graphicData uri="http://schemas.openxmlformats.org/drawingml/2006/table">
                <a:tbl>
                  <a:tblPr firstRow="1" bandRow="1">
                    <a:tableStyleId>{F5AB1C69-6EDB-4FF4-983F-18BD219EF322}</a:tableStyleId>
                  </a:tblPr>
                  <a:tblGrid>
                    <a:gridCol w="2590800">
                      <a:extLst>
                        <a:ext uri="{9D8B030D-6E8A-4147-A177-3AD203B41FA5}">
                          <a16:colId xmlns:a16="http://schemas.microsoft.com/office/drawing/2014/main" val="4253964885"/>
                        </a:ext>
                      </a:extLst>
                    </a:gridCol>
                    <a:gridCol w="2590800">
                      <a:extLst>
                        <a:ext uri="{9D8B030D-6E8A-4147-A177-3AD203B41FA5}">
                          <a16:colId xmlns:a16="http://schemas.microsoft.com/office/drawing/2014/main" val="3662585321"/>
                        </a:ext>
                      </a:extLst>
                    </a:gridCol>
                  </a:tblGrid>
                  <a:tr h="370840">
                    <a:tc>
                      <a:txBody>
                        <a:bodyPr/>
                        <a:lstStyle/>
                        <a:p>
                          <a:pPr algn="ctr"/>
                          <a:r>
                            <a:rPr lang="en-US" sz="1800" b="1" dirty="0">
                              <a:solidFill>
                                <a:schemeClr val="bg1"/>
                              </a:solidFill>
                            </a:rPr>
                            <a:t>Partial Derivative</a:t>
                          </a:r>
                        </a:p>
                      </a:txBody>
                      <a:tcPr/>
                    </a:tc>
                    <a:tc>
                      <a:txBody>
                        <a:bodyPr/>
                        <a:lstStyle/>
                        <a:p>
                          <a:pPr algn="ctr"/>
                          <a:r>
                            <a:rPr lang="en-US" sz="1800" b="1" dirty="0">
                              <a:solidFill>
                                <a:schemeClr val="bg1"/>
                              </a:solidFill>
                            </a:rPr>
                            <a:t>Intuitive Understanding </a:t>
                          </a:r>
                        </a:p>
                      </a:txBody>
                      <a:tcPr/>
                    </a:tc>
                    <a:extLst>
                      <a:ext uri="{0D108BD9-81ED-4DB2-BD59-A6C34878D82A}">
                        <a16:rowId xmlns:a16="http://schemas.microsoft.com/office/drawing/2014/main" val="3085488478"/>
                      </a:ext>
                    </a:extLst>
                  </a:tr>
                  <a:tr h="370840">
                    <a:tc>
                      <a:txBody>
                        <a:bodyPr/>
                        <a:lstStyle/>
                        <a:p>
                          <a:pPr/>
                          <a14:m>
                            <m:oMathPara xmlns:m="http://schemas.openxmlformats.org/officeDocument/2006/math">
                              <m:oMathParaPr>
                                <m:jc m:val="centerGroup"/>
                              </m:oMathParaPr>
                              <m:oMath xmlns:m="http://schemas.openxmlformats.org/officeDocument/2006/math">
                                <m:f>
                                  <m:fPr>
                                    <m:ctrlPr>
                                      <a:rPr lang="en-US" sz="1800" i="1" smtClean="0">
                                        <a:latin typeface="Cambria Math" panose="02040503050406030204" pitchFamily="18" charset="0"/>
                                      </a:rPr>
                                    </m:ctrlPr>
                                  </m:fPr>
                                  <m:num>
                                    <m:r>
                                      <a:rPr lang="en-US" sz="1800" i="1">
                                        <a:latin typeface="Cambria Math" panose="02040503050406030204" pitchFamily="18" charset="0"/>
                                      </a:rPr>
                                      <m:t>𝜕</m:t>
                                    </m:r>
                                    <m:r>
                                      <a:rPr lang="en-US" sz="1800" b="1" i="1">
                                        <a:latin typeface="Cambria Math" panose="02040503050406030204" pitchFamily="18" charset="0"/>
                                      </a:rPr>
                                      <m:t>𝒆</m:t>
                                    </m:r>
                                  </m:num>
                                  <m:den>
                                    <m:r>
                                      <a:rPr lang="en-US" sz="1800" i="1">
                                        <a:latin typeface="Cambria Math" panose="02040503050406030204" pitchFamily="18" charset="0"/>
                                      </a:rPr>
                                      <m:t>𝜕</m:t>
                                    </m:r>
                                    <m:r>
                                      <a:rPr lang="en-US" sz="1800" b="0" i="1" smtClean="0">
                                        <a:latin typeface="Cambria Math" panose="02040503050406030204" pitchFamily="18" charset="0"/>
                                      </a:rPr>
                                      <m:t>𝑧</m:t>
                                    </m:r>
                                  </m:den>
                                </m:f>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we are asking “What is the partial derivative of the error </a:t>
                          </a:r>
                          <a14:m>
                            <m:oMath xmlns:m="http://schemas.openxmlformats.org/officeDocument/2006/math">
                              <m:r>
                                <a:rPr lang="en-US" sz="1800" b="1" i="1" smtClean="0">
                                  <a:latin typeface="Cambria Math" panose="02040503050406030204" pitchFamily="18" charset="0"/>
                                </a:rPr>
                                <m:t>𝒆</m:t>
                              </m:r>
                            </m:oMath>
                          </a14:m>
                          <a:r>
                            <a:rPr lang="en-US" dirty="0"/>
                            <a:t> with respect</a:t>
                          </a:r>
                          <a:r>
                            <a:rPr lang="en-US" baseline="0" dirty="0"/>
                            <a:t> to the output  node </a:t>
                          </a:r>
                          <a14:m>
                            <m:oMath xmlns:m="http://schemas.openxmlformats.org/officeDocument/2006/math">
                              <m:r>
                                <a:rPr lang="en-US" b="0" i="1" baseline="0" smtClean="0">
                                  <a:latin typeface="Cambria Math" panose="02040503050406030204" pitchFamily="18" charset="0"/>
                                </a:rPr>
                                <m:t>𝑧</m:t>
                              </m:r>
                            </m:oMath>
                          </a14:m>
                          <a:r>
                            <a:rPr lang="en-US" dirty="0"/>
                            <a:t>?” </a:t>
                          </a:r>
                        </a:p>
                        <a:p>
                          <a:endParaRPr lang="en-US" dirty="0"/>
                        </a:p>
                      </a:txBody>
                      <a:tcPr/>
                    </a:tc>
                    <a:extLst>
                      <a:ext uri="{0D108BD9-81ED-4DB2-BD59-A6C34878D82A}">
                        <a16:rowId xmlns:a16="http://schemas.microsoft.com/office/drawing/2014/main" val="2790899782"/>
                      </a:ext>
                    </a:extLst>
                  </a:tr>
                  <a:tr h="370840">
                    <a:tc>
                      <a:txBody>
                        <a:bodyPr/>
                        <a:lstStyle/>
                        <a:p>
                          <a:pPr/>
                          <a14:m>
                            <m:oMathPara xmlns:m="http://schemas.openxmlformats.org/officeDocument/2006/math">
                              <m:oMathParaPr>
                                <m:jc m:val="centerGroup"/>
                              </m:oMathParaPr>
                              <m:oMath xmlns:m="http://schemas.openxmlformats.org/officeDocument/2006/math">
                                <m:f>
                                  <m:fPr>
                                    <m:ctrlPr>
                                      <a:rPr lang="en-US" sz="1800" i="1" smtClean="0">
                                        <a:latin typeface="Cambria Math" panose="02040503050406030204" pitchFamily="18" charset="0"/>
                                      </a:rPr>
                                    </m:ctrlPr>
                                  </m:fPr>
                                  <m:num>
                                    <m:r>
                                      <a:rPr lang="en-US" sz="1800" i="1">
                                        <a:latin typeface="Cambria Math" panose="02040503050406030204" pitchFamily="18" charset="0"/>
                                      </a:rPr>
                                      <m:t>𝜕</m:t>
                                    </m:r>
                                    <m:r>
                                      <a:rPr lang="en-US" sz="1800" b="1" i="1">
                                        <a:latin typeface="Cambria Math" panose="02040503050406030204" pitchFamily="18" charset="0"/>
                                      </a:rPr>
                                      <m:t>𝒆</m:t>
                                    </m:r>
                                  </m:num>
                                  <m:den>
                                    <m:r>
                                      <a:rPr lang="en-US" sz="1800" i="1">
                                        <a:latin typeface="Cambria Math" panose="02040503050406030204" pitchFamily="18" charset="0"/>
                                      </a:rPr>
                                      <m:t>𝜕</m:t>
                                    </m:r>
                                    <m:r>
                                      <a:rPr lang="en-US" sz="1800" b="0" i="1" smtClean="0">
                                        <a:latin typeface="Cambria Math" panose="02040503050406030204" pitchFamily="18" charset="0"/>
                                      </a:rPr>
                                      <m:t>𝑦</m:t>
                                    </m:r>
                                  </m:den>
                                </m:f>
                              </m:oMath>
                            </m:oMathPara>
                          </a14:m>
                          <a:endParaRPr lang="en-US" dirty="0"/>
                        </a:p>
                      </a:txBody>
                      <a:tcPr/>
                    </a:tc>
                    <a:tc>
                      <a:txBody>
                        <a:bodyPr/>
                        <a:lstStyle/>
                        <a:p>
                          <a:r>
                            <a:rPr lang="en-US" dirty="0"/>
                            <a:t>Here we are taking the partial derivative of the error with respect to the output from the output node </a:t>
                          </a:r>
                          <a14:m>
                            <m:oMath xmlns:m="http://schemas.openxmlformats.org/officeDocument/2006/math">
                              <m:r>
                                <a:rPr lang="en-US" b="0" i="1" smtClean="0">
                                  <a:latin typeface="Cambria Math" panose="02040503050406030204" pitchFamily="18" charset="0"/>
                                </a:rPr>
                                <m:t>𝑦</m:t>
                              </m:r>
                            </m:oMath>
                          </a14:m>
                          <a:r>
                            <a:rPr lang="en-US" dirty="0"/>
                            <a:t>.</a:t>
                          </a:r>
                        </a:p>
                      </a:txBody>
                      <a:tcPr/>
                    </a:tc>
                    <a:extLst>
                      <a:ext uri="{0D108BD9-81ED-4DB2-BD59-A6C34878D82A}">
                        <a16:rowId xmlns:a16="http://schemas.microsoft.com/office/drawing/2014/main" val="426352289"/>
                      </a:ext>
                    </a:extLst>
                  </a:tr>
                  <a:tr h="370840">
                    <a:tc>
                      <a:txBody>
                        <a:bodyPr/>
                        <a:lstStyle/>
                        <a:p>
                          <a:pPr/>
                          <a14:m>
                            <m:oMathPara xmlns:m="http://schemas.openxmlformats.org/officeDocument/2006/math">
                              <m:oMathParaPr>
                                <m:jc m:val="centerGroup"/>
                              </m:oMathParaPr>
                              <m:oMath xmlns:m="http://schemas.openxmlformats.org/officeDocument/2006/math">
                                <m:f>
                                  <m:fPr>
                                    <m:ctrlPr>
                                      <a:rPr lang="en-US" sz="1800" i="1" smtClean="0">
                                        <a:latin typeface="Cambria Math" panose="02040503050406030204" pitchFamily="18" charset="0"/>
                                      </a:rPr>
                                    </m:ctrlPr>
                                  </m:fPr>
                                  <m:num>
                                    <m:r>
                                      <a:rPr lang="en-US" sz="1800" i="1">
                                        <a:latin typeface="Cambria Math" panose="02040503050406030204" pitchFamily="18" charset="0"/>
                                      </a:rPr>
                                      <m:t>𝜕</m:t>
                                    </m:r>
                                    <m:r>
                                      <a:rPr lang="en-US" sz="1800" b="1" i="1" smtClean="0">
                                        <a:latin typeface="Cambria Math" panose="02040503050406030204" pitchFamily="18" charset="0"/>
                                      </a:rPr>
                                      <m:t>𝒚</m:t>
                                    </m:r>
                                  </m:num>
                                  <m:den>
                                    <m:r>
                                      <a:rPr lang="en-US" sz="1800" i="1">
                                        <a:latin typeface="Cambria Math" panose="02040503050406030204" pitchFamily="18" charset="0"/>
                                      </a:rPr>
                                      <m:t>𝜕</m:t>
                                    </m:r>
                                    <m:r>
                                      <a:rPr lang="en-US" sz="1800" b="0" i="1" smtClean="0">
                                        <a:latin typeface="Cambria Math" panose="02040503050406030204" pitchFamily="18" charset="0"/>
                                      </a:rPr>
                                      <m:t>𝑧</m:t>
                                    </m:r>
                                  </m:den>
                                </m:f>
                              </m:oMath>
                            </m:oMathPara>
                          </a14:m>
                          <a:endParaRPr lang="en-US" dirty="0"/>
                        </a:p>
                      </a:txBody>
                      <a:tcPr/>
                    </a:tc>
                    <a:tc>
                      <a:txBody>
                        <a:bodyPr/>
                        <a:lstStyle/>
                        <a:p>
                          <a:r>
                            <a:rPr lang="en-US" dirty="0"/>
                            <a:t>Finally, we take the partial derivative of the output from the output node </a:t>
                          </a:r>
                          <a14:m>
                            <m:oMath xmlns:m="http://schemas.openxmlformats.org/officeDocument/2006/math">
                              <m:r>
                                <a:rPr lang="en-US" b="0" i="1" smtClean="0">
                                  <a:latin typeface="Cambria Math" panose="02040503050406030204" pitchFamily="18" charset="0"/>
                                </a:rPr>
                                <m:t>𝑦</m:t>
                              </m:r>
                            </m:oMath>
                          </a14:m>
                          <a:r>
                            <a:rPr lang="en-US" dirty="0"/>
                            <a:t> with respect to </a:t>
                          </a:r>
                          <a:r>
                            <a:rPr lang="en-US" baseline="0" dirty="0"/>
                            <a:t>the hidden node</a:t>
                          </a:r>
                          <a:r>
                            <a:rPr lang="en-US" dirty="0"/>
                            <a:t> z</a:t>
                          </a:r>
                          <a14:m>
                            <m:oMath xmlns:m="http://schemas.openxmlformats.org/officeDocument/2006/math">
                              <m:r>
                                <a:rPr lang="en-US" b="0" i="0" smtClean="0">
                                  <a:latin typeface="Cambria Math" panose="02040503050406030204" pitchFamily="18" charset="0"/>
                                </a:rPr>
                                <m:t>.</m:t>
                              </m:r>
                            </m:oMath>
                          </a14:m>
                          <a:endParaRPr lang="en-US" dirty="0"/>
                        </a:p>
                      </a:txBody>
                      <a:tcPr/>
                    </a:tc>
                    <a:extLst>
                      <a:ext uri="{0D108BD9-81ED-4DB2-BD59-A6C34878D82A}">
                        <a16:rowId xmlns:a16="http://schemas.microsoft.com/office/drawing/2014/main" val="3221954446"/>
                      </a:ext>
                    </a:extLst>
                  </a:tr>
                </a:tbl>
              </a:graphicData>
            </a:graphic>
          </p:graphicFrame>
        </mc:Choice>
        <mc:Fallback xmlns="">
          <p:graphicFrame>
            <p:nvGraphicFramePr>
              <p:cNvPr id="11" name="Content Placeholder 10">
                <a:extLst>
                  <a:ext uri="{FF2B5EF4-FFF2-40B4-BE49-F238E27FC236}">
                    <a16:creationId xmlns:a16="http://schemas.microsoft.com/office/drawing/2014/main" id="{9568A5B7-AFC7-44B9-8613-8C0A32ED2713}"/>
                  </a:ext>
                </a:extLst>
              </p:cNvPr>
              <p:cNvGraphicFramePr>
                <a:graphicFrameLocks noGrp="1"/>
              </p:cNvGraphicFramePr>
              <p:nvPr>
                <p:ph sz="half" idx="2"/>
                <p:extLst>
                  <p:ext uri="{D42A27DB-BD31-4B8C-83A1-F6EECF244321}">
                    <p14:modId xmlns:p14="http://schemas.microsoft.com/office/powerpoint/2010/main" val="503121117"/>
                  </p:ext>
                </p:extLst>
              </p:nvPr>
            </p:nvGraphicFramePr>
            <p:xfrm>
              <a:off x="6341534" y="1451599"/>
              <a:ext cx="5181600" cy="5034280"/>
            </p:xfrm>
            <a:graphic>
              <a:graphicData uri="http://schemas.openxmlformats.org/drawingml/2006/table">
                <a:tbl>
                  <a:tblPr firstRow="1" bandRow="1">
                    <a:tableStyleId>{F5AB1C69-6EDB-4FF4-983F-18BD219EF322}</a:tableStyleId>
                  </a:tblPr>
                  <a:tblGrid>
                    <a:gridCol w="2590800">
                      <a:extLst>
                        <a:ext uri="{9D8B030D-6E8A-4147-A177-3AD203B41FA5}">
                          <a16:colId xmlns:a16="http://schemas.microsoft.com/office/drawing/2014/main" val="4253964885"/>
                        </a:ext>
                      </a:extLst>
                    </a:gridCol>
                    <a:gridCol w="2590800">
                      <a:extLst>
                        <a:ext uri="{9D8B030D-6E8A-4147-A177-3AD203B41FA5}">
                          <a16:colId xmlns:a16="http://schemas.microsoft.com/office/drawing/2014/main" val="3662585321"/>
                        </a:ext>
                      </a:extLst>
                    </a:gridCol>
                  </a:tblGrid>
                  <a:tr h="370840">
                    <a:tc>
                      <a:txBody>
                        <a:bodyPr/>
                        <a:lstStyle/>
                        <a:p>
                          <a:pPr algn="ctr"/>
                          <a:r>
                            <a:rPr lang="en-US" sz="1800" b="1" dirty="0">
                              <a:solidFill>
                                <a:schemeClr val="bg1"/>
                              </a:solidFill>
                            </a:rPr>
                            <a:t>Partial Derivative</a:t>
                          </a:r>
                        </a:p>
                      </a:txBody>
                      <a:tcPr/>
                    </a:tc>
                    <a:tc>
                      <a:txBody>
                        <a:bodyPr/>
                        <a:lstStyle/>
                        <a:p>
                          <a:pPr algn="ctr"/>
                          <a:r>
                            <a:rPr lang="en-US" sz="1800" b="1" dirty="0">
                              <a:solidFill>
                                <a:schemeClr val="bg1"/>
                              </a:solidFill>
                            </a:rPr>
                            <a:t>Intuitive Understanding </a:t>
                          </a:r>
                        </a:p>
                      </a:txBody>
                      <a:tcPr/>
                    </a:tc>
                    <a:extLst>
                      <a:ext uri="{0D108BD9-81ED-4DB2-BD59-A6C34878D82A}">
                        <a16:rowId xmlns:a16="http://schemas.microsoft.com/office/drawing/2014/main" val="3085488478"/>
                      </a:ext>
                    </a:extLst>
                  </a:tr>
                  <a:tr h="1737360">
                    <a:tc>
                      <a:txBody>
                        <a:bodyPr/>
                        <a:lstStyle/>
                        <a:p>
                          <a:endParaRPr lang="en-US"/>
                        </a:p>
                      </a:txBody>
                      <a:tcPr>
                        <a:blipFill>
                          <a:blip r:embed="rId3"/>
                          <a:stretch>
                            <a:fillRect l="-235" t="-23158" r="-100704" b="-174035"/>
                          </a:stretch>
                        </a:blipFill>
                      </a:tcPr>
                    </a:tc>
                    <a:tc>
                      <a:txBody>
                        <a:bodyPr/>
                        <a:lstStyle/>
                        <a:p>
                          <a:endParaRPr lang="en-US"/>
                        </a:p>
                      </a:txBody>
                      <a:tcPr>
                        <a:blipFill>
                          <a:blip r:embed="rId3"/>
                          <a:stretch>
                            <a:fillRect l="-100471" t="-23158" r="-941" b="-174035"/>
                          </a:stretch>
                        </a:blipFill>
                      </a:tcPr>
                    </a:tc>
                    <a:extLst>
                      <a:ext uri="{0D108BD9-81ED-4DB2-BD59-A6C34878D82A}">
                        <a16:rowId xmlns:a16="http://schemas.microsoft.com/office/drawing/2014/main" val="2790899782"/>
                      </a:ext>
                    </a:extLst>
                  </a:tr>
                  <a:tr h="1463040">
                    <a:tc>
                      <a:txBody>
                        <a:bodyPr/>
                        <a:lstStyle/>
                        <a:p>
                          <a:endParaRPr lang="en-US"/>
                        </a:p>
                      </a:txBody>
                      <a:tcPr>
                        <a:blipFill>
                          <a:blip r:embed="rId3"/>
                          <a:stretch>
                            <a:fillRect l="-235" t="-146250" r="-100704" b="-106667"/>
                          </a:stretch>
                        </a:blipFill>
                      </a:tcPr>
                    </a:tc>
                    <a:tc>
                      <a:txBody>
                        <a:bodyPr/>
                        <a:lstStyle/>
                        <a:p>
                          <a:endParaRPr lang="en-US"/>
                        </a:p>
                      </a:txBody>
                      <a:tcPr>
                        <a:blipFill>
                          <a:blip r:embed="rId3"/>
                          <a:stretch>
                            <a:fillRect l="-100471" t="-146250" r="-941" b="-106667"/>
                          </a:stretch>
                        </a:blipFill>
                      </a:tcPr>
                    </a:tc>
                    <a:extLst>
                      <a:ext uri="{0D108BD9-81ED-4DB2-BD59-A6C34878D82A}">
                        <a16:rowId xmlns:a16="http://schemas.microsoft.com/office/drawing/2014/main" val="426352289"/>
                      </a:ext>
                    </a:extLst>
                  </a:tr>
                  <a:tr h="1463040">
                    <a:tc>
                      <a:txBody>
                        <a:bodyPr/>
                        <a:lstStyle/>
                        <a:p>
                          <a:endParaRPr lang="en-US"/>
                        </a:p>
                      </a:txBody>
                      <a:tcPr>
                        <a:blipFill>
                          <a:blip r:embed="rId3"/>
                          <a:stretch>
                            <a:fillRect l="-235" t="-246250" r="-100704" b="-6667"/>
                          </a:stretch>
                        </a:blipFill>
                      </a:tcPr>
                    </a:tc>
                    <a:tc>
                      <a:txBody>
                        <a:bodyPr/>
                        <a:lstStyle/>
                        <a:p>
                          <a:endParaRPr lang="en-US"/>
                        </a:p>
                      </a:txBody>
                      <a:tcPr>
                        <a:blipFill>
                          <a:blip r:embed="rId3"/>
                          <a:stretch>
                            <a:fillRect l="-100471" t="-246250" r="-941" b="-6667"/>
                          </a:stretch>
                        </a:blipFill>
                      </a:tcPr>
                    </a:tc>
                    <a:extLst>
                      <a:ext uri="{0D108BD9-81ED-4DB2-BD59-A6C34878D82A}">
                        <a16:rowId xmlns:a16="http://schemas.microsoft.com/office/drawing/2014/main" val="3221954446"/>
                      </a:ext>
                    </a:extLst>
                  </a:tr>
                </a:tbl>
              </a:graphicData>
            </a:graphic>
          </p:graphicFrame>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B23D56AF-9E7E-4903-8640-34E4B150CE50}"/>
                  </a:ext>
                </a:extLst>
              </p:cNvPr>
              <p:cNvSpPr/>
              <p:nvPr/>
            </p:nvSpPr>
            <p:spPr>
              <a:xfrm>
                <a:off x="2240880" y="2207868"/>
                <a:ext cx="1486304" cy="73020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m:t>
                          </m:r>
                          <m:r>
                            <a:rPr lang="en-US" sz="2000" b="1" i="1">
                              <a:latin typeface="Cambria Math" panose="02040503050406030204" pitchFamily="18" charset="0"/>
                            </a:rPr>
                            <m:t>𝒆</m:t>
                          </m:r>
                        </m:num>
                        <m:den>
                          <m:r>
                            <a:rPr lang="en-US" sz="2000" i="1">
                              <a:latin typeface="Cambria Math" panose="02040503050406030204" pitchFamily="18" charset="0"/>
                            </a:rPr>
                            <m:t>𝜕</m:t>
                          </m:r>
                          <m:r>
                            <a:rPr lang="en-US" sz="2000" i="1">
                              <a:latin typeface="Cambria Math" panose="02040503050406030204" pitchFamily="18" charset="0"/>
                            </a:rPr>
                            <m:t>𝑧</m:t>
                          </m:r>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m:t>
                          </m:r>
                          <m:r>
                            <a:rPr lang="en-US" sz="2000" b="1" i="1">
                              <a:latin typeface="Cambria Math" panose="02040503050406030204" pitchFamily="18" charset="0"/>
                            </a:rPr>
                            <m:t>𝒆</m:t>
                          </m:r>
                        </m:num>
                        <m:den>
                          <m:r>
                            <a:rPr lang="en-US" sz="2000" i="1">
                              <a:latin typeface="Cambria Math" panose="02040503050406030204" pitchFamily="18" charset="0"/>
                            </a:rPr>
                            <m:t>𝜕</m:t>
                          </m:r>
                          <m:r>
                            <a:rPr lang="en-US" sz="2000" i="1">
                              <a:latin typeface="Cambria Math" panose="02040503050406030204" pitchFamily="18" charset="0"/>
                            </a:rPr>
                            <m:t>𝑦</m:t>
                          </m:r>
                        </m:den>
                      </m:f>
                      <m:f>
                        <m:fPr>
                          <m:ctrlPr>
                            <a:rPr lang="en-US" sz="2000" i="1">
                              <a:latin typeface="Cambria Math" panose="02040503050406030204" pitchFamily="18" charset="0"/>
                            </a:rPr>
                          </m:ctrlPr>
                        </m:fPr>
                        <m:num>
                          <m:r>
                            <a:rPr lang="en-US" sz="2000" i="1">
                              <a:latin typeface="Cambria Math" panose="02040503050406030204" pitchFamily="18" charset="0"/>
                            </a:rPr>
                            <m:t>𝜕</m:t>
                          </m:r>
                          <m:r>
                            <a:rPr lang="en-US" sz="2000" i="1">
                              <a:latin typeface="Cambria Math" panose="02040503050406030204" pitchFamily="18" charset="0"/>
                            </a:rPr>
                            <m:t>𝑦</m:t>
                          </m:r>
                        </m:num>
                        <m:den>
                          <m:r>
                            <a:rPr lang="en-US" sz="2000" i="1">
                              <a:latin typeface="Cambria Math" panose="02040503050406030204" pitchFamily="18" charset="0"/>
                            </a:rPr>
                            <m:t>𝜕</m:t>
                          </m:r>
                          <m:r>
                            <a:rPr lang="en-US" sz="2000" i="1">
                              <a:latin typeface="Cambria Math" panose="02040503050406030204" pitchFamily="18" charset="0"/>
                            </a:rPr>
                            <m:t>𝑧</m:t>
                          </m:r>
                        </m:den>
                      </m:f>
                    </m:oMath>
                  </m:oMathPara>
                </a14:m>
                <a:endParaRPr lang="en-US" sz="2000" dirty="0"/>
              </a:p>
            </p:txBody>
          </p:sp>
        </mc:Choice>
        <mc:Fallback xmlns="">
          <p:sp>
            <p:nvSpPr>
              <p:cNvPr id="3" name="Rectangle 2">
                <a:extLst>
                  <a:ext uri="{FF2B5EF4-FFF2-40B4-BE49-F238E27FC236}">
                    <a16:creationId xmlns:a16="http://schemas.microsoft.com/office/drawing/2014/main" id="{B23D56AF-9E7E-4903-8640-34E4B150CE50}"/>
                  </a:ext>
                </a:extLst>
              </p:cNvPr>
              <p:cNvSpPr>
                <a:spLocks noRot="1" noChangeAspect="1" noMove="1" noResize="1" noEditPoints="1" noAdjustHandles="1" noChangeArrowheads="1" noChangeShapeType="1" noTextEdit="1"/>
              </p:cNvSpPr>
              <p:nvPr/>
            </p:nvSpPr>
            <p:spPr>
              <a:xfrm>
                <a:off x="2240880" y="2207868"/>
                <a:ext cx="1486304" cy="730200"/>
              </a:xfrm>
              <a:prstGeom prst="rect">
                <a:avLst/>
              </a:prstGeom>
              <a:blipFill>
                <a:blip r:embed="rId4"/>
                <a:stretch>
                  <a:fillRect/>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3198CFBA-8EB0-4E0C-9736-B6B2BCEDB162}"/>
              </a:ext>
            </a:extLst>
          </p:cNvPr>
          <p:cNvSpPr txBox="1"/>
          <p:nvPr/>
        </p:nvSpPr>
        <p:spPr>
          <a:xfrm>
            <a:off x="7220487" y="1105178"/>
            <a:ext cx="3423694" cy="400110"/>
          </a:xfrm>
          <a:prstGeom prst="rect">
            <a:avLst/>
          </a:prstGeom>
          <a:noFill/>
        </p:spPr>
        <p:txBody>
          <a:bodyPr wrap="none" rtlCol="0">
            <a:spAutoFit/>
          </a:bodyPr>
          <a:lstStyle/>
          <a:p>
            <a:r>
              <a:rPr lang="en-US" sz="2000" b="1" dirty="0"/>
              <a:t>Let’s break down the equation</a:t>
            </a:r>
          </a:p>
        </p:txBody>
      </p:sp>
      <p:sp>
        <p:nvSpPr>
          <p:cNvPr id="12" name="TextBox 11">
            <a:extLst>
              <a:ext uri="{FF2B5EF4-FFF2-40B4-BE49-F238E27FC236}">
                <a16:creationId xmlns:a16="http://schemas.microsoft.com/office/drawing/2014/main" id="{072C4D3D-DAF6-4C44-B427-FCD2BAA43B19}"/>
              </a:ext>
            </a:extLst>
          </p:cNvPr>
          <p:cNvSpPr txBox="1"/>
          <p:nvPr/>
        </p:nvSpPr>
        <p:spPr>
          <a:xfrm>
            <a:off x="818237" y="2885489"/>
            <a:ext cx="5069786" cy="646331"/>
          </a:xfrm>
          <a:prstGeom prst="rect">
            <a:avLst/>
          </a:prstGeom>
          <a:noFill/>
        </p:spPr>
        <p:txBody>
          <a:bodyPr wrap="none" rtlCol="0">
            <a:spAutoFit/>
          </a:bodyPr>
          <a:lstStyle/>
          <a:p>
            <a:pPr algn="ctr"/>
            <a:r>
              <a:rPr lang="en-US" dirty="0"/>
              <a:t>Chain rule for the gradient of the error with respect </a:t>
            </a:r>
          </a:p>
          <a:p>
            <a:pPr algn="ctr"/>
            <a:r>
              <a:rPr lang="en-US" dirty="0"/>
              <a:t>to the hidden node z</a:t>
            </a:r>
          </a:p>
        </p:txBody>
      </p:sp>
    </p:spTree>
    <p:extLst>
      <p:ext uri="{BB962C8B-B14F-4D97-AF65-F5344CB8AC3E}">
        <p14:creationId xmlns:p14="http://schemas.microsoft.com/office/powerpoint/2010/main" val="5245207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FFC2C-FBD9-4D3B-BD10-38F634754168}"/>
              </a:ext>
            </a:extLst>
          </p:cNvPr>
          <p:cNvSpPr>
            <a:spLocks noGrp="1"/>
          </p:cNvSpPr>
          <p:nvPr>
            <p:ph type="title"/>
          </p:nvPr>
        </p:nvSpPr>
        <p:spPr>
          <a:xfrm>
            <a:off x="838200" y="365126"/>
            <a:ext cx="10515600" cy="837692"/>
          </a:xfrm>
        </p:spPr>
        <p:txBody>
          <a:bodyPr/>
          <a:lstStyle/>
          <a:p>
            <a:pPr algn="ctr"/>
            <a:r>
              <a:rPr lang="en-US" dirty="0"/>
              <a:t>Backpropagation</a:t>
            </a:r>
          </a:p>
        </p:txBody>
      </p:sp>
      <p:pic>
        <p:nvPicPr>
          <p:cNvPr id="7" name="Content Placeholder 6">
            <a:extLst>
              <a:ext uri="{FF2B5EF4-FFF2-40B4-BE49-F238E27FC236}">
                <a16:creationId xmlns:a16="http://schemas.microsoft.com/office/drawing/2014/main" id="{11F114E2-235F-425A-BBBE-E27C0781248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47561" y="3143357"/>
            <a:ext cx="5672239" cy="1878348"/>
          </a:xfrm>
        </p:spPr>
      </p:pic>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F7FADBDF-E49F-43BC-9783-5731B35C502A}"/>
                  </a:ext>
                </a:extLst>
              </p:cNvPr>
              <p:cNvSpPr>
                <a:spLocks noGrp="1"/>
              </p:cNvSpPr>
              <p:nvPr>
                <p:ph sz="half" idx="2"/>
              </p:nvPr>
            </p:nvSpPr>
            <p:spPr/>
            <p:txBody>
              <a:bodyPr>
                <a:normAutofit/>
              </a:bodyPr>
              <a:lstStyle/>
              <a:p>
                <a:r>
                  <a:rPr lang="en-US" sz="2000" dirty="0"/>
                  <a:t>The simplicity of the chain rule of calculus enables us calculate the gradient of the error  </a:t>
                </a:r>
                <a14:m>
                  <m:oMath xmlns:m="http://schemas.openxmlformats.org/officeDocument/2006/math">
                    <m:r>
                      <a:rPr lang="en-US" sz="2000" b="1" i="1">
                        <a:latin typeface="Cambria Math" panose="02040503050406030204" pitchFamily="18" charset="0"/>
                      </a:rPr>
                      <m:t>𝒆</m:t>
                    </m:r>
                  </m:oMath>
                </a14:m>
                <a:r>
                  <a:rPr lang="en-US" sz="2000" dirty="0"/>
                  <a:t> with respect to any parameter in the neural network.</a:t>
                </a:r>
              </a:p>
              <a:p>
                <a:r>
                  <a:rPr lang="en-US" sz="2000" dirty="0"/>
                  <a:t>The backpropagation algorithm recursively calculates  the gradient of the error (from the cost function) with respect to all </a:t>
                </a:r>
                <a:r>
                  <a:rPr lang="en-US" sz="2000"/>
                  <a:t>the parameters </a:t>
                </a:r>
                <a:r>
                  <a:rPr lang="en-US" sz="2000" dirty="0"/>
                  <a:t>in the neural network.</a:t>
                </a:r>
              </a:p>
            </p:txBody>
          </p:sp>
        </mc:Choice>
        <mc:Fallback xmlns="">
          <p:sp>
            <p:nvSpPr>
              <p:cNvPr id="5" name="Content Placeholder 4">
                <a:extLst>
                  <a:ext uri="{FF2B5EF4-FFF2-40B4-BE49-F238E27FC236}">
                    <a16:creationId xmlns:a16="http://schemas.microsoft.com/office/drawing/2014/main" id="{F7FADBDF-E49F-43BC-9783-5731B35C502A}"/>
                  </a:ext>
                </a:extLst>
              </p:cNvPr>
              <p:cNvSpPr>
                <a:spLocks noGrp="1" noRot="1" noChangeAspect="1" noMove="1" noResize="1" noEditPoints="1" noAdjustHandles="1" noChangeArrowheads="1" noChangeShapeType="1" noTextEdit="1"/>
              </p:cNvSpPr>
              <p:nvPr>
                <p:ph sz="half" idx="2"/>
              </p:nvPr>
            </p:nvSpPr>
            <p:spPr>
              <a:blipFill>
                <a:blip r:embed="rId3"/>
                <a:stretch>
                  <a:fillRect l="-1059" t="-1401" r="-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B23D56AF-9E7E-4903-8640-34E4B150CE50}"/>
                  </a:ext>
                </a:extLst>
              </p:cNvPr>
              <p:cNvSpPr/>
              <p:nvPr/>
            </p:nvSpPr>
            <p:spPr>
              <a:xfrm>
                <a:off x="2240880" y="2207868"/>
                <a:ext cx="1486304" cy="73020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m:t>
                          </m:r>
                          <m:r>
                            <a:rPr lang="en-US" sz="2000" b="1" i="1">
                              <a:latin typeface="Cambria Math" panose="02040503050406030204" pitchFamily="18" charset="0"/>
                            </a:rPr>
                            <m:t>𝒆</m:t>
                          </m:r>
                        </m:num>
                        <m:den>
                          <m:r>
                            <a:rPr lang="en-US" sz="2000" i="1">
                              <a:latin typeface="Cambria Math" panose="02040503050406030204" pitchFamily="18" charset="0"/>
                            </a:rPr>
                            <m:t>𝜕</m:t>
                          </m:r>
                          <m:r>
                            <a:rPr lang="en-US" sz="2000" i="1">
                              <a:latin typeface="Cambria Math" panose="02040503050406030204" pitchFamily="18" charset="0"/>
                            </a:rPr>
                            <m:t>𝑧</m:t>
                          </m:r>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m:t>
                          </m:r>
                          <m:r>
                            <a:rPr lang="en-US" sz="2000" b="1" i="1">
                              <a:latin typeface="Cambria Math" panose="02040503050406030204" pitchFamily="18" charset="0"/>
                            </a:rPr>
                            <m:t>𝒆</m:t>
                          </m:r>
                        </m:num>
                        <m:den>
                          <m:r>
                            <a:rPr lang="en-US" sz="2000" i="1">
                              <a:latin typeface="Cambria Math" panose="02040503050406030204" pitchFamily="18" charset="0"/>
                            </a:rPr>
                            <m:t>𝜕</m:t>
                          </m:r>
                          <m:r>
                            <a:rPr lang="en-US" sz="2000" i="1">
                              <a:latin typeface="Cambria Math" panose="02040503050406030204" pitchFamily="18" charset="0"/>
                            </a:rPr>
                            <m:t>𝑦</m:t>
                          </m:r>
                        </m:den>
                      </m:f>
                      <m:f>
                        <m:fPr>
                          <m:ctrlPr>
                            <a:rPr lang="en-US" sz="2000" i="1">
                              <a:latin typeface="Cambria Math" panose="02040503050406030204" pitchFamily="18" charset="0"/>
                            </a:rPr>
                          </m:ctrlPr>
                        </m:fPr>
                        <m:num>
                          <m:r>
                            <a:rPr lang="en-US" sz="2000" i="1">
                              <a:latin typeface="Cambria Math" panose="02040503050406030204" pitchFamily="18" charset="0"/>
                            </a:rPr>
                            <m:t>𝜕</m:t>
                          </m:r>
                          <m:r>
                            <a:rPr lang="en-US" sz="2000" i="1">
                              <a:latin typeface="Cambria Math" panose="02040503050406030204" pitchFamily="18" charset="0"/>
                            </a:rPr>
                            <m:t>𝑦</m:t>
                          </m:r>
                        </m:num>
                        <m:den>
                          <m:r>
                            <a:rPr lang="en-US" sz="2000" i="1">
                              <a:latin typeface="Cambria Math" panose="02040503050406030204" pitchFamily="18" charset="0"/>
                            </a:rPr>
                            <m:t>𝜕</m:t>
                          </m:r>
                          <m:r>
                            <a:rPr lang="en-US" sz="2000" i="1">
                              <a:latin typeface="Cambria Math" panose="02040503050406030204" pitchFamily="18" charset="0"/>
                            </a:rPr>
                            <m:t>𝑧</m:t>
                          </m:r>
                        </m:den>
                      </m:f>
                    </m:oMath>
                  </m:oMathPara>
                </a14:m>
                <a:endParaRPr lang="en-US" sz="2000" dirty="0"/>
              </a:p>
            </p:txBody>
          </p:sp>
        </mc:Choice>
        <mc:Fallback xmlns="">
          <p:sp>
            <p:nvSpPr>
              <p:cNvPr id="3" name="Rectangle 2">
                <a:extLst>
                  <a:ext uri="{FF2B5EF4-FFF2-40B4-BE49-F238E27FC236}">
                    <a16:creationId xmlns:a16="http://schemas.microsoft.com/office/drawing/2014/main" id="{B23D56AF-9E7E-4903-8640-34E4B150CE50}"/>
                  </a:ext>
                </a:extLst>
              </p:cNvPr>
              <p:cNvSpPr>
                <a:spLocks noRot="1" noChangeAspect="1" noMove="1" noResize="1" noEditPoints="1" noAdjustHandles="1" noChangeArrowheads="1" noChangeShapeType="1" noTextEdit="1"/>
              </p:cNvSpPr>
              <p:nvPr/>
            </p:nvSpPr>
            <p:spPr>
              <a:xfrm>
                <a:off x="2240880" y="2207868"/>
                <a:ext cx="1486304" cy="730200"/>
              </a:xfrm>
              <a:prstGeom prst="rect">
                <a:avLst/>
              </a:prstGeom>
              <a:blipFill>
                <a:blip r:embed="rId4"/>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072C4D3D-DAF6-4C44-B427-FCD2BAA43B19}"/>
              </a:ext>
            </a:extLst>
          </p:cNvPr>
          <p:cNvSpPr txBox="1"/>
          <p:nvPr/>
        </p:nvSpPr>
        <p:spPr>
          <a:xfrm>
            <a:off x="818237" y="2885489"/>
            <a:ext cx="5069786" cy="646331"/>
          </a:xfrm>
          <a:prstGeom prst="rect">
            <a:avLst/>
          </a:prstGeom>
          <a:noFill/>
        </p:spPr>
        <p:txBody>
          <a:bodyPr wrap="none" rtlCol="0">
            <a:spAutoFit/>
          </a:bodyPr>
          <a:lstStyle/>
          <a:p>
            <a:pPr algn="ctr"/>
            <a:r>
              <a:rPr lang="en-US" dirty="0"/>
              <a:t>Chain rule for the gradient of the error with respect </a:t>
            </a:r>
          </a:p>
          <a:p>
            <a:pPr algn="ctr"/>
            <a:r>
              <a:rPr lang="en-US" dirty="0"/>
              <a:t>to the hidden node z</a:t>
            </a:r>
          </a:p>
        </p:txBody>
      </p:sp>
    </p:spTree>
    <p:extLst>
      <p:ext uri="{BB962C8B-B14F-4D97-AF65-F5344CB8AC3E}">
        <p14:creationId xmlns:p14="http://schemas.microsoft.com/office/powerpoint/2010/main" val="36600471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FFC2C-FBD9-4D3B-BD10-38F634754168}"/>
              </a:ext>
            </a:extLst>
          </p:cNvPr>
          <p:cNvSpPr>
            <a:spLocks noGrp="1"/>
          </p:cNvSpPr>
          <p:nvPr>
            <p:ph type="title"/>
          </p:nvPr>
        </p:nvSpPr>
        <p:spPr>
          <a:xfrm>
            <a:off x="838200" y="365126"/>
            <a:ext cx="10515600" cy="837692"/>
          </a:xfrm>
        </p:spPr>
        <p:txBody>
          <a:bodyPr/>
          <a:lstStyle/>
          <a:p>
            <a:pPr algn="ctr"/>
            <a:r>
              <a:rPr lang="en-US" dirty="0"/>
              <a:t>Backpropagation</a:t>
            </a:r>
          </a:p>
        </p:txBody>
      </p:sp>
      <p:pic>
        <p:nvPicPr>
          <p:cNvPr id="7" name="Content Placeholder 6">
            <a:extLst>
              <a:ext uri="{FF2B5EF4-FFF2-40B4-BE49-F238E27FC236}">
                <a16:creationId xmlns:a16="http://schemas.microsoft.com/office/drawing/2014/main" id="{11F114E2-235F-425A-BBBE-E27C0781248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47561" y="3143357"/>
            <a:ext cx="5672239" cy="1878348"/>
          </a:xfrm>
        </p:spPr>
      </p:pic>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F7FADBDF-E49F-43BC-9783-5731B35C502A}"/>
                  </a:ext>
                </a:extLst>
              </p:cNvPr>
              <p:cNvSpPr>
                <a:spLocks noGrp="1"/>
              </p:cNvSpPr>
              <p:nvPr>
                <p:ph sz="half" idx="2"/>
              </p:nvPr>
            </p:nvSpPr>
            <p:spPr>
              <a:ln>
                <a:solidFill>
                  <a:schemeClr val="bg1"/>
                </a:solidFill>
              </a:ln>
            </p:spPr>
            <p:txBody>
              <a:bodyPr>
                <a:normAutofit/>
              </a:bodyPr>
              <a:lstStyle/>
              <a:p>
                <a:r>
                  <a:rPr lang="en-US" sz="2000" dirty="0"/>
                  <a:t>In order to visualize the actual “backpropagation” of the error;</a:t>
                </a:r>
              </a:p>
              <a:p>
                <a:r>
                  <a:rPr lang="en-US" sz="2000" dirty="0"/>
                  <a:t>consider the gradient of the error with respect to the input x;</a:t>
                </a:r>
              </a:p>
              <a:p>
                <a:endParaRPr lang="en-US" sz="2000" dirty="0"/>
              </a:p>
              <a:p>
                <a:pPr marL="0" indent="0">
                  <a:buNone/>
                </a:pPr>
                <a14:m>
                  <m:oMathPara xmlns:m="http://schemas.openxmlformats.org/officeDocument/2006/math">
                    <m:oMathParaPr>
                      <m:jc m:val="centerGroup"/>
                    </m:oMathParaPr>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m:t>
                          </m:r>
                          <m:r>
                            <a:rPr lang="en-US" sz="2000" b="1" i="1">
                              <a:latin typeface="Cambria Math" panose="02040503050406030204" pitchFamily="18" charset="0"/>
                            </a:rPr>
                            <m:t>𝒆</m:t>
                          </m:r>
                        </m:num>
                        <m:den>
                          <m:r>
                            <a:rPr lang="en-US" sz="2000" i="1">
                              <a:latin typeface="Cambria Math" panose="02040503050406030204" pitchFamily="18" charset="0"/>
                            </a:rPr>
                            <m:t>𝜕</m:t>
                          </m:r>
                          <m:r>
                            <a:rPr lang="en-US" sz="2000" b="0" i="1" smtClean="0">
                              <a:latin typeface="Cambria Math" panose="02040503050406030204" pitchFamily="18" charset="0"/>
                            </a:rPr>
                            <m:t>𝑥</m:t>
                          </m:r>
                        </m:den>
                      </m:f>
                      <m:r>
                        <a:rPr lang="en-US" sz="2000" i="1">
                          <a:latin typeface="Cambria Math" panose="02040503050406030204" pitchFamily="18" charset="0"/>
                        </a:rPr>
                        <m:t>=</m:t>
                      </m:r>
                      <m:r>
                        <a:rPr lang="en-US" sz="2000" b="0" i="1" smtClean="0">
                          <a:latin typeface="Cambria Math" panose="02040503050406030204" pitchFamily="18" charset="0"/>
                        </a:rPr>
                        <m:t>   </m:t>
                      </m:r>
                      <m:f>
                        <m:fPr>
                          <m:ctrlPr>
                            <a:rPr lang="en-US" sz="2000" i="1">
                              <a:latin typeface="Cambria Math" panose="02040503050406030204" pitchFamily="18" charset="0"/>
                            </a:rPr>
                          </m:ctrlPr>
                        </m:fPr>
                        <m:num>
                          <m:r>
                            <a:rPr lang="en-US" sz="2000" i="1">
                              <a:latin typeface="Cambria Math" panose="02040503050406030204" pitchFamily="18" charset="0"/>
                            </a:rPr>
                            <m:t>𝜕</m:t>
                          </m:r>
                          <m:r>
                            <a:rPr lang="en-US" sz="2000" b="1" i="1">
                              <a:latin typeface="Cambria Math" panose="02040503050406030204" pitchFamily="18" charset="0"/>
                            </a:rPr>
                            <m:t>𝒆</m:t>
                          </m:r>
                        </m:num>
                        <m:den>
                          <m:r>
                            <a:rPr lang="en-US" sz="2000" i="1">
                              <a:latin typeface="Cambria Math" panose="02040503050406030204" pitchFamily="18" charset="0"/>
                            </a:rPr>
                            <m:t>𝜕</m:t>
                          </m:r>
                          <m:r>
                            <a:rPr lang="en-US" sz="2000" b="0" i="1" smtClean="0">
                              <a:latin typeface="Cambria Math" panose="02040503050406030204" pitchFamily="18" charset="0"/>
                            </a:rPr>
                            <m:t>𝑧</m:t>
                          </m:r>
                        </m:den>
                      </m:f>
                      <m:r>
                        <a:rPr lang="en-US" sz="2000" b="0" i="1" smtClean="0">
                          <a:latin typeface="Cambria Math" panose="02040503050406030204" pitchFamily="18" charset="0"/>
                        </a:rPr>
                        <m:t>  </m:t>
                      </m:r>
                      <m:f>
                        <m:fPr>
                          <m:ctrlPr>
                            <a:rPr lang="en-US" sz="2000" i="1">
                              <a:latin typeface="Cambria Math" panose="02040503050406030204" pitchFamily="18" charset="0"/>
                            </a:rPr>
                          </m:ctrlPr>
                        </m:fPr>
                        <m:num>
                          <m:r>
                            <a:rPr lang="en-US" sz="2000" i="1">
                              <a:latin typeface="Cambria Math" panose="02040503050406030204" pitchFamily="18" charset="0"/>
                            </a:rPr>
                            <m:t>𝜕</m:t>
                          </m:r>
                          <m:r>
                            <a:rPr lang="en-US" sz="2000" b="0" i="1" smtClean="0">
                              <a:latin typeface="Cambria Math" panose="02040503050406030204" pitchFamily="18" charset="0"/>
                            </a:rPr>
                            <m:t>𝑧</m:t>
                          </m:r>
                        </m:num>
                        <m:den>
                          <m:r>
                            <a:rPr lang="en-US" sz="2000" i="1">
                              <a:latin typeface="Cambria Math" panose="02040503050406030204" pitchFamily="18" charset="0"/>
                            </a:rPr>
                            <m:t>𝜕</m:t>
                          </m:r>
                          <m:r>
                            <a:rPr lang="en-US" sz="2000" b="0" i="1" smtClean="0">
                              <a:latin typeface="Cambria Math" panose="02040503050406030204" pitchFamily="18" charset="0"/>
                            </a:rPr>
                            <m:t>𝑥</m:t>
                          </m:r>
                        </m:den>
                      </m:f>
                    </m:oMath>
                  </m:oMathPara>
                </a14:m>
                <a:endParaRPr lang="en-US" sz="2000" dirty="0"/>
              </a:p>
              <a:p>
                <a:pPr marL="0" indent="0">
                  <a:buNone/>
                </a:pPr>
                <a:endParaRPr lang="en-US" sz="2000" dirty="0"/>
              </a:p>
              <a:p>
                <a:r>
                  <a:rPr lang="en-US" sz="2000" dirty="0"/>
                  <a:t>We can see that the gradient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m:t>
                        </m:r>
                        <m:r>
                          <a:rPr lang="en-US" sz="2000" b="1" i="1">
                            <a:latin typeface="Cambria Math" panose="02040503050406030204" pitchFamily="18" charset="0"/>
                          </a:rPr>
                          <m:t>𝒆</m:t>
                        </m:r>
                      </m:num>
                      <m:den>
                        <m:r>
                          <a:rPr lang="en-US" sz="2000" i="1">
                            <a:latin typeface="Cambria Math" panose="02040503050406030204" pitchFamily="18" charset="0"/>
                          </a:rPr>
                          <m:t>𝜕</m:t>
                        </m:r>
                        <m:r>
                          <a:rPr lang="en-US" sz="2000" i="1">
                            <a:latin typeface="Cambria Math" panose="02040503050406030204" pitchFamily="18" charset="0"/>
                          </a:rPr>
                          <m:t>𝑧</m:t>
                        </m:r>
                      </m:den>
                    </m:f>
                  </m:oMath>
                </a14:m>
                <a:r>
                  <a:rPr lang="en-US" sz="2000" dirty="0"/>
                  <a:t> which was calculated for the hidden node z is recursively used here to calculate the gradient for the input node x.</a:t>
                </a:r>
              </a:p>
              <a:p>
                <a:pPr marL="0" indent="0">
                  <a:buNone/>
                </a:pPr>
                <a:endParaRPr lang="en-US" sz="2000" dirty="0"/>
              </a:p>
            </p:txBody>
          </p:sp>
        </mc:Choice>
        <mc:Fallback xmlns="">
          <p:sp>
            <p:nvSpPr>
              <p:cNvPr id="5" name="Content Placeholder 4">
                <a:extLst>
                  <a:ext uri="{FF2B5EF4-FFF2-40B4-BE49-F238E27FC236}">
                    <a16:creationId xmlns:a16="http://schemas.microsoft.com/office/drawing/2014/main" id="{F7FADBDF-E49F-43BC-9783-5731B35C502A}"/>
                  </a:ext>
                </a:extLst>
              </p:cNvPr>
              <p:cNvSpPr>
                <a:spLocks noGrp="1" noRot="1" noChangeAspect="1" noMove="1" noResize="1" noEditPoints="1" noAdjustHandles="1" noChangeArrowheads="1" noChangeShapeType="1" noTextEdit="1"/>
              </p:cNvSpPr>
              <p:nvPr>
                <p:ph sz="half" idx="2"/>
              </p:nvPr>
            </p:nvSpPr>
            <p:spPr>
              <a:blipFill>
                <a:blip r:embed="rId3"/>
                <a:stretch>
                  <a:fillRect l="-939" t="-1257" r="-939"/>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B23D56AF-9E7E-4903-8640-34E4B150CE50}"/>
                  </a:ext>
                </a:extLst>
              </p:cNvPr>
              <p:cNvSpPr/>
              <p:nvPr/>
            </p:nvSpPr>
            <p:spPr>
              <a:xfrm>
                <a:off x="2240880" y="2291737"/>
                <a:ext cx="1486304" cy="73020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m:t>
                          </m:r>
                          <m:r>
                            <a:rPr lang="en-US" sz="2000" b="1" i="1">
                              <a:latin typeface="Cambria Math" panose="02040503050406030204" pitchFamily="18" charset="0"/>
                            </a:rPr>
                            <m:t>𝒆</m:t>
                          </m:r>
                        </m:num>
                        <m:den>
                          <m:r>
                            <a:rPr lang="en-US" sz="2000" i="1">
                              <a:latin typeface="Cambria Math" panose="02040503050406030204" pitchFamily="18" charset="0"/>
                            </a:rPr>
                            <m:t>𝜕</m:t>
                          </m:r>
                          <m:r>
                            <a:rPr lang="en-US" sz="2000" i="1">
                              <a:latin typeface="Cambria Math" panose="02040503050406030204" pitchFamily="18" charset="0"/>
                            </a:rPr>
                            <m:t>𝑧</m:t>
                          </m:r>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m:t>
                          </m:r>
                          <m:r>
                            <a:rPr lang="en-US" sz="2000" b="1" i="1">
                              <a:latin typeface="Cambria Math" panose="02040503050406030204" pitchFamily="18" charset="0"/>
                            </a:rPr>
                            <m:t>𝒆</m:t>
                          </m:r>
                        </m:num>
                        <m:den>
                          <m:r>
                            <a:rPr lang="en-US" sz="2000" i="1">
                              <a:latin typeface="Cambria Math" panose="02040503050406030204" pitchFamily="18" charset="0"/>
                            </a:rPr>
                            <m:t>𝜕</m:t>
                          </m:r>
                          <m:r>
                            <a:rPr lang="en-US" sz="2000" i="1">
                              <a:latin typeface="Cambria Math" panose="02040503050406030204" pitchFamily="18" charset="0"/>
                            </a:rPr>
                            <m:t>𝑦</m:t>
                          </m:r>
                        </m:den>
                      </m:f>
                      <m:f>
                        <m:fPr>
                          <m:ctrlPr>
                            <a:rPr lang="en-US" sz="2000" i="1">
                              <a:latin typeface="Cambria Math" panose="02040503050406030204" pitchFamily="18" charset="0"/>
                            </a:rPr>
                          </m:ctrlPr>
                        </m:fPr>
                        <m:num>
                          <m:r>
                            <a:rPr lang="en-US" sz="2000" i="1">
                              <a:latin typeface="Cambria Math" panose="02040503050406030204" pitchFamily="18" charset="0"/>
                            </a:rPr>
                            <m:t>𝜕</m:t>
                          </m:r>
                          <m:r>
                            <a:rPr lang="en-US" sz="2000" i="1">
                              <a:latin typeface="Cambria Math" panose="02040503050406030204" pitchFamily="18" charset="0"/>
                            </a:rPr>
                            <m:t>𝑦</m:t>
                          </m:r>
                        </m:num>
                        <m:den>
                          <m:r>
                            <a:rPr lang="en-US" sz="2000" i="1">
                              <a:latin typeface="Cambria Math" panose="02040503050406030204" pitchFamily="18" charset="0"/>
                            </a:rPr>
                            <m:t>𝜕</m:t>
                          </m:r>
                          <m:r>
                            <a:rPr lang="en-US" sz="2000" i="1">
                              <a:latin typeface="Cambria Math" panose="02040503050406030204" pitchFamily="18" charset="0"/>
                            </a:rPr>
                            <m:t>𝑧</m:t>
                          </m:r>
                        </m:den>
                      </m:f>
                    </m:oMath>
                  </m:oMathPara>
                </a14:m>
                <a:endParaRPr lang="en-US" sz="2000" dirty="0"/>
              </a:p>
            </p:txBody>
          </p:sp>
        </mc:Choice>
        <mc:Fallback xmlns="">
          <p:sp>
            <p:nvSpPr>
              <p:cNvPr id="3" name="Rectangle 2">
                <a:extLst>
                  <a:ext uri="{FF2B5EF4-FFF2-40B4-BE49-F238E27FC236}">
                    <a16:creationId xmlns:a16="http://schemas.microsoft.com/office/drawing/2014/main" id="{B23D56AF-9E7E-4903-8640-34E4B150CE50}"/>
                  </a:ext>
                </a:extLst>
              </p:cNvPr>
              <p:cNvSpPr>
                <a:spLocks noRot="1" noChangeAspect="1" noMove="1" noResize="1" noEditPoints="1" noAdjustHandles="1" noChangeArrowheads="1" noChangeShapeType="1" noTextEdit="1"/>
              </p:cNvSpPr>
              <p:nvPr/>
            </p:nvSpPr>
            <p:spPr>
              <a:xfrm>
                <a:off x="2240880" y="2291737"/>
                <a:ext cx="1486304" cy="730200"/>
              </a:xfrm>
              <a:prstGeom prst="rect">
                <a:avLst/>
              </a:prstGeom>
              <a:blipFill>
                <a:blip r:embed="rId4"/>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072C4D3D-DAF6-4C44-B427-FCD2BAA43B19}"/>
              </a:ext>
            </a:extLst>
          </p:cNvPr>
          <p:cNvSpPr txBox="1"/>
          <p:nvPr/>
        </p:nvSpPr>
        <p:spPr>
          <a:xfrm>
            <a:off x="525593" y="2885489"/>
            <a:ext cx="5069786" cy="646331"/>
          </a:xfrm>
          <a:prstGeom prst="rect">
            <a:avLst/>
          </a:prstGeom>
          <a:noFill/>
        </p:spPr>
        <p:txBody>
          <a:bodyPr wrap="none" rtlCol="0">
            <a:spAutoFit/>
          </a:bodyPr>
          <a:lstStyle/>
          <a:p>
            <a:pPr algn="ctr"/>
            <a:r>
              <a:rPr lang="en-US" dirty="0"/>
              <a:t>Chain rule for the gradient of the error with respect </a:t>
            </a:r>
          </a:p>
          <a:p>
            <a:pPr algn="ctr"/>
            <a:r>
              <a:rPr lang="en-US" dirty="0"/>
              <a:t>to the hidden node z</a:t>
            </a:r>
          </a:p>
        </p:txBody>
      </p:sp>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1ACFCEE0-0C29-4293-AB94-6C2D7A67037F}"/>
                  </a:ext>
                </a:extLst>
              </p:cNvPr>
              <p:cNvSpPr/>
              <p:nvPr/>
            </p:nvSpPr>
            <p:spPr>
              <a:xfrm>
                <a:off x="2240880" y="2284223"/>
                <a:ext cx="434714" cy="730200"/>
              </a:xfrm>
              <a:prstGeom prst="ellipse">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m:t>
                          </m:r>
                          <m:r>
                            <a:rPr lang="en-US" b="1" i="1">
                              <a:latin typeface="Cambria Math" panose="02040503050406030204" pitchFamily="18" charset="0"/>
                            </a:rPr>
                            <m:t>𝒆</m:t>
                          </m:r>
                        </m:num>
                        <m:den>
                          <m:r>
                            <a:rPr lang="en-US" i="1">
                              <a:latin typeface="Cambria Math" panose="02040503050406030204" pitchFamily="18" charset="0"/>
                            </a:rPr>
                            <m:t>𝜕</m:t>
                          </m:r>
                          <m:r>
                            <a:rPr lang="en-US" b="0" i="1" smtClean="0">
                              <a:latin typeface="Cambria Math" panose="02040503050406030204" pitchFamily="18" charset="0"/>
                            </a:rPr>
                            <m:t>𝑧</m:t>
                          </m:r>
                        </m:den>
                      </m:f>
                    </m:oMath>
                  </m:oMathPara>
                </a14:m>
                <a:endParaRPr lang="en-US" dirty="0"/>
              </a:p>
            </p:txBody>
          </p:sp>
        </mc:Choice>
        <mc:Fallback xmlns="">
          <p:sp>
            <p:nvSpPr>
              <p:cNvPr id="6" name="Oval 5">
                <a:extLst>
                  <a:ext uri="{FF2B5EF4-FFF2-40B4-BE49-F238E27FC236}">
                    <a16:creationId xmlns:a16="http://schemas.microsoft.com/office/drawing/2014/main" id="{1ACFCEE0-0C29-4293-AB94-6C2D7A67037F}"/>
                  </a:ext>
                </a:extLst>
              </p:cNvPr>
              <p:cNvSpPr>
                <a:spLocks noRot="1" noChangeAspect="1" noMove="1" noResize="1" noEditPoints="1" noAdjustHandles="1" noChangeArrowheads="1" noChangeShapeType="1" noTextEdit="1"/>
              </p:cNvSpPr>
              <p:nvPr/>
            </p:nvSpPr>
            <p:spPr>
              <a:xfrm>
                <a:off x="2240880" y="2284223"/>
                <a:ext cx="434714" cy="730200"/>
              </a:xfrm>
              <a:prstGeom prst="ellipse">
                <a:avLst/>
              </a:prstGeom>
              <a:blipFill>
                <a:blip r:embed="rId5"/>
                <a:stretch>
                  <a:fillRect/>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3B817D91-41E4-4F49-A602-F42690D69FFB}"/>
                  </a:ext>
                </a:extLst>
              </p:cNvPr>
              <p:cNvSpPr/>
              <p:nvPr/>
            </p:nvSpPr>
            <p:spPr>
              <a:xfrm>
                <a:off x="8628946" y="3228205"/>
                <a:ext cx="510914" cy="1008089"/>
              </a:xfrm>
              <a:prstGeom prst="ellipse">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en-US" sz="2400" i="1">
                              <a:latin typeface="Cambria Math" panose="02040503050406030204" pitchFamily="18" charset="0"/>
                            </a:rPr>
                            <m:t>𝜕</m:t>
                          </m:r>
                          <m:r>
                            <a:rPr lang="en-US" sz="2400" b="1" i="1">
                              <a:latin typeface="Cambria Math" panose="02040503050406030204" pitchFamily="18" charset="0"/>
                            </a:rPr>
                            <m:t>𝒆</m:t>
                          </m:r>
                        </m:num>
                        <m:den>
                          <m:r>
                            <a:rPr lang="en-US" sz="2400" i="1">
                              <a:latin typeface="Cambria Math" panose="02040503050406030204" pitchFamily="18" charset="0"/>
                            </a:rPr>
                            <m:t>𝜕</m:t>
                          </m:r>
                          <m:r>
                            <a:rPr lang="en-US" sz="2400" b="0" i="1" smtClean="0">
                              <a:latin typeface="Cambria Math" panose="02040503050406030204" pitchFamily="18" charset="0"/>
                            </a:rPr>
                            <m:t>𝑧</m:t>
                          </m:r>
                        </m:den>
                      </m:f>
                    </m:oMath>
                  </m:oMathPara>
                </a14:m>
                <a:endParaRPr lang="en-US" sz="2400" dirty="0"/>
              </a:p>
            </p:txBody>
          </p:sp>
        </mc:Choice>
        <mc:Fallback xmlns="">
          <p:sp>
            <p:nvSpPr>
              <p:cNvPr id="9" name="Oval 8">
                <a:extLst>
                  <a:ext uri="{FF2B5EF4-FFF2-40B4-BE49-F238E27FC236}">
                    <a16:creationId xmlns:a16="http://schemas.microsoft.com/office/drawing/2014/main" id="{3B817D91-41E4-4F49-A602-F42690D69FFB}"/>
                  </a:ext>
                </a:extLst>
              </p:cNvPr>
              <p:cNvSpPr>
                <a:spLocks noRot="1" noChangeAspect="1" noMove="1" noResize="1" noEditPoints="1" noAdjustHandles="1" noChangeArrowheads="1" noChangeShapeType="1" noTextEdit="1"/>
              </p:cNvSpPr>
              <p:nvPr/>
            </p:nvSpPr>
            <p:spPr>
              <a:xfrm>
                <a:off x="8628946" y="3228205"/>
                <a:ext cx="510914" cy="1008089"/>
              </a:xfrm>
              <a:prstGeom prst="ellipse">
                <a:avLst/>
              </a:prstGeom>
              <a:blipFill>
                <a:blip r:embed="rId6"/>
                <a:stretch>
                  <a:fillRect/>
                </a:stretch>
              </a:blipFill>
              <a:ln>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31272859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8DDA8-512F-4BA9-84E7-34C04EE8061E}"/>
              </a:ext>
            </a:extLst>
          </p:cNvPr>
          <p:cNvSpPr>
            <a:spLocks noGrp="1"/>
          </p:cNvSpPr>
          <p:nvPr>
            <p:ph type="title"/>
          </p:nvPr>
        </p:nvSpPr>
        <p:spPr/>
        <p:txBody>
          <a:bodyPr/>
          <a:lstStyle/>
          <a:p>
            <a:pPr algn="ctr"/>
            <a:r>
              <a:rPr lang="en-US" dirty="0"/>
              <a:t>Backpropagation</a:t>
            </a:r>
          </a:p>
        </p:txBody>
      </p:sp>
      <p:sp>
        <p:nvSpPr>
          <p:cNvPr id="3" name="Content Placeholder 2">
            <a:extLst>
              <a:ext uri="{FF2B5EF4-FFF2-40B4-BE49-F238E27FC236}">
                <a16:creationId xmlns:a16="http://schemas.microsoft.com/office/drawing/2014/main" id="{AFF6B2FD-763E-430D-835E-BC44F73CB384}"/>
              </a:ext>
            </a:extLst>
          </p:cNvPr>
          <p:cNvSpPr>
            <a:spLocks noGrp="1"/>
          </p:cNvSpPr>
          <p:nvPr>
            <p:ph idx="1"/>
          </p:nvPr>
        </p:nvSpPr>
        <p:spPr/>
        <p:txBody>
          <a:bodyPr>
            <a:normAutofit/>
          </a:bodyPr>
          <a:lstStyle/>
          <a:p>
            <a:pPr marL="0" indent="0">
              <a:buNone/>
            </a:pPr>
            <a:r>
              <a:rPr lang="en-US" sz="2000" dirty="0"/>
              <a:t>In Summary;</a:t>
            </a:r>
          </a:p>
          <a:p>
            <a:r>
              <a:rPr lang="en-US" sz="2000" dirty="0"/>
              <a:t>We estimate an error using a cost function;</a:t>
            </a:r>
          </a:p>
          <a:p>
            <a:r>
              <a:rPr lang="en-US" sz="2000" dirty="0"/>
              <a:t>Then, starting from the last hidden layer in the neural network, we find the gradient of the error with respect to each node in that layer and repeat this process for each layer until we work our way backwards to the first hidden layer. This is the backpropagation processing;</a:t>
            </a:r>
          </a:p>
          <a:p>
            <a:r>
              <a:rPr lang="en-US" sz="2000" dirty="0"/>
              <a:t>The backpropagation algorithm is actually executed in two phases for each layer in the network. First we calculate the gradients, then we update the weights of the neural network using the gradients. The update of the weights is what enables the actual “learning”. </a:t>
            </a:r>
          </a:p>
          <a:p>
            <a:pPr marL="0" indent="0">
              <a:buNone/>
            </a:pPr>
            <a:endParaRPr lang="en-US" sz="2000" dirty="0"/>
          </a:p>
        </p:txBody>
      </p:sp>
    </p:spTree>
    <p:extLst>
      <p:ext uri="{BB962C8B-B14F-4D97-AF65-F5344CB8AC3E}">
        <p14:creationId xmlns:p14="http://schemas.microsoft.com/office/powerpoint/2010/main" val="171570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9503E-3C48-494E-9B96-E10B763BA22A}"/>
              </a:ext>
            </a:extLst>
          </p:cNvPr>
          <p:cNvSpPr>
            <a:spLocks noGrp="1"/>
          </p:cNvSpPr>
          <p:nvPr>
            <p:ph type="title"/>
          </p:nvPr>
        </p:nvSpPr>
        <p:spPr/>
        <p:txBody>
          <a:bodyPr/>
          <a:lstStyle/>
          <a:p>
            <a:pPr algn="ctr"/>
            <a:r>
              <a:rPr lang="en-US" dirty="0"/>
              <a:t>Gradient Descent </a:t>
            </a:r>
          </a:p>
        </p:txBody>
      </p:sp>
      <p:sp>
        <p:nvSpPr>
          <p:cNvPr id="3" name="Content Placeholder 2">
            <a:extLst>
              <a:ext uri="{FF2B5EF4-FFF2-40B4-BE49-F238E27FC236}">
                <a16:creationId xmlns:a16="http://schemas.microsoft.com/office/drawing/2014/main" id="{3465A011-A150-45AF-8FE5-444E45A3DC15}"/>
              </a:ext>
            </a:extLst>
          </p:cNvPr>
          <p:cNvSpPr>
            <a:spLocks noGrp="1"/>
          </p:cNvSpPr>
          <p:nvPr>
            <p:ph idx="1"/>
          </p:nvPr>
        </p:nvSpPr>
        <p:spPr/>
        <p:txBody>
          <a:bodyPr>
            <a:normAutofit/>
          </a:bodyPr>
          <a:lstStyle/>
          <a:p>
            <a:pPr marL="0" indent="0">
              <a:buNone/>
            </a:pPr>
            <a:r>
              <a:rPr lang="en-US" sz="2000" dirty="0"/>
              <a:t>What is the motivation for an optimization algorithm for deep learning?</a:t>
            </a:r>
          </a:p>
          <a:p>
            <a:r>
              <a:rPr lang="en-US" sz="2000" dirty="0"/>
              <a:t>Simply put, given the parameters of the deep learning model, we cannot precisely determine that we have found the global minimum of the cost function we are trying to minimize.</a:t>
            </a:r>
          </a:p>
          <a:p>
            <a:r>
              <a:rPr lang="en-US" sz="2000" dirty="0"/>
              <a:t>One can think of the deep neural network as one big non-linear function. The optimization of a deep learning model is therefore non-convex.</a:t>
            </a:r>
          </a:p>
          <a:p>
            <a:r>
              <a:rPr lang="en-US" sz="2000" dirty="0"/>
              <a:t>Therefore, we need an optimization algorithm to help find the global minimum of the cost function. </a:t>
            </a:r>
          </a:p>
          <a:p>
            <a:pPr marL="0" indent="0">
              <a:buNone/>
            </a:pPr>
            <a:r>
              <a:rPr lang="en-US" sz="2000" dirty="0"/>
              <a:t>Enter Gradient Descent....</a:t>
            </a:r>
          </a:p>
        </p:txBody>
      </p:sp>
    </p:spTree>
    <p:extLst>
      <p:ext uri="{BB962C8B-B14F-4D97-AF65-F5344CB8AC3E}">
        <p14:creationId xmlns:p14="http://schemas.microsoft.com/office/powerpoint/2010/main" val="12337488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B311B-765C-4C6B-B97A-4327CB5501D5}"/>
              </a:ext>
            </a:extLst>
          </p:cNvPr>
          <p:cNvSpPr>
            <a:spLocks noGrp="1"/>
          </p:cNvSpPr>
          <p:nvPr>
            <p:ph type="title"/>
          </p:nvPr>
        </p:nvSpPr>
        <p:spPr/>
        <p:txBody>
          <a:bodyPr/>
          <a:lstStyle/>
          <a:p>
            <a:pPr algn="ctr"/>
            <a:r>
              <a:rPr lang="en-US" dirty="0"/>
              <a:t>Gradient Descent </a:t>
            </a:r>
          </a:p>
        </p:txBody>
      </p:sp>
      <p:pic>
        <p:nvPicPr>
          <p:cNvPr id="6" name="Content Placeholder 5">
            <a:extLst>
              <a:ext uri="{FF2B5EF4-FFF2-40B4-BE49-F238E27FC236}">
                <a16:creationId xmlns:a16="http://schemas.microsoft.com/office/drawing/2014/main" id="{3134C3A3-BDC6-443E-8444-C2995033AAC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553387" y="1513045"/>
            <a:ext cx="5181600" cy="3207657"/>
          </a:xfrm>
        </p:spPr>
      </p:pic>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B417465-65B4-4703-BB69-B0DDD992E15B}"/>
                  </a:ext>
                </a:extLst>
              </p:cNvPr>
              <p:cNvSpPr>
                <a:spLocks noGrp="1"/>
              </p:cNvSpPr>
              <p:nvPr>
                <p:ph sz="half" idx="2"/>
              </p:nvPr>
            </p:nvSpPr>
            <p:spPr/>
            <p:txBody>
              <a:bodyPr>
                <a:normAutofit fontScale="70000" lnSpcReduction="20000"/>
              </a:bodyPr>
              <a:lstStyle/>
              <a:p>
                <a:r>
                  <a:rPr lang="en-US" dirty="0"/>
                  <a:t>Gradient descent is an iterative optimization algorithm for finding the minimum of a cost function. </a:t>
                </a:r>
              </a:p>
              <a:p>
                <a:pPr marL="0" indent="0">
                  <a:buNone/>
                </a:pPr>
                <a:endParaRPr lang="en-US" dirty="0"/>
              </a:p>
              <a:p>
                <a:pPr marL="0" indent="0">
                  <a:buNone/>
                </a:pPr>
                <a:endParaRPr lang="en-US" dirty="0"/>
              </a:p>
              <a:p>
                <a:r>
                  <a:rPr lang="en-US" dirty="0"/>
                  <a:t>In the equation above, the cost function </a:t>
                </a:r>
                <a14:m>
                  <m:oMath xmlns:m="http://schemas.openxmlformats.org/officeDocument/2006/math">
                    <m:r>
                      <a:rPr lang="en-US" i="1">
                        <a:latin typeface="Cambria Math" panose="02040503050406030204" pitchFamily="18" charset="0"/>
                        <a:ea typeface="Calibri" panose="020F0502020204030204" pitchFamily="34" charset="0"/>
                        <a:cs typeface="Times New Roman" panose="02020603050405020304" pitchFamily="18" charset="0"/>
                      </a:rPr>
                      <m:t>h</m:t>
                    </m:r>
                    <m:r>
                      <a:rPr lang="en-US" i="1">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libri" panose="020F0502020204030204" pitchFamily="34" charset="0"/>
                            <a:cs typeface="Times New Roman" panose="02020603050405020304" pitchFamily="18" charset="0"/>
                          </a:rPr>
                          <m:t>𝑤</m:t>
                        </m:r>
                      </m:e>
                      <m:sub>
                        <m:r>
                          <a:rPr lang="en-US" i="1">
                            <a:latin typeface="Cambria Math" panose="02040503050406030204" pitchFamily="18" charset="0"/>
                            <a:ea typeface="Calibri" panose="020F0502020204030204" pitchFamily="34" charset="0"/>
                            <a:cs typeface="Times New Roman" panose="02020603050405020304" pitchFamily="18" charset="0"/>
                          </a:rPr>
                          <m:t>𝑖</m:t>
                        </m:r>
                      </m:sub>
                    </m:sSub>
                    <m:r>
                      <a:rPr lang="en-US" i="1">
                        <a:latin typeface="Cambria Math" panose="02040503050406030204" pitchFamily="18" charset="0"/>
                        <a:ea typeface="Calibri" panose="020F0502020204030204" pitchFamily="34" charset="0"/>
                        <a:cs typeface="Times New Roman" panose="02020603050405020304" pitchFamily="18" charset="0"/>
                      </a:rPr>
                      <m:t>)</m:t>
                    </m:r>
                  </m:oMath>
                </a14:m>
                <a:r>
                  <a:rPr lang="en-US" dirty="0"/>
                  <a:t> calculates the error </a:t>
                </a:r>
                <a14:m>
                  <m:oMath xmlns:m="http://schemas.openxmlformats.org/officeDocument/2006/math">
                    <m:r>
                      <a:rPr lang="en-US" b="1" i="1">
                        <a:latin typeface="Cambria Math" panose="02040503050406030204" pitchFamily="18" charset="0"/>
                      </a:rPr>
                      <m:t>𝒆</m:t>
                    </m:r>
                  </m:oMath>
                </a14:m>
                <a:r>
                  <a:rPr lang="en-US" b="1" dirty="0"/>
                  <a:t>;</a:t>
                </a:r>
              </a:p>
              <a:p>
                <a:r>
                  <a:rPr lang="en-US" dirty="0"/>
                  <a:t>The gradient of this error with respect to</a:t>
                </a:r>
              </a:p>
              <a:p>
                <a:pPr marL="0" indent="0">
                  <a:buNone/>
                </a:pPr>
                <a:r>
                  <a:rPr lang="en-US" dirty="0"/>
                  <a:t>     the weights </a:t>
                </a:r>
                <a14:m>
                  <m:oMath xmlns:m="http://schemas.openxmlformats.org/officeDocument/2006/math">
                    <m:f>
                      <m:fPr>
                        <m:ctrlPr>
                          <a:rPr lang="en-US" i="1">
                            <a:latin typeface="Cambria Math" panose="02040503050406030204" pitchFamily="18" charset="0"/>
                            <a:cs typeface="Times New Roman" panose="02020603050405020304" pitchFamily="18" charset="0"/>
                          </a:rPr>
                        </m:ctrlPr>
                      </m:fPr>
                      <m:num>
                        <m:r>
                          <a:rPr lang="en-US" i="1">
                            <a:latin typeface="Cambria Math" panose="02040503050406030204" pitchFamily="18" charset="0"/>
                            <a:ea typeface="Calibri" panose="020F0502020204030204" pitchFamily="34" charset="0"/>
                            <a:cs typeface="Times New Roman" panose="02020603050405020304" pitchFamily="18" charset="0"/>
                          </a:rPr>
                          <m:t>𝜕</m:t>
                        </m:r>
                        <m:r>
                          <a:rPr lang="en-US" i="1">
                            <a:latin typeface="Cambria Math" panose="02040503050406030204" pitchFamily="18" charset="0"/>
                            <a:ea typeface="Calibri" panose="020F0502020204030204" pitchFamily="34" charset="0"/>
                            <a:cs typeface="Times New Roman" panose="02020603050405020304" pitchFamily="18" charset="0"/>
                          </a:rPr>
                          <m:t>h</m:t>
                        </m:r>
                        <m:r>
                          <a:rPr lang="en-US" i="1">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libri" panose="020F0502020204030204" pitchFamily="34" charset="0"/>
                                <a:cs typeface="Times New Roman" panose="02020603050405020304" pitchFamily="18" charset="0"/>
                              </a:rPr>
                              <m:t>𝑤</m:t>
                            </m:r>
                          </m:e>
                          <m:sub>
                            <m:r>
                              <a:rPr lang="en-US" i="1">
                                <a:latin typeface="Cambria Math" panose="02040503050406030204" pitchFamily="18" charset="0"/>
                                <a:ea typeface="Calibri" panose="020F0502020204030204" pitchFamily="34" charset="0"/>
                                <a:cs typeface="Times New Roman" panose="02020603050405020304" pitchFamily="18" charset="0"/>
                              </a:rPr>
                              <m:t>𝑖</m:t>
                            </m:r>
                          </m:sub>
                        </m:sSub>
                        <m:r>
                          <a:rPr lang="en-US" i="1">
                            <a:latin typeface="Cambria Math" panose="02040503050406030204" pitchFamily="18" charset="0"/>
                            <a:ea typeface="Calibri" panose="020F0502020204030204" pitchFamily="34" charset="0"/>
                            <a:cs typeface="Times New Roman" panose="02020603050405020304" pitchFamily="18" charset="0"/>
                          </a:rPr>
                          <m:t>)</m:t>
                        </m:r>
                      </m:num>
                      <m:den>
                        <m:r>
                          <a:rPr lang="en-US" i="1">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libri" panose="020F0502020204030204" pitchFamily="34" charset="0"/>
                                <a:cs typeface="Times New Roman" panose="02020603050405020304" pitchFamily="18" charset="0"/>
                              </a:rPr>
                              <m:t>𝑤</m:t>
                            </m:r>
                          </m:e>
                          <m:sub>
                            <m:r>
                              <a:rPr lang="en-US" i="1">
                                <a:latin typeface="Cambria Math" panose="02040503050406030204" pitchFamily="18" charset="0"/>
                                <a:ea typeface="Calibri" panose="020F0502020204030204" pitchFamily="34" charset="0"/>
                                <a:cs typeface="Times New Roman" panose="02020603050405020304" pitchFamily="18" charset="0"/>
                              </a:rPr>
                              <m:t>𝑖</m:t>
                            </m:r>
                          </m:sub>
                        </m:sSub>
                      </m:den>
                    </m:f>
                  </m:oMath>
                </a14:m>
                <a:r>
                  <a:rPr lang="en-US" dirty="0"/>
                  <a:t> multiplied by the</a:t>
                </a:r>
              </a:p>
              <a:p>
                <a:pPr marL="0" indent="0">
                  <a:buNone/>
                </a:pPr>
                <a:r>
                  <a:rPr lang="en-US" dirty="0"/>
                  <a:t>     learning rate </a:t>
                </a:r>
                <a14:m>
                  <m:oMath xmlns:m="http://schemas.openxmlformats.org/officeDocument/2006/math">
                    <m:r>
                      <a:rPr lang="en-US" i="1">
                        <a:latin typeface="Cambria Math" panose="02040503050406030204" pitchFamily="18" charset="0"/>
                        <a:ea typeface="Calibri" panose="020F0502020204030204" pitchFamily="34" charset="0"/>
                        <a:cs typeface="Times New Roman" panose="02020603050405020304" pitchFamily="18" charset="0"/>
                      </a:rPr>
                      <m:t>𝛼</m:t>
                    </m:r>
                  </m:oMath>
                </a14:m>
                <a:r>
                  <a:rPr lang="en-US" dirty="0"/>
                  <a:t>, is subtracted from the </a:t>
                </a:r>
              </a:p>
              <a:p>
                <a:pPr marL="0" indent="0">
                  <a:buNone/>
                </a:pPr>
                <a:r>
                  <a:rPr lang="en-US" dirty="0"/>
                  <a:t>     current weight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libri" panose="020F0502020204030204" pitchFamily="34" charset="0"/>
                            <a:cs typeface="Times New Roman" panose="02020603050405020304" pitchFamily="18" charset="0"/>
                          </a:rPr>
                          <m:t>𝑤</m:t>
                        </m:r>
                      </m:e>
                      <m:sub>
                        <m:r>
                          <a:rPr lang="en-US" i="1">
                            <a:latin typeface="Cambria Math" panose="02040503050406030204" pitchFamily="18" charset="0"/>
                            <a:ea typeface="Calibri" panose="020F0502020204030204" pitchFamily="34" charset="0"/>
                            <a:cs typeface="Times New Roman" panose="02020603050405020304" pitchFamily="18" charset="0"/>
                          </a:rPr>
                          <m:t>𝑖</m:t>
                        </m:r>
                      </m:sub>
                    </m:sSub>
                  </m:oMath>
                </a14:m>
                <a:r>
                  <a:rPr lang="en-US" dirty="0"/>
                  <a:t>. </a:t>
                </a:r>
              </a:p>
              <a:p>
                <a:r>
                  <a:rPr lang="en-US" dirty="0"/>
                  <a:t>This procedure ensures that we optimize the parameter (in this case the weights) that minimizes the error </a:t>
                </a:r>
                <a14:m>
                  <m:oMath xmlns:m="http://schemas.openxmlformats.org/officeDocument/2006/math">
                    <m:r>
                      <a:rPr lang="en-US" b="0" i="1" smtClean="0">
                        <a:latin typeface="Cambria Math" panose="02040503050406030204" pitchFamily="18" charset="0"/>
                      </a:rPr>
                      <m:t>𝑒</m:t>
                    </m:r>
                  </m:oMath>
                </a14:m>
                <a:r>
                  <a:rPr lang="en-US" dirty="0"/>
                  <a:t>.</a:t>
                </a:r>
              </a:p>
              <a:p>
                <a:pPr marL="0" indent="0">
                  <a:buNone/>
                </a:pPr>
                <a:endParaRPr lang="en-US" dirty="0"/>
              </a:p>
              <a:p>
                <a:pPr marL="0" indent="0">
                  <a:buNone/>
                </a:pPr>
                <a:endParaRPr lang="en-US" dirty="0"/>
              </a:p>
              <a:p>
                <a:endParaRPr lang="en-US" dirty="0"/>
              </a:p>
              <a:p>
                <a:endParaRPr lang="en-US" dirty="0"/>
              </a:p>
            </p:txBody>
          </p:sp>
        </mc:Choice>
        <mc:Fallback xmlns="">
          <p:sp>
            <p:nvSpPr>
              <p:cNvPr id="4" name="Content Placeholder 3">
                <a:extLst>
                  <a:ext uri="{FF2B5EF4-FFF2-40B4-BE49-F238E27FC236}">
                    <a16:creationId xmlns:a16="http://schemas.microsoft.com/office/drawing/2014/main" id="{4B417465-65B4-4703-BB69-B0DDD992E15B}"/>
                  </a:ext>
                </a:extLst>
              </p:cNvPr>
              <p:cNvSpPr>
                <a:spLocks noGrp="1" noRot="1" noChangeAspect="1" noMove="1" noResize="1" noEditPoints="1" noAdjustHandles="1" noChangeArrowheads="1" noChangeShapeType="1" noTextEdit="1"/>
              </p:cNvSpPr>
              <p:nvPr>
                <p:ph sz="half" idx="2"/>
              </p:nvPr>
            </p:nvSpPr>
            <p:spPr>
              <a:blipFill>
                <a:blip r:embed="rId3"/>
                <a:stretch>
                  <a:fillRect l="-1059" t="-25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719573EF-5966-49F0-B94E-5476ADDFB9E9}"/>
                  </a:ext>
                </a:extLst>
              </p:cNvPr>
              <p:cNvSpPr/>
              <p:nvPr/>
            </p:nvSpPr>
            <p:spPr>
              <a:xfrm>
                <a:off x="7424728" y="2538909"/>
                <a:ext cx="2239331" cy="6667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libri" panose="020F0502020204030204" pitchFamily="34" charset="0"/>
                              <a:cs typeface="Times New Roman" panose="02020603050405020304" pitchFamily="18" charset="0"/>
                            </a:rPr>
                            <m:t>𝑤</m:t>
                          </m:r>
                        </m:e>
                        <m:sub>
                          <m:r>
                            <a:rPr lang="en-US" i="1">
                              <a:latin typeface="Cambria Math" panose="02040503050406030204" pitchFamily="18" charset="0"/>
                              <a:ea typeface="Calibri" panose="020F0502020204030204" pitchFamily="34" charset="0"/>
                              <a:cs typeface="Times New Roman" panose="02020603050405020304" pitchFamily="18" charset="0"/>
                            </a:rPr>
                            <m:t>𝑖</m:t>
                          </m:r>
                        </m:sub>
                      </m:sSub>
                      <m:r>
                        <a:rPr lang="en-US" i="1">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libri" panose="020F0502020204030204" pitchFamily="34" charset="0"/>
                              <a:cs typeface="Times New Roman" panose="02020603050405020304" pitchFamily="18" charset="0"/>
                            </a:rPr>
                            <m:t>𝑤</m:t>
                          </m:r>
                        </m:e>
                        <m:sub>
                          <m:r>
                            <a:rPr lang="en-US" i="1">
                              <a:latin typeface="Cambria Math" panose="02040503050406030204" pitchFamily="18" charset="0"/>
                              <a:ea typeface="Calibri" panose="020F0502020204030204" pitchFamily="34" charset="0"/>
                              <a:cs typeface="Times New Roman" panose="02020603050405020304" pitchFamily="18" charset="0"/>
                            </a:rPr>
                            <m:t>𝑖</m:t>
                          </m:r>
                        </m:sub>
                      </m:sSub>
                      <m:r>
                        <a:rPr lang="en-US" i="1">
                          <a:latin typeface="Cambria Math" panose="02040503050406030204" pitchFamily="18" charset="0"/>
                          <a:ea typeface="Calibri" panose="020F0502020204030204" pitchFamily="34" charset="0"/>
                          <a:cs typeface="Times New Roman" panose="02020603050405020304" pitchFamily="18" charset="0"/>
                        </a:rPr>
                        <m:t>−</m:t>
                      </m:r>
                      <m:r>
                        <a:rPr lang="en-US" i="1">
                          <a:latin typeface="Cambria Math" panose="02040503050406030204" pitchFamily="18" charset="0"/>
                          <a:ea typeface="Calibri" panose="020F0502020204030204" pitchFamily="34" charset="0"/>
                          <a:cs typeface="Times New Roman" panose="02020603050405020304" pitchFamily="18" charset="0"/>
                        </a:rPr>
                        <m:t>𝛼</m:t>
                      </m:r>
                      <m:f>
                        <m:fPr>
                          <m:ctrlPr>
                            <a:rPr lang="en-US" i="1">
                              <a:latin typeface="Cambria Math" panose="02040503050406030204" pitchFamily="18" charset="0"/>
                              <a:cs typeface="Times New Roman" panose="02020603050405020304" pitchFamily="18" charset="0"/>
                            </a:rPr>
                          </m:ctrlPr>
                        </m:fPr>
                        <m:num>
                          <m:r>
                            <a:rPr lang="en-US" i="1">
                              <a:latin typeface="Cambria Math" panose="02040503050406030204" pitchFamily="18" charset="0"/>
                              <a:ea typeface="Calibri" panose="020F0502020204030204" pitchFamily="34" charset="0"/>
                              <a:cs typeface="Times New Roman" panose="02020603050405020304" pitchFamily="18" charset="0"/>
                            </a:rPr>
                            <m:t>𝜕</m:t>
                          </m:r>
                          <m:r>
                            <a:rPr lang="en-US" i="1">
                              <a:latin typeface="Cambria Math" panose="02040503050406030204" pitchFamily="18" charset="0"/>
                              <a:ea typeface="Calibri" panose="020F0502020204030204" pitchFamily="34" charset="0"/>
                              <a:cs typeface="Times New Roman" panose="02020603050405020304" pitchFamily="18" charset="0"/>
                            </a:rPr>
                            <m:t>h</m:t>
                          </m:r>
                          <m:r>
                            <a:rPr lang="en-US" i="1">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libri" panose="020F0502020204030204" pitchFamily="34" charset="0"/>
                                  <a:cs typeface="Times New Roman" panose="02020603050405020304" pitchFamily="18" charset="0"/>
                                </a:rPr>
                                <m:t>𝑤</m:t>
                              </m:r>
                            </m:e>
                            <m:sub>
                              <m:r>
                                <a:rPr lang="en-US" i="1">
                                  <a:latin typeface="Cambria Math" panose="02040503050406030204" pitchFamily="18" charset="0"/>
                                  <a:ea typeface="Calibri" panose="020F0502020204030204" pitchFamily="34" charset="0"/>
                                  <a:cs typeface="Times New Roman" panose="02020603050405020304" pitchFamily="18" charset="0"/>
                                </a:rPr>
                                <m:t>𝑖</m:t>
                              </m:r>
                            </m:sub>
                          </m:sSub>
                          <m:r>
                            <a:rPr lang="en-US" i="1">
                              <a:latin typeface="Cambria Math" panose="02040503050406030204" pitchFamily="18" charset="0"/>
                              <a:ea typeface="Calibri" panose="020F0502020204030204" pitchFamily="34" charset="0"/>
                              <a:cs typeface="Times New Roman" panose="02020603050405020304" pitchFamily="18" charset="0"/>
                            </a:rPr>
                            <m:t>)</m:t>
                          </m:r>
                        </m:num>
                        <m:den>
                          <m:r>
                            <a:rPr lang="en-US" i="1">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libri" panose="020F0502020204030204" pitchFamily="34" charset="0"/>
                                  <a:cs typeface="Times New Roman" panose="02020603050405020304" pitchFamily="18" charset="0"/>
                                </a:rPr>
                                <m:t>𝑤</m:t>
                              </m:r>
                            </m:e>
                            <m:sub>
                              <m:r>
                                <a:rPr lang="en-US" i="1">
                                  <a:latin typeface="Cambria Math" panose="02040503050406030204" pitchFamily="18" charset="0"/>
                                  <a:ea typeface="Calibri" panose="020F0502020204030204" pitchFamily="34" charset="0"/>
                                  <a:cs typeface="Times New Roman" panose="02020603050405020304" pitchFamily="18" charset="0"/>
                                </a:rPr>
                                <m:t>𝑖</m:t>
                              </m:r>
                            </m:sub>
                          </m:sSub>
                        </m:den>
                      </m:f>
                    </m:oMath>
                  </m:oMathPara>
                </a14:m>
                <a:endParaRPr lang="en-US" dirty="0"/>
              </a:p>
            </p:txBody>
          </p:sp>
        </mc:Choice>
        <mc:Fallback xmlns="">
          <p:sp>
            <p:nvSpPr>
              <p:cNvPr id="7" name="Rectangle 6">
                <a:extLst>
                  <a:ext uri="{FF2B5EF4-FFF2-40B4-BE49-F238E27FC236}">
                    <a16:creationId xmlns:a16="http://schemas.microsoft.com/office/drawing/2014/main" id="{719573EF-5966-49F0-B94E-5476ADDFB9E9}"/>
                  </a:ext>
                </a:extLst>
              </p:cNvPr>
              <p:cNvSpPr>
                <a:spLocks noRot="1" noChangeAspect="1" noMove="1" noResize="1" noEditPoints="1" noAdjustHandles="1" noChangeArrowheads="1" noChangeShapeType="1" noTextEdit="1"/>
              </p:cNvSpPr>
              <p:nvPr/>
            </p:nvSpPr>
            <p:spPr>
              <a:xfrm>
                <a:off x="7424728" y="2538909"/>
                <a:ext cx="2239331" cy="666786"/>
              </a:xfrm>
              <a:prstGeom prst="rect">
                <a:avLst/>
              </a:prstGeom>
              <a:blipFill>
                <a:blip r:embed="rId4"/>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CEF043A1-D195-4088-ACEB-3009010FE2AC}"/>
              </a:ext>
            </a:extLst>
          </p:cNvPr>
          <p:cNvSpPr txBox="1"/>
          <p:nvPr/>
        </p:nvSpPr>
        <p:spPr>
          <a:xfrm>
            <a:off x="838200" y="4536036"/>
            <a:ext cx="4178387" cy="369332"/>
          </a:xfrm>
          <a:prstGeom prst="rect">
            <a:avLst/>
          </a:prstGeom>
          <a:noFill/>
        </p:spPr>
        <p:txBody>
          <a:bodyPr wrap="none" rtlCol="0">
            <a:spAutoFit/>
          </a:bodyPr>
          <a:lstStyle/>
          <a:p>
            <a:pPr algn="ctr"/>
            <a:r>
              <a:rPr lang="en-US" dirty="0"/>
              <a:t>Visualizing the gradient descent algorithm </a:t>
            </a:r>
          </a:p>
        </p:txBody>
      </p:sp>
    </p:spTree>
    <p:extLst>
      <p:ext uri="{BB962C8B-B14F-4D97-AF65-F5344CB8AC3E}">
        <p14:creationId xmlns:p14="http://schemas.microsoft.com/office/powerpoint/2010/main" val="26215522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B895B-5164-479C-AA1D-61F9148B68A7}"/>
              </a:ext>
            </a:extLst>
          </p:cNvPr>
          <p:cNvSpPr>
            <a:spLocks noGrp="1"/>
          </p:cNvSpPr>
          <p:nvPr>
            <p:ph type="title"/>
          </p:nvPr>
        </p:nvSpPr>
        <p:spPr/>
        <p:txBody>
          <a:bodyPr/>
          <a:lstStyle/>
          <a:p>
            <a:pPr algn="ctr"/>
            <a:r>
              <a:rPr lang="en-US" dirty="0"/>
              <a:t>Gradient Descent </a:t>
            </a:r>
          </a:p>
        </p:txBody>
      </p:sp>
      <p:sp>
        <p:nvSpPr>
          <p:cNvPr id="3" name="Content Placeholder 2">
            <a:extLst>
              <a:ext uri="{FF2B5EF4-FFF2-40B4-BE49-F238E27FC236}">
                <a16:creationId xmlns:a16="http://schemas.microsoft.com/office/drawing/2014/main" id="{8228C3A0-F832-467C-9AA9-E8C69EDD7385}"/>
              </a:ext>
            </a:extLst>
          </p:cNvPr>
          <p:cNvSpPr>
            <a:spLocks noGrp="1"/>
          </p:cNvSpPr>
          <p:nvPr>
            <p:ph idx="1"/>
          </p:nvPr>
        </p:nvSpPr>
        <p:spPr/>
        <p:txBody>
          <a:bodyPr>
            <a:normAutofit/>
          </a:bodyPr>
          <a:lstStyle/>
          <a:p>
            <a:r>
              <a:rPr lang="en-US" sz="2000" dirty="0"/>
              <a:t>Modern implementations of gradient descent make use of extensions of the gradient descent algorithm grouped under the umbrella term Stochastic Gradient Descent (SGD). </a:t>
            </a:r>
          </a:p>
          <a:p>
            <a:r>
              <a:rPr lang="en-US" sz="2000" i="1" dirty="0"/>
              <a:t>Stochastic</a:t>
            </a:r>
            <a:r>
              <a:rPr lang="en-US" sz="2000" dirty="0"/>
              <a:t> because samples from the dataset are selected randomly as opposed to the standard gradient descent algorithm where samples are selected in-order. </a:t>
            </a:r>
          </a:p>
          <a:p>
            <a:pPr marL="0" indent="0">
              <a:buNone/>
            </a:pPr>
            <a:r>
              <a:rPr lang="en-US" sz="2000" dirty="0"/>
              <a:t>This stochastic sampling has shown to improve the optimization procedure and thus find a much preferable minimum for the cost function. Variants of the SGD include;</a:t>
            </a:r>
          </a:p>
          <a:p>
            <a:r>
              <a:rPr lang="en-US" sz="2000" dirty="0"/>
              <a:t>Adaptive Moment Estimation (ADAM)</a:t>
            </a:r>
          </a:p>
          <a:p>
            <a:r>
              <a:rPr lang="en-US" sz="2000" dirty="0"/>
              <a:t>Adaptive Gradient (</a:t>
            </a:r>
            <a:r>
              <a:rPr lang="en-US" sz="2000" dirty="0" err="1"/>
              <a:t>AdaGrad</a:t>
            </a:r>
            <a:r>
              <a:rPr lang="en-US" sz="2000" dirty="0"/>
              <a:t>)</a:t>
            </a:r>
          </a:p>
          <a:p>
            <a:r>
              <a:rPr lang="en-US" sz="2000" dirty="0"/>
              <a:t>Root Mean Squared Propagation (</a:t>
            </a:r>
            <a:r>
              <a:rPr lang="en-US" sz="2000" dirty="0" err="1"/>
              <a:t>RMSProp</a:t>
            </a:r>
            <a:r>
              <a:rPr lang="en-US" sz="2000" dirty="0"/>
              <a:t>)</a:t>
            </a:r>
          </a:p>
          <a:p>
            <a:endParaRPr lang="en-US" sz="2000" dirty="0"/>
          </a:p>
          <a:p>
            <a:pPr marL="0" indent="0">
              <a:buNone/>
            </a:pPr>
            <a:endParaRPr lang="en-US" sz="2000" dirty="0"/>
          </a:p>
        </p:txBody>
      </p:sp>
    </p:spTree>
    <p:extLst>
      <p:ext uri="{BB962C8B-B14F-4D97-AF65-F5344CB8AC3E}">
        <p14:creationId xmlns:p14="http://schemas.microsoft.com/office/powerpoint/2010/main" val="40155080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1401B2-B6A2-40BB-846C-7EE9F5167146}"/>
              </a:ext>
            </a:extLst>
          </p:cNvPr>
          <p:cNvSpPr>
            <a:spLocks noGrp="1"/>
          </p:cNvSpPr>
          <p:nvPr>
            <p:ph type="title"/>
          </p:nvPr>
        </p:nvSpPr>
        <p:spPr/>
        <p:txBody>
          <a:bodyPr/>
          <a:lstStyle/>
          <a:p>
            <a:pPr algn="ctr"/>
            <a:r>
              <a:rPr lang="en-US" dirty="0"/>
              <a:t>How do Neural Networks learn?</a:t>
            </a:r>
            <a:br>
              <a:rPr lang="en-US" dirty="0"/>
            </a:br>
            <a:r>
              <a:rPr lang="en-US" i="1" dirty="0"/>
              <a:t>Revisited</a:t>
            </a:r>
          </a:p>
        </p:txBody>
      </p:sp>
      <p:sp>
        <p:nvSpPr>
          <p:cNvPr id="6" name="Text Placeholder 5">
            <a:extLst>
              <a:ext uri="{FF2B5EF4-FFF2-40B4-BE49-F238E27FC236}">
                <a16:creationId xmlns:a16="http://schemas.microsoft.com/office/drawing/2014/main" id="{9A29E008-B26D-4DC8-A0BF-A9B903E5B5F3}"/>
              </a:ext>
            </a:extLst>
          </p:cNvPr>
          <p:cNvSpPr>
            <a:spLocks noGrp="1"/>
          </p:cNvSpPr>
          <p:nvPr>
            <p:ph type="body" idx="1"/>
          </p:nvPr>
        </p:nvSpPr>
        <p:spPr/>
        <p:txBody>
          <a:bodyPr>
            <a:normAutofit lnSpcReduction="10000"/>
          </a:bodyPr>
          <a:lstStyle/>
          <a:p>
            <a:r>
              <a:rPr lang="en-US" dirty="0"/>
              <a:t> Feedforwarding propagation </a:t>
            </a:r>
          </a:p>
        </p:txBody>
      </p:sp>
      <p:sp>
        <p:nvSpPr>
          <p:cNvPr id="7" name="Content Placeholder 6">
            <a:extLst>
              <a:ext uri="{FF2B5EF4-FFF2-40B4-BE49-F238E27FC236}">
                <a16:creationId xmlns:a16="http://schemas.microsoft.com/office/drawing/2014/main" id="{008EDCF3-E22B-4110-B042-B1708FDA0283}"/>
              </a:ext>
            </a:extLst>
          </p:cNvPr>
          <p:cNvSpPr>
            <a:spLocks noGrp="1"/>
          </p:cNvSpPr>
          <p:nvPr>
            <p:ph sz="half" idx="2"/>
          </p:nvPr>
        </p:nvSpPr>
        <p:spPr/>
        <p:txBody>
          <a:bodyPr>
            <a:normAutofit/>
          </a:bodyPr>
          <a:lstStyle/>
          <a:p>
            <a:r>
              <a:rPr lang="en-US" sz="2000" dirty="0"/>
              <a:t>Take input vector </a:t>
            </a:r>
          </a:p>
          <a:p>
            <a:r>
              <a:rPr lang="en-US" sz="2000" dirty="0"/>
              <a:t>Calculate the output from each node in each layer.</a:t>
            </a:r>
          </a:p>
          <a:p>
            <a:r>
              <a:rPr lang="en-US" sz="2000" dirty="0"/>
              <a:t>Compare the difference between the estimated output of the neural network and the desired output. The difference is known as the error.</a:t>
            </a:r>
          </a:p>
          <a:p>
            <a:r>
              <a:rPr lang="en-US" sz="2000" dirty="0"/>
              <a:t>Calculate this error using a cost function.</a:t>
            </a:r>
          </a:p>
        </p:txBody>
      </p:sp>
      <p:sp>
        <p:nvSpPr>
          <p:cNvPr id="8" name="Text Placeholder 7">
            <a:extLst>
              <a:ext uri="{FF2B5EF4-FFF2-40B4-BE49-F238E27FC236}">
                <a16:creationId xmlns:a16="http://schemas.microsoft.com/office/drawing/2014/main" id="{4289EDD3-B3F1-4618-BD1C-63FEA2221497}"/>
              </a:ext>
            </a:extLst>
          </p:cNvPr>
          <p:cNvSpPr>
            <a:spLocks noGrp="1"/>
          </p:cNvSpPr>
          <p:nvPr>
            <p:ph type="body" sz="quarter" idx="3"/>
          </p:nvPr>
        </p:nvSpPr>
        <p:spPr/>
        <p:txBody>
          <a:bodyPr>
            <a:normAutofit lnSpcReduction="10000"/>
          </a:bodyPr>
          <a:lstStyle/>
          <a:p>
            <a:pPr algn="ctr"/>
            <a:r>
              <a:rPr lang="en-US" dirty="0"/>
              <a:t>Backward propagation</a:t>
            </a:r>
          </a:p>
          <a:p>
            <a:pPr algn="ctr"/>
            <a:r>
              <a:rPr lang="en-US" dirty="0"/>
              <a:t>(Backpropagation)</a:t>
            </a:r>
          </a:p>
        </p:txBody>
      </p:sp>
      <p:sp>
        <p:nvSpPr>
          <p:cNvPr id="9" name="Content Placeholder 8">
            <a:extLst>
              <a:ext uri="{FF2B5EF4-FFF2-40B4-BE49-F238E27FC236}">
                <a16:creationId xmlns:a16="http://schemas.microsoft.com/office/drawing/2014/main" id="{3DAB44DD-92A6-4B38-AD6E-5411241F5D70}"/>
              </a:ext>
            </a:extLst>
          </p:cNvPr>
          <p:cNvSpPr>
            <a:spLocks noGrp="1"/>
          </p:cNvSpPr>
          <p:nvPr>
            <p:ph sz="quarter" idx="4"/>
          </p:nvPr>
        </p:nvSpPr>
        <p:spPr/>
        <p:txBody>
          <a:bodyPr>
            <a:normAutofit/>
          </a:bodyPr>
          <a:lstStyle/>
          <a:p>
            <a:r>
              <a:rPr lang="en-US" sz="2000" dirty="0"/>
              <a:t>Back-propagate the calculated error by estimating the gradient of each node in the neural network, from the output layer down to the first hidden layer;</a:t>
            </a:r>
          </a:p>
          <a:p>
            <a:r>
              <a:rPr lang="en-US" sz="2000" dirty="0"/>
              <a:t>Using an optimization algorithm, update the weights of the neural network so as to minimize the error in the next feedforward processing.</a:t>
            </a:r>
          </a:p>
        </p:txBody>
      </p:sp>
    </p:spTree>
    <p:extLst>
      <p:ext uri="{BB962C8B-B14F-4D97-AF65-F5344CB8AC3E}">
        <p14:creationId xmlns:p14="http://schemas.microsoft.com/office/powerpoint/2010/main" val="38993468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0D864-602A-424B-9ADC-D0A95B98EB27}"/>
              </a:ext>
            </a:extLst>
          </p:cNvPr>
          <p:cNvSpPr>
            <a:spLocks noGrp="1"/>
          </p:cNvSpPr>
          <p:nvPr>
            <p:ph type="title"/>
          </p:nvPr>
        </p:nvSpPr>
        <p:spPr/>
        <p:txBody>
          <a:bodyPr/>
          <a:lstStyle/>
          <a:p>
            <a:pPr algn="ctr"/>
            <a:r>
              <a:rPr lang="en-US" dirty="0"/>
              <a:t>Modern practices in deep learning</a:t>
            </a:r>
          </a:p>
        </p:txBody>
      </p:sp>
      <p:sp>
        <p:nvSpPr>
          <p:cNvPr id="3" name="Content Placeholder 2">
            <a:extLst>
              <a:ext uri="{FF2B5EF4-FFF2-40B4-BE49-F238E27FC236}">
                <a16:creationId xmlns:a16="http://schemas.microsoft.com/office/drawing/2014/main" id="{1FD810FE-A7EA-4D4C-B494-4DA4F542287C}"/>
              </a:ext>
            </a:extLst>
          </p:cNvPr>
          <p:cNvSpPr>
            <a:spLocks noGrp="1"/>
          </p:cNvSpPr>
          <p:nvPr>
            <p:ph idx="1"/>
          </p:nvPr>
        </p:nvSpPr>
        <p:spPr/>
        <p:txBody>
          <a:bodyPr>
            <a:normAutofit/>
          </a:bodyPr>
          <a:lstStyle/>
          <a:p>
            <a:pPr marL="0" indent="0">
              <a:buNone/>
            </a:pPr>
            <a:r>
              <a:rPr lang="en-US" sz="2000" dirty="0"/>
              <a:t>Let us briefly define some important practices essential to the success of modern implementations of large scale deep learning models; </a:t>
            </a:r>
          </a:p>
          <a:p>
            <a:r>
              <a:rPr lang="en-US" sz="2000" b="1" dirty="0"/>
              <a:t>Regularization</a:t>
            </a:r>
            <a:r>
              <a:rPr lang="en-US" sz="2000" dirty="0"/>
              <a:t>: any modification we make to the learning algorithm that is intended to reduce the generalization error, but not its training error (Goodfellow et al 2016 p 228). </a:t>
            </a:r>
          </a:p>
          <a:p>
            <a:r>
              <a:rPr lang="en-US" sz="2000" dirty="0"/>
              <a:t>Example of a regularization technique is </a:t>
            </a:r>
            <a:r>
              <a:rPr lang="en-US" sz="2000" b="1" i="1" dirty="0"/>
              <a:t>dropout</a:t>
            </a:r>
            <a:r>
              <a:rPr lang="en-US" sz="2000" i="1" dirty="0"/>
              <a:t>, </a:t>
            </a:r>
            <a:r>
              <a:rPr lang="en-US" sz="2000" dirty="0"/>
              <a:t>where we randomly remove some nodes in the network along with all of their incoming and outgoing connections. Helps, with reducing overfitting.</a:t>
            </a:r>
          </a:p>
          <a:p>
            <a:r>
              <a:rPr lang="en-US" sz="2000" b="1" dirty="0"/>
              <a:t>Batch normalization</a:t>
            </a:r>
            <a:r>
              <a:rPr lang="en-US" sz="2000" dirty="0"/>
              <a:t>:  To increase the stability of a neural network, batch normalization normalizes the output of a previous activation layer by subtracting the batch mean and dividing by the batch standard deviation.</a:t>
            </a:r>
          </a:p>
          <a:p>
            <a:pPr marL="0" indent="0">
              <a:buNone/>
            </a:pPr>
            <a:endParaRPr lang="en-US" sz="2000" dirty="0"/>
          </a:p>
        </p:txBody>
      </p:sp>
    </p:spTree>
    <p:extLst>
      <p:ext uri="{BB962C8B-B14F-4D97-AF65-F5344CB8AC3E}">
        <p14:creationId xmlns:p14="http://schemas.microsoft.com/office/powerpoint/2010/main" val="492509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77A24-FA3A-4452-BC67-5DAD46CC2A8B}"/>
              </a:ext>
            </a:extLst>
          </p:cNvPr>
          <p:cNvSpPr>
            <a:spLocks noGrp="1"/>
          </p:cNvSpPr>
          <p:nvPr>
            <p:ph type="title"/>
          </p:nvPr>
        </p:nvSpPr>
        <p:spPr/>
        <p:txBody>
          <a:bodyPr>
            <a:normAutofit/>
          </a:bodyPr>
          <a:lstStyle/>
          <a:p>
            <a:pPr algn="ctr"/>
            <a:r>
              <a:rPr lang="en-US" dirty="0"/>
              <a:t>Deep learning and hardware requirements</a:t>
            </a:r>
          </a:p>
        </p:txBody>
      </p:sp>
      <p:sp>
        <p:nvSpPr>
          <p:cNvPr id="3" name="Content Placeholder 2">
            <a:extLst>
              <a:ext uri="{FF2B5EF4-FFF2-40B4-BE49-F238E27FC236}">
                <a16:creationId xmlns:a16="http://schemas.microsoft.com/office/drawing/2014/main" id="{FDFA5045-E22F-4FE4-B8C5-EC3A12BA54FC}"/>
              </a:ext>
            </a:extLst>
          </p:cNvPr>
          <p:cNvSpPr>
            <a:spLocks noGrp="1"/>
          </p:cNvSpPr>
          <p:nvPr>
            <p:ph idx="1"/>
          </p:nvPr>
        </p:nvSpPr>
        <p:spPr>
          <a:xfrm>
            <a:off x="838200" y="1825625"/>
            <a:ext cx="10515600" cy="4351338"/>
          </a:xfrm>
        </p:spPr>
        <p:txBody>
          <a:bodyPr>
            <a:normAutofit/>
          </a:bodyPr>
          <a:lstStyle/>
          <a:p>
            <a:r>
              <a:rPr lang="en-US" sz="2000" dirty="0"/>
              <a:t>Training large scale deep learning models takes time, and therefore requires expensive hardware resources; </a:t>
            </a:r>
          </a:p>
          <a:p>
            <a:pPr marL="0" indent="0">
              <a:buNone/>
            </a:pPr>
            <a:endParaRPr lang="en-US" sz="2000" dirty="0"/>
          </a:p>
        </p:txBody>
      </p:sp>
      <p:pic>
        <p:nvPicPr>
          <p:cNvPr id="5" name="Picture 4">
            <a:extLst>
              <a:ext uri="{FF2B5EF4-FFF2-40B4-BE49-F238E27FC236}">
                <a16:creationId xmlns:a16="http://schemas.microsoft.com/office/drawing/2014/main" id="{F840E87C-90AF-4F0A-9DD7-75E7AA20E5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9571" y="2839543"/>
            <a:ext cx="2857500" cy="2647950"/>
          </a:xfrm>
          <a:prstGeom prst="rect">
            <a:avLst/>
          </a:prstGeom>
        </p:spPr>
      </p:pic>
      <p:pic>
        <p:nvPicPr>
          <p:cNvPr id="18" name="Picture 17">
            <a:extLst>
              <a:ext uri="{FF2B5EF4-FFF2-40B4-BE49-F238E27FC236}">
                <a16:creationId xmlns:a16="http://schemas.microsoft.com/office/drawing/2014/main" id="{C47D1DA1-2963-4984-81D8-C25875630C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66063" y="4343400"/>
            <a:ext cx="2857500" cy="1600200"/>
          </a:xfrm>
          <a:prstGeom prst="rect">
            <a:avLst/>
          </a:prstGeom>
        </p:spPr>
      </p:pic>
      <p:pic>
        <p:nvPicPr>
          <p:cNvPr id="20" name="Picture 19">
            <a:extLst>
              <a:ext uri="{FF2B5EF4-FFF2-40B4-BE49-F238E27FC236}">
                <a16:creationId xmlns:a16="http://schemas.microsoft.com/office/drawing/2014/main" id="{A0004B74-2535-4B1D-97A5-D008161777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80403" y="3770029"/>
            <a:ext cx="1940914" cy="1164548"/>
          </a:xfrm>
          <a:prstGeom prst="rect">
            <a:avLst/>
          </a:prstGeom>
        </p:spPr>
      </p:pic>
      <p:pic>
        <p:nvPicPr>
          <p:cNvPr id="22" name="Picture 21">
            <a:extLst>
              <a:ext uri="{FF2B5EF4-FFF2-40B4-BE49-F238E27FC236}">
                <a16:creationId xmlns:a16="http://schemas.microsoft.com/office/drawing/2014/main" id="{597221E0-F8ED-4446-9F60-15162E4E10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34419" y="3216106"/>
            <a:ext cx="3089144" cy="476085"/>
          </a:xfrm>
          <a:prstGeom prst="rect">
            <a:avLst/>
          </a:prstGeom>
        </p:spPr>
      </p:pic>
      <p:sp>
        <p:nvSpPr>
          <p:cNvPr id="23" name="TextBox 22">
            <a:extLst>
              <a:ext uri="{FF2B5EF4-FFF2-40B4-BE49-F238E27FC236}">
                <a16:creationId xmlns:a16="http://schemas.microsoft.com/office/drawing/2014/main" id="{FE54A26C-EABA-4CCC-931F-4FB823AA9AFF}"/>
              </a:ext>
            </a:extLst>
          </p:cNvPr>
          <p:cNvSpPr txBox="1"/>
          <p:nvPr/>
        </p:nvSpPr>
        <p:spPr>
          <a:xfrm>
            <a:off x="270687" y="5337066"/>
            <a:ext cx="4916987" cy="923330"/>
          </a:xfrm>
          <a:prstGeom prst="rect">
            <a:avLst/>
          </a:prstGeom>
          <a:noFill/>
        </p:spPr>
        <p:txBody>
          <a:bodyPr wrap="none" rtlCol="0">
            <a:spAutoFit/>
          </a:bodyPr>
          <a:lstStyle/>
          <a:p>
            <a:pPr algn="ctr"/>
            <a:r>
              <a:rPr lang="en-US" dirty="0"/>
              <a:t>Parallel processing with Graphical Processing Units</a:t>
            </a:r>
          </a:p>
          <a:p>
            <a:pPr algn="ctr"/>
            <a:r>
              <a:rPr lang="en-US" dirty="0"/>
              <a:t>enables training of very large DNNs. </a:t>
            </a:r>
          </a:p>
          <a:p>
            <a:pPr algn="ctr"/>
            <a:r>
              <a:rPr lang="en-US" dirty="0"/>
              <a:t>However, buying GPU hardware is expensive.</a:t>
            </a:r>
          </a:p>
        </p:txBody>
      </p:sp>
      <p:sp>
        <p:nvSpPr>
          <p:cNvPr id="24" name="TextBox 23">
            <a:extLst>
              <a:ext uri="{FF2B5EF4-FFF2-40B4-BE49-F238E27FC236}">
                <a16:creationId xmlns:a16="http://schemas.microsoft.com/office/drawing/2014/main" id="{4882FDAF-B80B-46D3-8267-B6CD3E5BE1D3}"/>
              </a:ext>
            </a:extLst>
          </p:cNvPr>
          <p:cNvSpPr txBox="1"/>
          <p:nvPr/>
        </p:nvSpPr>
        <p:spPr>
          <a:xfrm>
            <a:off x="7478673" y="5507948"/>
            <a:ext cx="3968329" cy="646331"/>
          </a:xfrm>
          <a:prstGeom prst="rect">
            <a:avLst/>
          </a:prstGeom>
          <a:noFill/>
        </p:spPr>
        <p:txBody>
          <a:bodyPr wrap="none" rtlCol="0">
            <a:spAutoFit/>
          </a:bodyPr>
          <a:lstStyle/>
          <a:p>
            <a:pPr algn="ctr"/>
            <a:r>
              <a:rPr lang="en-US" dirty="0"/>
              <a:t>Cloud machine learning services provide</a:t>
            </a:r>
          </a:p>
          <a:p>
            <a:pPr algn="ctr"/>
            <a:r>
              <a:rPr lang="en-US" dirty="0"/>
              <a:t> affordable compute power </a:t>
            </a:r>
          </a:p>
        </p:txBody>
      </p:sp>
    </p:spTree>
    <p:extLst>
      <p:ext uri="{BB962C8B-B14F-4D97-AF65-F5344CB8AC3E}">
        <p14:creationId xmlns:p14="http://schemas.microsoft.com/office/powerpoint/2010/main" val="41856138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7DE5A-9485-43EE-BC09-D570B9AABFF1}"/>
              </a:ext>
            </a:extLst>
          </p:cNvPr>
          <p:cNvSpPr>
            <a:spLocks noGrp="1"/>
          </p:cNvSpPr>
          <p:nvPr>
            <p:ph type="title"/>
          </p:nvPr>
        </p:nvSpPr>
        <p:spPr/>
        <p:txBody>
          <a:bodyPr/>
          <a:lstStyle/>
          <a:p>
            <a:pPr algn="ctr"/>
            <a:r>
              <a:rPr lang="en-US" dirty="0"/>
              <a:t>Limitations of Deep learning </a:t>
            </a:r>
          </a:p>
        </p:txBody>
      </p:sp>
      <p:sp>
        <p:nvSpPr>
          <p:cNvPr id="3" name="Content Placeholder 2">
            <a:extLst>
              <a:ext uri="{FF2B5EF4-FFF2-40B4-BE49-F238E27FC236}">
                <a16:creationId xmlns:a16="http://schemas.microsoft.com/office/drawing/2014/main" id="{7243F943-4527-4B6C-B0CE-71395CA6B9F8}"/>
              </a:ext>
            </a:extLst>
          </p:cNvPr>
          <p:cNvSpPr>
            <a:spLocks noGrp="1"/>
          </p:cNvSpPr>
          <p:nvPr>
            <p:ph sz="half" idx="1"/>
          </p:nvPr>
        </p:nvSpPr>
        <p:spPr/>
        <p:txBody>
          <a:bodyPr>
            <a:normAutofit/>
          </a:bodyPr>
          <a:lstStyle/>
          <a:p>
            <a:r>
              <a:rPr lang="en-US" sz="2000" dirty="0"/>
              <a:t>Deep neural networks map an input space to an output space and are therefore sensitive to changes in the input data</a:t>
            </a:r>
          </a:p>
          <a:p>
            <a:r>
              <a:rPr lang="en-US" sz="2000" dirty="0"/>
              <a:t>Adversarial systems can take advantage of modifications in the input data to fool deep neural networks</a:t>
            </a:r>
          </a:p>
          <a:p>
            <a:r>
              <a:rPr lang="en-US" sz="2000" dirty="0"/>
              <a:t> The high reliance on data, annotated or otherwise restricts the deep neural networks ability to generalize</a:t>
            </a:r>
          </a:p>
          <a:p>
            <a:r>
              <a:rPr lang="en-US" sz="2000" dirty="0"/>
              <a:t>Deep neural networks lack any abstract “thinking” or “reasoning” models and perform poorly on tasks that require reasoning and strategic planning. </a:t>
            </a:r>
          </a:p>
        </p:txBody>
      </p:sp>
      <p:pic>
        <p:nvPicPr>
          <p:cNvPr id="6" name="Content Placeholder 5">
            <a:extLst>
              <a:ext uri="{FF2B5EF4-FFF2-40B4-BE49-F238E27FC236}">
                <a16:creationId xmlns:a16="http://schemas.microsoft.com/office/drawing/2014/main" id="{F9B1FBB6-2D81-4B6D-ABE9-68F35B2EDDB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021923"/>
            <a:ext cx="5181600" cy="3958742"/>
          </a:xfrm>
        </p:spPr>
      </p:pic>
      <p:sp>
        <p:nvSpPr>
          <p:cNvPr id="7" name="TextBox 6">
            <a:extLst>
              <a:ext uri="{FF2B5EF4-FFF2-40B4-BE49-F238E27FC236}">
                <a16:creationId xmlns:a16="http://schemas.microsoft.com/office/drawing/2014/main" id="{50ECC341-BBA1-4A18-9A70-26F0948ACAC9}"/>
              </a:ext>
            </a:extLst>
          </p:cNvPr>
          <p:cNvSpPr txBox="1"/>
          <p:nvPr/>
        </p:nvSpPr>
        <p:spPr>
          <a:xfrm>
            <a:off x="6969431" y="5980665"/>
            <a:ext cx="3771994" cy="646331"/>
          </a:xfrm>
          <a:prstGeom prst="rect">
            <a:avLst/>
          </a:prstGeom>
          <a:noFill/>
        </p:spPr>
        <p:txBody>
          <a:bodyPr wrap="none" rtlCol="0">
            <a:spAutoFit/>
          </a:bodyPr>
          <a:lstStyle/>
          <a:p>
            <a:pPr algn="ctr"/>
            <a:r>
              <a:rPr lang="en-US" dirty="0"/>
              <a:t>An example of an image caption error</a:t>
            </a:r>
          </a:p>
          <a:p>
            <a:pPr algn="ctr"/>
            <a:r>
              <a:rPr lang="en-US" dirty="0"/>
              <a:t>Image Source: </a:t>
            </a:r>
            <a:r>
              <a:rPr lang="en-US" dirty="0">
                <a:hlinkClick r:id="rId3"/>
              </a:rPr>
              <a:t>Keras blog</a:t>
            </a:r>
            <a:endParaRPr lang="en-US" dirty="0"/>
          </a:p>
        </p:txBody>
      </p:sp>
    </p:spTree>
    <p:extLst>
      <p:ext uri="{BB962C8B-B14F-4D97-AF65-F5344CB8AC3E}">
        <p14:creationId xmlns:p14="http://schemas.microsoft.com/office/powerpoint/2010/main" val="10589171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51C5D-C906-43D4-97F1-EB2B58B1CE84}"/>
              </a:ext>
            </a:extLst>
          </p:cNvPr>
          <p:cNvSpPr>
            <a:spLocks noGrp="1"/>
          </p:cNvSpPr>
          <p:nvPr>
            <p:ph type="title"/>
          </p:nvPr>
        </p:nvSpPr>
        <p:spPr/>
        <p:txBody>
          <a:bodyPr/>
          <a:lstStyle/>
          <a:p>
            <a:pPr algn="ctr"/>
            <a:r>
              <a:rPr lang="en-US" dirty="0"/>
              <a:t>Theory Session Recap</a:t>
            </a:r>
          </a:p>
        </p:txBody>
      </p:sp>
      <p:sp>
        <p:nvSpPr>
          <p:cNvPr id="3" name="Content Placeholder 2">
            <a:extLst>
              <a:ext uri="{FF2B5EF4-FFF2-40B4-BE49-F238E27FC236}">
                <a16:creationId xmlns:a16="http://schemas.microsoft.com/office/drawing/2014/main" id="{0D0164FD-0EF3-46A2-94EE-EB389C382625}"/>
              </a:ext>
            </a:extLst>
          </p:cNvPr>
          <p:cNvSpPr>
            <a:spLocks noGrp="1"/>
          </p:cNvSpPr>
          <p:nvPr>
            <p:ph idx="1"/>
          </p:nvPr>
        </p:nvSpPr>
        <p:spPr/>
        <p:txBody>
          <a:bodyPr>
            <a:normAutofit lnSpcReduction="10000"/>
          </a:bodyPr>
          <a:lstStyle/>
          <a:p>
            <a:r>
              <a:rPr lang="en-US" sz="2000" dirty="0"/>
              <a:t>The strength of Deep learning models is that they are capable of learning extremely complex and abstract data representation. </a:t>
            </a:r>
          </a:p>
          <a:p>
            <a:r>
              <a:rPr lang="en-US" sz="2000" dirty="0"/>
              <a:t>The architecture of a deep learning model concerns the number of layers in the model, the number of computational units (nodes), activation functions and cost functions. </a:t>
            </a:r>
          </a:p>
          <a:p>
            <a:r>
              <a:rPr lang="en-US" sz="2000" dirty="0"/>
              <a:t>The backpropagation algorithm is the primary training algorithm for deep neural networks.</a:t>
            </a:r>
          </a:p>
          <a:p>
            <a:r>
              <a:rPr lang="en-US" sz="2000" dirty="0"/>
              <a:t>Stochastic gradient descent is the primary optimization algorithm used to update the parameters of deep neural network</a:t>
            </a:r>
          </a:p>
          <a:p>
            <a:r>
              <a:rPr lang="en-US" sz="2000" dirty="0"/>
              <a:t>The success of modern deep learning implementations can be attributed to the availability of large datasets, powerful computing hardware, modern optimization algorithms and hyperparameter tuning techniques. </a:t>
            </a:r>
          </a:p>
          <a:p>
            <a:r>
              <a:rPr lang="en-US" sz="2000" dirty="0"/>
              <a:t>Deep learning models have achieved the state-of-the-art in image classification, speech recognition and mobile robotics.</a:t>
            </a:r>
          </a:p>
          <a:p>
            <a:r>
              <a:rPr lang="en-US" sz="2000" dirty="0"/>
              <a:t>Deep learning has its limitations which include, weak generalization and poor performance in reasoning and planning tasks.</a:t>
            </a:r>
          </a:p>
        </p:txBody>
      </p:sp>
    </p:spTree>
    <p:extLst>
      <p:ext uri="{BB962C8B-B14F-4D97-AF65-F5344CB8AC3E}">
        <p14:creationId xmlns:p14="http://schemas.microsoft.com/office/powerpoint/2010/main" val="33180885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61526-AC1C-4B42-8C71-57BDFDDC941A}"/>
              </a:ext>
            </a:extLst>
          </p:cNvPr>
          <p:cNvSpPr>
            <a:spLocks noGrp="1"/>
          </p:cNvSpPr>
          <p:nvPr>
            <p:ph type="title"/>
          </p:nvPr>
        </p:nvSpPr>
        <p:spPr/>
        <p:txBody>
          <a:bodyPr/>
          <a:lstStyle/>
          <a:p>
            <a:pPr algn="ctr"/>
            <a:r>
              <a:rPr lang="en-US" dirty="0"/>
              <a:t>Further reading </a:t>
            </a:r>
          </a:p>
        </p:txBody>
      </p:sp>
      <p:sp>
        <p:nvSpPr>
          <p:cNvPr id="3" name="Content Placeholder 2">
            <a:extLst>
              <a:ext uri="{FF2B5EF4-FFF2-40B4-BE49-F238E27FC236}">
                <a16:creationId xmlns:a16="http://schemas.microsoft.com/office/drawing/2014/main" id="{8B7F6373-A0CD-437F-899E-C0367ED7D073}"/>
              </a:ext>
            </a:extLst>
          </p:cNvPr>
          <p:cNvSpPr>
            <a:spLocks noGrp="1"/>
          </p:cNvSpPr>
          <p:nvPr>
            <p:ph idx="1"/>
          </p:nvPr>
        </p:nvSpPr>
        <p:spPr/>
        <p:txBody>
          <a:bodyPr>
            <a:normAutofit/>
          </a:bodyPr>
          <a:lstStyle/>
          <a:p>
            <a:r>
              <a:rPr lang="en-US" sz="2000" dirty="0"/>
              <a:t>Russell, S.J. and </a:t>
            </a:r>
            <a:r>
              <a:rPr lang="en-US" sz="2000" dirty="0" err="1"/>
              <a:t>Norvig</a:t>
            </a:r>
            <a:r>
              <a:rPr lang="en-US" sz="2000" dirty="0"/>
              <a:t>, P., 2016. </a:t>
            </a:r>
            <a:r>
              <a:rPr lang="en-US" sz="2000" i="1" dirty="0"/>
              <a:t>Artificial intelligence: a modern approach</a:t>
            </a:r>
            <a:r>
              <a:rPr lang="en-US" sz="2000" dirty="0"/>
              <a:t>. Malaysia; Pearson Education Limited.</a:t>
            </a:r>
          </a:p>
          <a:p>
            <a:pPr marL="0" indent="0">
              <a:buNone/>
            </a:pPr>
            <a:endParaRPr lang="en-US" sz="2000" dirty="0"/>
          </a:p>
          <a:p>
            <a:r>
              <a:rPr lang="en-US" sz="2000" dirty="0"/>
              <a:t>Goodfellow, I., </a:t>
            </a:r>
            <a:r>
              <a:rPr lang="en-US" sz="2000" dirty="0" err="1"/>
              <a:t>Bengio</a:t>
            </a:r>
            <a:r>
              <a:rPr lang="en-US" sz="2000" dirty="0"/>
              <a:t>, Y., Courville, A. and </a:t>
            </a:r>
            <a:r>
              <a:rPr lang="en-US" sz="2000" dirty="0" err="1"/>
              <a:t>Bengio</a:t>
            </a:r>
            <a:r>
              <a:rPr lang="en-US" sz="2000" dirty="0"/>
              <a:t>, Y., 2016. </a:t>
            </a:r>
            <a:r>
              <a:rPr lang="en-US" sz="2000" i="1" dirty="0"/>
              <a:t>Deep learning</a:t>
            </a:r>
            <a:r>
              <a:rPr lang="en-US" sz="2000" dirty="0"/>
              <a:t> (Vol. 1). Cambridge: MIT press.</a:t>
            </a:r>
          </a:p>
          <a:p>
            <a:pPr marL="0" indent="0">
              <a:buNone/>
            </a:pPr>
            <a:endParaRPr lang="en-US" sz="2000" dirty="0"/>
          </a:p>
        </p:txBody>
      </p:sp>
    </p:spTree>
    <p:extLst>
      <p:ext uri="{BB962C8B-B14F-4D97-AF65-F5344CB8AC3E}">
        <p14:creationId xmlns:p14="http://schemas.microsoft.com/office/powerpoint/2010/main" val="6222113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C010A-1956-463E-8E66-304F660DE2EB}"/>
              </a:ext>
            </a:extLst>
          </p:cNvPr>
          <p:cNvSpPr>
            <a:spLocks noGrp="1"/>
          </p:cNvSpPr>
          <p:nvPr>
            <p:ph type="title"/>
          </p:nvPr>
        </p:nvSpPr>
        <p:spPr>
          <a:xfrm>
            <a:off x="838200" y="576263"/>
            <a:ext cx="10515600" cy="2852737"/>
          </a:xfrm>
        </p:spPr>
        <p:txBody>
          <a:bodyPr/>
          <a:lstStyle/>
          <a:p>
            <a:pPr algn="ctr"/>
            <a:r>
              <a:rPr lang="en-US" dirty="0"/>
              <a:t>Practical Session</a:t>
            </a:r>
          </a:p>
        </p:txBody>
      </p:sp>
    </p:spTree>
    <p:extLst>
      <p:ext uri="{BB962C8B-B14F-4D97-AF65-F5344CB8AC3E}">
        <p14:creationId xmlns:p14="http://schemas.microsoft.com/office/powerpoint/2010/main" val="27839622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35973-978F-4FC4-92DF-35B7BC4F6898}"/>
              </a:ext>
            </a:extLst>
          </p:cNvPr>
          <p:cNvSpPr>
            <a:spLocks noGrp="1"/>
          </p:cNvSpPr>
          <p:nvPr>
            <p:ph type="title"/>
          </p:nvPr>
        </p:nvSpPr>
        <p:spPr/>
        <p:txBody>
          <a:bodyPr/>
          <a:lstStyle/>
          <a:p>
            <a:pPr algn="ctr"/>
            <a:r>
              <a:rPr lang="en-US" dirty="0"/>
              <a:t>Outline</a:t>
            </a:r>
          </a:p>
        </p:txBody>
      </p:sp>
      <p:sp>
        <p:nvSpPr>
          <p:cNvPr id="3" name="Content Placeholder 2">
            <a:extLst>
              <a:ext uri="{FF2B5EF4-FFF2-40B4-BE49-F238E27FC236}">
                <a16:creationId xmlns:a16="http://schemas.microsoft.com/office/drawing/2014/main" id="{57F5D882-7B62-4279-AD24-D98000359D19}"/>
              </a:ext>
            </a:extLst>
          </p:cNvPr>
          <p:cNvSpPr>
            <a:spLocks noGrp="1"/>
          </p:cNvSpPr>
          <p:nvPr>
            <p:ph sz="half" idx="1"/>
          </p:nvPr>
        </p:nvSpPr>
        <p:spPr/>
        <p:txBody>
          <a:bodyPr>
            <a:normAutofit/>
          </a:bodyPr>
          <a:lstStyle/>
          <a:p>
            <a:pPr marL="0" indent="0">
              <a:buNone/>
            </a:pPr>
            <a:r>
              <a:rPr lang="en-US" sz="2000" b="1" dirty="0"/>
              <a:t>Practical session (Time: 50 minutes):</a:t>
            </a:r>
          </a:p>
          <a:p>
            <a:r>
              <a:rPr lang="en-US" sz="2000" dirty="0"/>
              <a:t>About Keras</a:t>
            </a:r>
          </a:p>
          <a:p>
            <a:r>
              <a:rPr lang="en-US" sz="2000" dirty="0"/>
              <a:t>Data preprocessing</a:t>
            </a:r>
          </a:p>
          <a:p>
            <a:pPr lvl="0"/>
            <a:r>
              <a:rPr lang="en-US" sz="2000" dirty="0"/>
              <a:t>Building the ANN</a:t>
            </a:r>
          </a:p>
          <a:p>
            <a:pPr lvl="0"/>
            <a:r>
              <a:rPr lang="en-US" sz="2000" dirty="0"/>
              <a:t>Training the ANN</a:t>
            </a:r>
          </a:p>
          <a:p>
            <a:pPr lvl="0"/>
            <a:r>
              <a:rPr lang="en-US" sz="2000" dirty="0"/>
              <a:t>Testing the ANN</a:t>
            </a:r>
          </a:p>
          <a:p>
            <a:pPr lvl="0"/>
            <a:r>
              <a:rPr lang="en-US" sz="2000" dirty="0"/>
              <a:t>Plotting, saving and loading Keras models </a:t>
            </a:r>
          </a:p>
          <a:p>
            <a:pPr marL="0" indent="0">
              <a:buNone/>
            </a:pPr>
            <a:endParaRPr lang="en-US" sz="2000" b="1" dirty="0"/>
          </a:p>
          <a:p>
            <a:pPr marL="0" indent="0">
              <a:buNone/>
            </a:pPr>
            <a:r>
              <a:rPr lang="en-US" sz="2000" b="1" dirty="0"/>
              <a:t>Source Code:</a:t>
            </a:r>
          </a:p>
          <a:p>
            <a:pPr marL="0" indent="0">
              <a:buNone/>
            </a:pPr>
            <a:r>
              <a:rPr lang="en-US" sz="2000" dirty="0">
                <a:hlinkClick r:id="rId2"/>
              </a:rPr>
              <a:t>https://github.com/ogbanugot/Artificial-Neural-Network-</a:t>
            </a:r>
            <a:endParaRPr lang="en-US" sz="2000" dirty="0"/>
          </a:p>
        </p:txBody>
      </p:sp>
      <p:pic>
        <p:nvPicPr>
          <p:cNvPr id="7" name="Content Placeholder 6">
            <a:extLst>
              <a:ext uri="{FF2B5EF4-FFF2-40B4-BE49-F238E27FC236}">
                <a16:creationId xmlns:a16="http://schemas.microsoft.com/office/drawing/2014/main" id="{A1FA35CA-A8E5-435C-89C6-0BA3A68F3BA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770179" y="2175641"/>
            <a:ext cx="5583621" cy="3878318"/>
          </a:xfrm>
        </p:spPr>
      </p:pic>
    </p:spTree>
    <p:extLst>
      <p:ext uri="{BB962C8B-B14F-4D97-AF65-F5344CB8AC3E}">
        <p14:creationId xmlns:p14="http://schemas.microsoft.com/office/powerpoint/2010/main" val="13569332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F98EA-8171-44AF-A635-16E7ACB4728E}"/>
              </a:ext>
            </a:extLst>
          </p:cNvPr>
          <p:cNvSpPr>
            <a:spLocks noGrp="1"/>
          </p:cNvSpPr>
          <p:nvPr>
            <p:ph type="title"/>
          </p:nvPr>
        </p:nvSpPr>
        <p:spPr/>
        <p:txBody>
          <a:bodyPr/>
          <a:lstStyle/>
          <a:p>
            <a:pPr algn="ctr"/>
            <a:r>
              <a:rPr lang="en-US" dirty="0"/>
              <a:t>About Keras</a:t>
            </a:r>
          </a:p>
        </p:txBody>
      </p:sp>
      <p:sp>
        <p:nvSpPr>
          <p:cNvPr id="3" name="Content Placeholder 2">
            <a:extLst>
              <a:ext uri="{FF2B5EF4-FFF2-40B4-BE49-F238E27FC236}">
                <a16:creationId xmlns:a16="http://schemas.microsoft.com/office/drawing/2014/main" id="{28DB1E03-57EA-4CF8-97DE-F82F2158D300}"/>
              </a:ext>
            </a:extLst>
          </p:cNvPr>
          <p:cNvSpPr>
            <a:spLocks noGrp="1"/>
          </p:cNvSpPr>
          <p:nvPr>
            <p:ph sz="half" idx="1"/>
          </p:nvPr>
        </p:nvSpPr>
        <p:spPr/>
        <p:txBody>
          <a:bodyPr>
            <a:normAutofit fontScale="92500" lnSpcReduction="10000"/>
          </a:bodyPr>
          <a:lstStyle/>
          <a:p>
            <a:r>
              <a:rPr lang="en-US" sz="2000" dirty="0"/>
              <a:t>Keras is an open source deep learning library</a:t>
            </a:r>
          </a:p>
          <a:p>
            <a:r>
              <a:rPr lang="en-US" sz="2000" dirty="0"/>
              <a:t>Keras initial release was in 2015 and its original author is François </a:t>
            </a:r>
            <a:r>
              <a:rPr lang="en-US" sz="2000" dirty="0" err="1"/>
              <a:t>Chollet</a:t>
            </a:r>
            <a:r>
              <a:rPr lang="en-US" sz="2000" dirty="0"/>
              <a:t>. </a:t>
            </a:r>
          </a:p>
          <a:p>
            <a:r>
              <a:rPr lang="en-US" sz="2000" dirty="0"/>
              <a:t>Keras is a high level API for deep learning libraries such as Tensorflow and Theano </a:t>
            </a:r>
          </a:p>
          <a:p>
            <a:r>
              <a:rPr lang="en-US" sz="2000" dirty="0"/>
              <a:t>Keras is easy to use and very well documented. </a:t>
            </a:r>
          </a:p>
          <a:p>
            <a:r>
              <a:rPr lang="en-US" sz="2000" dirty="0"/>
              <a:t>It abstracts a lot of the complexity of working with lower level libraries without trading functionality and performance.</a:t>
            </a:r>
          </a:p>
          <a:p>
            <a:r>
              <a:rPr lang="en-US" sz="2000" dirty="0"/>
              <a:t>Today, there is actually no “</a:t>
            </a:r>
            <a:r>
              <a:rPr lang="en-US" sz="2000" dirty="0" err="1"/>
              <a:t>keras</a:t>
            </a:r>
            <a:r>
              <a:rPr lang="en-US" sz="2000" dirty="0"/>
              <a:t> or Tensorflow” option. As at Tensorflow 1.9, Keras has been adopted as the official API for </a:t>
            </a:r>
            <a:r>
              <a:rPr lang="en-US" sz="2000" dirty="0" err="1"/>
              <a:t>tensorflow</a:t>
            </a:r>
            <a:r>
              <a:rPr lang="en-US" sz="2000" dirty="0"/>
              <a:t> with the inclusion of the </a:t>
            </a:r>
            <a:r>
              <a:rPr lang="en-US" sz="2000" dirty="0" err="1"/>
              <a:t>tf.keras</a:t>
            </a:r>
            <a:r>
              <a:rPr lang="en-US" sz="2000" dirty="0"/>
              <a:t> module in the </a:t>
            </a:r>
            <a:r>
              <a:rPr lang="en-US" sz="2000" dirty="0" err="1"/>
              <a:t>tensorflow</a:t>
            </a:r>
            <a:r>
              <a:rPr lang="en-US" sz="2000"/>
              <a:t> build.</a:t>
            </a:r>
            <a:endParaRPr lang="en-US" sz="2000" dirty="0"/>
          </a:p>
        </p:txBody>
      </p:sp>
      <p:pic>
        <p:nvPicPr>
          <p:cNvPr id="6" name="Content Placeholder 5">
            <a:extLst>
              <a:ext uri="{FF2B5EF4-FFF2-40B4-BE49-F238E27FC236}">
                <a16:creationId xmlns:a16="http://schemas.microsoft.com/office/drawing/2014/main" id="{E818623F-6B3F-4BBE-974C-4434969C4A9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881999"/>
            <a:ext cx="5181600" cy="2238589"/>
          </a:xfrm>
        </p:spPr>
      </p:pic>
      <p:sp>
        <p:nvSpPr>
          <p:cNvPr id="7" name="TextBox 6">
            <a:extLst>
              <a:ext uri="{FF2B5EF4-FFF2-40B4-BE49-F238E27FC236}">
                <a16:creationId xmlns:a16="http://schemas.microsoft.com/office/drawing/2014/main" id="{2FD87CC9-7FE5-482E-BE39-415B90249C3B}"/>
              </a:ext>
            </a:extLst>
          </p:cNvPr>
          <p:cNvSpPr txBox="1"/>
          <p:nvPr/>
        </p:nvSpPr>
        <p:spPr>
          <a:xfrm>
            <a:off x="6970426" y="5120588"/>
            <a:ext cx="4114973" cy="369332"/>
          </a:xfrm>
          <a:prstGeom prst="rect">
            <a:avLst/>
          </a:prstGeom>
          <a:noFill/>
        </p:spPr>
        <p:txBody>
          <a:bodyPr wrap="none" rtlCol="0">
            <a:spAutoFit/>
          </a:bodyPr>
          <a:lstStyle/>
          <a:p>
            <a:r>
              <a:rPr lang="en-US" dirty="0"/>
              <a:t>Looking at Keras popularity over the years</a:t>
            </a:r>
          </a:p>
        </p:txBody>
      </p:sp>
    </p:spTree>
    <p:extLst>
      <p:ext uri="{BB962C8B-B14F-4D97-AF65-F5344CB8AC3E}">
        <p14:creationId xmlns:p14="http://schemas.microsoft.com/office/powerpoint/2010/main" val="6971807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903B4-D5E4-40C9-BCB6-1C9ABB3767E1}"/>
              </a:ext>
            </a:extLst>
          </p:cNvPr>
          <p:cNvSpPr>
            <a:spLocks noGrp="1"/>
          </p:cNvSpPr>
          <p:nvPr>
            <p:ph type="title"/>
          </p:nvPr>
        </p:nvSpPr>
        <p:spPr/>
        <p:txBody>
          <a:bodyPr/>
          <a:lstStyle/>
          <a:p>
            <a:pPr algn="ctr"/>
            <a:r>
              <a:rPr lang="en-US" dirty="0"/>
              <a:t>Data Preprocessing </a:t>
            </a:r>
            <a:br>
              <a:rPr lang="en-US" dirty="0"/>
            </a:br>
            <a:r>
              <a:rPr lang="en-US" sz="3600" dirty="0"/>
              <a:t>Churn Modelling Dataset</a:t>
            </a:r>
            <a:endParaRPr lang="en-US" dirty="0"/>
          </a:p>
        </p:txBody>
      </p:sp>
      <p:pic>
        <p:nvPicPr>
          <p:cNvPr id="5" name="Content Placeholder 4">
            <a:extLst>
              <a:ext uri="{FF2B5EF4-FFF2-40B4-BE49-F238E27FC236}">
                <a16:creationId xmlns:a16="http://schemas.microsoft.com/office/drawing/2014/main" id="{A44C799A-EA67-42F7-AE51-C407EB23D3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1550" y="1690688"/>
            <a:ext cx="10248900" cy="4162425"/>
          </a:xfrm>
        </p:spPr>
      </p:pic>
      <p:sp>
        <p:nvSpPr>
          <p:cNvPr id="6" name="TextBox 5">
            <a:extLst>
              <a:ext uri="{FF2B5EF4-FFF2-40B4-BE49-F238E27FC236}">
                <a16:creationId xmlns:a16="http://schemas.microsoft.com/office/drawing/2014/main" id="{C51B4D2F-8F2F-471A-BE13-57A982A27B5D}"/>
              </a:ext>
            </a:extLst>
          </p:cNvPr>
          <p:cNvSpPr txBox="1"/>
          <p:nvPr/>
        </p:nvSpPr>
        <p:spPr>
          <a:xfrm>
            <a:off x="631397" y="6169709"/>
            <a:ext cx="11353173" cy="646331"/>
          </a:xfrm>
          <a:prstGeom prst="rect">
            <a:avLst/>
          </a:prstGeom>
          <a:noFill/>
        </p:spPr>
        <p:txBody>
          <a:bodyPr wrap="none" rtlCol="0">
            <a:spAutoFit/>
          </a:bodyPr>
          <a:lstStyle/>
          <a:p>
            <a:r>
              <a:rPr lang="en-US" dirty="0"/>
              <a:t>Given the dataset, the Machine learning task is to be able to predict which customers are likely to exit the bank or stay. </a:t>
            </a:r>
          </a:p>
          <a:p>
            <a:pPr algn="ctr"/>
            <a:r>
              <a:rPr lang="en-US" dirty="0"/>
              <a:t>This is a classification task!</a:t>
            </a:r>
          </a:p>
        </p:txBody>
      </p:sp>
    </p:spTree>
    <p:extLst>
      <p:ext uri="{BB962C8B-B14F-4D97-AF65-F5344CB8AC3E}">
        <p14:creationId xmlns:p14="http://schemas.microsoft.com/office/powerpoint/2010/main" val="21200530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903B4-D5E4-40C9-BCB6-1C9ABB3767E1}"/>
              </a:ext>
            </a:extLst>
          </p:cNvPr>
          <p:cNvSpPr>
            <a:spLocks noGrp="1"/>
          </p:cNvSpPr>
          <p:nvPr>
            <p:ph type="title"/>
          </p:nvPr>
        </p:nvSpPr>
        <p:spPr/>
        <p:txBody>
          <a:bodyPr/>
          <a:lstStyle/>
          <a:p>
            <a:pPr algn="ctr"/>
            <a:r>
              <a:rPr lang="en-US" dirty="0"/>
              <a:t>Data Preprocessing </a:t>
            </a:r>
          </a:p>
        </p:txBody>
      </p:sp>
      <p:sp>
        <p:nvSpPr>
          <p:cNvPr id="4" name="Content Placeholder 3">
            <a:extLst>
              <a:ext uri="{FF2B5EF4-FFF2-40B4-BE49-F238E27FC236}">
                <a16:creationId xmlns:a16="http://schemas.microsoft.com/office/drawing/2014/main" id="{02FC71CC-CA16-459E-9F1D-D965AA31BAD1}"/>
              </a:ext>
            </a:extLst>
          </p:cNvPr>
          <p:cNvSpPr>
            <a:spLocks noGrp="1"/>
          </p:cNvSpPr>
          <p:nvPr>
            <p:ph sz="half" idx="1"/>
          </p:nvPr>
        </p:nvSpPr>
        <p:spPr/>
        <p:txBody>
          <a:bodyPr>
            <a:normAutofit/>
          </a:bodyPr>
          <a:lstStyle/>
          <a:p>
            <a:pPr marL="0" indent="0">
              <a:buNone/>
            </a:pPr>
            <a:r>
              <a:rPr lang="en-US" sz="2000" dirty="0"/>
              <a:t>#Import the dataset </a:t>
            </a:r>
          </a:p>
          <a:p>
            <a:pPr marL="0" indent="0">
              <a:buNone/>
            </a:pPr>
            <a:r>
              <a:rPr lang="en-US" sz="2000" dirty="0">
                <a:solidFill>
                  <a:srgbClr val="00B0F0"/>
                </a:solidFill>
              </a:rPr>
              <a:t>7: </a:t>
            </a:r>
            <a:r>
              <a:rPr lang="en-US" sz="2000" dirty="0"/>
              <a:t>Import Pandas library  </a:t>
            </a:r>
          </a:p>
          <a:p>
            <a:pPr marL="0" indent="0">
              <a:buNone/>
            </a:pPr>
            <a:r>
              <a:rPr lang="en-US" sz="2000" dirty="0">
                <a:solidFill>
                  <a:srgbClr val="00B0F0"/>
                </a:solidFill>
              </a:rPr>
              <a:t>10:</a:t>
            </a:r>
            <a:r>
              <a:rPr lang="en-US" sz="2000" dirty="0"/>
              <a:t>Load the dataset from disk. </a:t>
            </a:r>
          </a:p>
          <a:p>
            <a:pPr marL="0" indent="0">
              <a:buNone/>
            </a:pPr>
            <a:r>
              <a:rPr lang="en-US" sz="2000" dirty="0">
                <a:solidFill>
                  <a:srgbClr val="00B0F0"/>
                </a:solidFill>
              </a:rPr>
              <a:t>11: </a:t>
            </a:r>
            <a:r>
              <a:rPr lang="en-US" sz="2000" dirty="0"/>
              <a:t>Slice the dataset (and get the features we need) from index 4 to index 13.</a:t>
            </a:r>
          </a:p>
          <a:p>
            <a:pPr marL="0" indent="0">
              <a:buNone/>
            </a:pPr>
            <a:r>
              <a:rPr lang="en-US" sz="2000" dirty="0">
                <a:solidFill>
                  <a:srgbClr val="00B0F0"/>
                </a:solidFill>
              </a:rPr>
              <a:t>12:</a:t>
            </a:r>
            <a:r>
              <a:rPr lang="en-US" sz="2000" dirty="0"/>
              <a:t> Slice the dataset and get the target label (the dependent variable) at index 14.  </a:t>
            </a:r>
          </a:p>
        </p:txBody>
      </p:sp>
      <p:pic>
        <p:nvPicPr>
          <p:cNvPr id="8" name="Content Placeholder 7">
            <a:extLst>
              <a:ext uri="{FF2B5EF4-FFF2-40B4-BE49-F238E27FC236}">
                <a16:creationId xmlns:a16="http://schemas.microsoft.com/office/drawing/2014/main" id="{91335D07-F321-4578-9FE7-43BB75E5EB1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19800" y="3178970"/>
            <a:ext cx="5561633" cy="1325562"/>
          </a:xfrm>
        </p:spPr>
      </p:pic>
      <p:pic>
        <p:nvPicPr>
          <p:cNvPr id="9" name="Content Placeholder 10">
            <a:extLst>
              <a:ext uri="{FF2B5EF4-FFF2-40B4-BE49-F238E27FC236}">
                <a16:creationId xmlns:a16="http://schemas.microsoft.com/office/drawing/2014/main" id="{A7406734-DF07-4A5D-8593-E37E86E665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9800" y="1839517"/>
            <a:ext cx="4504840" cy="1325562"/>
          </a:xfrm>
          <a:prstGeom prst="rect">
            <a:avLst/>
          </a:prstGeom>
        </p:spPr>
      </p:pic>
    </p:spTree>
    <p:extLst>
      <p:ext uri="{BB962C8B-B14F-4D97-AF65-F5344CB8AC3E}">
        <p14:creationId xmlns:p14="http://schemas.microsoft.com/office/powerpoint/2010/main" val="14120125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903B4-D5E4-40C9-BCB6-1C9ABB3767E1}"/>
              </a:ext>
            </a:extLst>
          </p:cNvPr>
          <p:cNvSpPr>
            <a:spLocks noGrp="1"/>
          </p:cNvSpPr>
          <p:nvPr>
            <p:ph type="title"/>
          </p:nvPr>
        </p:nvSpPr>
        <p:spPr/>
        <p:txBody>
          <a:bodyPr/>
          <a:lstStyle/>
          <a:p>
            <a:pPr algn="ctr"/>
            <a:r>
              <a:rPr lang="en-US" dirty="0"/>
              <a:t>Data Preprocessing </a:t>
            </a:r>
            <a:br>
              <a:rPr lang="en-US" dirty="0"/>
            </a:br>
            <a:r>
              <a:rPr lang="en-US" sz="3600" dirty="0"/>
              <a:t>Independent variables for training</a:t>
            </a:r>
            <a:endParaRPr lang="en-US" dirty="0"/>
          </a:p>
        </p:txBody>
      </p:sp>
      <p:sp>
        <p:nvSpPr>
          <p:cNvPr id="6" name="TextBox 5">
            <a:extLst>
              <a:ext uri="{FF2B5EF4-FFF2-40B4-BE49-F238E27FC236}">
                <a16:creationId xmlns:a16="http://schemas.microsoft.com/office/drawing/2014/main" id="{C51B4D2F-8F2F-471A-BE13-57A982A27B5D}"/>
              </a:ext>
            </a:extLst>
          </p:cNvPr>
          <p:cNvSpPr txBox="1"/>
          <p:nvPr/>
        </p:nvSpPr>
        <p:spPr>
          <a:xfrm>
            <a:off x="1072573" y="6308209"/>
            <a:ext cx="10046853" cy="369332"/>
          </a:xfrm>
          <a:prstGeom prst="rect">
            <a:avLst/>
          </a:prstGeom>
          <a:noFill/>
        </p:spPr>
        <p:txBody>
          <a:bodyPr wrap="none" rtlCol="0">
            <a:spAutoFit/>
          </a:bodyPr>
          <a:lstStyle/>
          <a:p>
            <a:r>
              <a:rPr lang="en-US" dirty="0"/>
              <a:t>Now we have sliced out our relevant independent variables needed for training, from the original dataset</a:t>
            </a:r>
          </a:p>
        </p:txBody>
      </p:sp>
      <p:pic>
        <p:nvPicPr>
          <p:cNvPr id="8" name="Content Placeholder 7">
            <a:extLst>
              <a:ext uri="{FF2B5EF4-FFF2-40B4-BE49-F238E27FC236}">
                <a16:creationId xmlns:a16="http://schemas.microsoft.com/office/drawing/2014/main" id="{69C7DECC-5F49-4F5F-AF0D-B3B12872AD4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81275" y="1905794"/>
            <a:ext cx="7029450" cy="4191000"/>
          </a:xfrm>
        </p:spPr>
      </p:pic>
    </p:spTree>
    <p:extLst>
      <p:ext uri="{BB962C8B-B14F-4D97-AF65-F5344CB8AC3E}">
        <p14:creationId xmlns:p14="http://schemas.microsoft.com/office/powerpoint/2010/main" val="7862223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6A18D-78D6-4A01-A142-7686C5F63527}"/>
              </a:ext>
            </a:extLst>
          </p:cNvPr>
          <p:cNvSpPr>
            <a:spLocks noGrp="1"/>
          </p:cNvSpPr>
          <p:nvPr>
            <p:ph type="title"/>
          </p:nvPr>
        </p:nvSpPr>
        <p:spPr/>
        <p:txBody>
          <a:bodyPr/>
          <a:lstStyle/>
          <a:p>
            <a:pPr algn="ctr"/>
            <a:r>
              <a:rPr lang="en-US" dirty="0"/>
              <a:t>Data Preprocessing </a:t>
            </a:r>
            <a:br>
              <a:rPr lang="en-US" dirty="0"/>
            </a:br>
            <a:r>
              <a:rPr lang="en-US" sz="3600" dirty="0"/>
              <a:t>Identifying and handling labels and categories</a:t>
            </a:r>
          </a:p>
        </p:txBody>
      </p:sp>
      <p:sp>
        <p:nvSpPr>
          <p:cNvPr id="3" name="Content Placeholder 2">
            <a:extLst>
              <a:ext uri="{FF2B5EF4-FFF2-40B4-BE49-F238E27FC236}">
                <a16:creationId xmlns:a16="http://schemas.microsoft.com/office/drawing/2014/main" id="{AE769C62-BD43-42AB-AA85-4BB6EBAB2176}"/>
              </a:ext>
            </a:extLst>
          </p:cNvPr>
          <p:cNvSpPr>
            <a:spLocks noGrp="1"/>
          </p:cNvSpPr>
          <p:nvPr>
            <p:ph sz="half" idx="1"/>
          </p:nvPr>
        </p:nvSpPr>
        <p:spPr>
          <a:xfrm>
            <a:off x="778240" y="1825625"/>
            <a:ext cx="5181600" cy="4351338"/>
          </a:xfrm>
        </p:spPr>
        <p:txBody>
          <a:bodyPr>
            <a:normAutofit/>
          </a:bodyPr>
          <a:lstStyle/>
          <a:p>
            <a:r>
              <a:rPr lang="en-US" sz="2000" dirty="0"/>
              <a:t>The Geography and Gender features are text-values so we need to convert them to numerical values. This is called label encoding.</a:t>
            </a:r>
          </a:p>
          <a:p>
            <a:r>
              <a:rPr lang="en-US" sz="2000" dirty="0"/>
              <a:t>These features are also categorical, that is, the classify a feature into a category e.g. Spain, France, Male, female etc. We’ll need to one-hot encode them. Why do we need to one-hot encode?</a:t>
            </a:r>
          </a:p>
        </p:txBody>
      </p:sp>
      <p:pic>
        <p:nvPicPr>
          <p:cNvPr id="10" name="Content Placeholder 9">
            <a:extLst>
              <a:ext uri="{FF2B5EF4-FFF2-40B4-BE49-F238E27FC236}">
                <a16:creationId xmlns:a16="http://schemas.microsoft.com/office/drawing/2014/main" id="{C3AE3C93-4400-496D-AE57-3D3942E861D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456644"/>
            <a:ext cx="5181600" cy="3089300"/>
          </a:xfrm>
        </p:spPr>
      </p:pic>
      <p:sp>
        <p:nvSpPr>
          <p:cNvPr id="11" name="TextBox 10">
            <a:extLst>
              <a:ext uri="{FF2B5EF4-FFF2-40B4-BE49-F238E27FC236}">
                <a16:creationId xmlns:a16="http://schemas.microsoft.com/office/drawing/2014/main" id="{07636F70-979D-4CBD-BAE7-A06CFC7A3F04}"/>
              </a:ext>
            </a:extLst>
          </p:cNvPr>
          <p:cNvSpPr txBox="1"/>
          <p:nvPr/>
        </p:nvSpPr>
        <p:spPr>
          <a:xfrm>
            <a:off x="6249347" y="5545944"/>
            <a:ext cx="4812663" cy="646331"/>
          </a:xfrm>
          <a:prstGeom prst="rect">
            <a:avLst/>
          </a:prstGeom>
          <a:noFill/>
        </p:spPr>
        <p:txBody>
          <a:bodyPr wrap="none" rtlCol="0">
            <a:spAutoFit/>
          </a:bodyPr>
          <a:lstStyle/>
          <a:p>
            <a:pPr algn="ctr"/>
            <a:r>
              <a:rPr lang="en-US" dirty="0"/>
              <a:t>The Geography and Gender fields are text-values </a:t>
            </a:r>
          </a:p>
          <a:p>
            <a:pPr algn="ctr"/>
            <a:r>
              <a:rPr lang="en-US" dirty="0"/>
              <a:t>and are also categorical  </a:t>
            </a:r>
          </a:p>
        </p:txBody>
      </p:sp>
    </p:spTree>
    <p:extLst>
      <p:ext uri="{BB962C8B-B14F-4D97-AF65-F5344CB8AC3E}">
        <p14:creationId xmlns:p14="http://schemas.microsoft.com/office/powerpoint/2010/main" val="32981287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903B4-D5E4-40C9-BCB6-1C9ABB3767E1}"/>
              </a:ext>
            </a:extLst>
          </p:cNvPr>
          <p:cNvSpPr>
            <a:spLocks noGrp="1"/>
          </p:cNvSpPr>
          <p:nvPr>
            <p:ph type="title"/>
          </p:nvPr>
        </p:nvSpPr>
        <p:spPr/>
        <p:txBody>
          <a:bodyPr/>
          <a:lstStyle/>
          <a:p>
            <a:pPr algn="ctr"/>
            <a:r>
              <a:rPr lang="en-US" dirty="0"/>
              <a:t>Data Preprocessing </a:t>
            </a:r>
          </a:p>
        </p:txBody>
      </p:sp>
      <p:sp>
        <p:nvSpPr>
          <p:cNvPr id="4" name="Content Placeholder 3">
            <a:extLst>
              <a:ext uri="{FF2B5EF4-FFF2-40B4-BE49-F238E27FC236}">
                <a16:creationId xmlns:a16="http://schemas.microsoft.com/office/drawing/2014/main" id="{02FC71CC-CA16-459E-9F1D-D965AA31BAD1}"/>
              </a:ext>
            </a:extLst>
          </p:cNvPr>
          <p:cNvSpPr>
            <a:spLocks noGrp="1"/>
          </p:cNvSpPr>
          <p:nvPr>
            <p:ph sz="half" idx="1"/>
          </p:nvPr>
        </p:nvSpPr>
        <p:spPr/>
        <p:txBody>
          <a:bodyPr>
            <a:normAutofit/>
          </a:bodyPr>
          <a:lstStyle/>
          <a:p>
            <a:pPr marL="0" indent="0">
              <a:buNone/>
            </a:pPr>
            <a:r>
              <a:rPr lang="en-US" sz="2000" dirty="0"/>
              <a:t>#Encoding categorical data</a:t>
            </a:r>
          </a:p>
          <a:p>
            <a:pPr marL="0" indent="0">
              <a:buNone/>
            </a:pPr>
            <a:r>
              <a:rPr lang="en-US" sz="2000" dirty="0">
                <a:solidFill>
                  <a:srgbClr val="00B0F0"/>
                </a:solidFill>
              </a:rPr>
              <a:t>15: </a:t>
            </a:r>
            <a:r>
              <a:rPr lang="en-US" sz="2000" dirty="0"/>
              <a:t>Import the necessary library and its classes</a:t>
            </a:r>
          </a:p>
          <a:p>
            <a:pPr marL="0" indent="0">
              <a:buNone/>
            </a:pPr>
            <a:r>
              <a:rPr lang="en-US" sz="2000" dirty="0">
                <a:solidFill>
                  <a:srgbClr val="00B0F0"/>
                </a:solidFill>
              </a:rPr>
              <a:t>16: </a:t>
            </a:r>
            <a:r>
              <a:rPr lang="en-US" sz="2000" dirty="0"/>
              <a:t>Create the </a:t>
            </a:r>
            <a:r>
              <a:rPr lang="en-US" sz="2000" dirty="0" err="1"/>
              <a:t>LabelEncoder</a:t>
            </a:r>
            <a:r>
              <a:rPr lang="en-US" sz="2000" dirty="0"/>
              <a:t> object for the first text feature.</a:t>
            </a:r>
          </a:p>
          <a:p>
            <a:pPr marL="0" indent="0">
              <a:buNone/>
            </a:pPr>
            <a:r>
              <a:rPr lang="en-US" sz="2000" dirty="0">
                <a:solidFill>
                  <a:srgbClr val="00B0F0"/>
                </a:solidFill>
              </a:rPr>
              <a:t>17: </a:t>
            </a:r>
            <a:r>
              <a:rPr lang="en-US" sz="2000" dirty="0"/>
              <a:t>Label encode the feature using the </a:t>
            </a:r>
            <a:r>
              <a:rPr lang="en-US" sz="2000" dirty="0" err="1"/>
              <a:t>fit_transform</a:t>
            </a:r>
            <a:r>
              <a:rPr lang="en-US" sz="2000" dirty="0"/>
              <a:t> class and overwrite the old values in the dataset.</a:t>
            </a:r>
            <a:endParaRPr lang="en-US" sz="2000" dirty="0">
              <a:solidFill>
                <a:srgbClr val="00B0F0"/>
              </a:solidFill>
            </a:endParaRPr>
          </a:p>
          <a:p>
            <a:pPr marL="0" indent="0">
              <a:buNone/>
            </a:pPr>
            <a:r>
              <a:rPr lang="en-US" sz="2000" dirty="0">
                <a:solidFill>
                  <a:srgbClr val="00B0F0"/>
                </a:solidFill>
              </a:rPr>
              <a:t>18 &amp; 19: </a:t>
            </a:r>
            <a:r>
              <a:rPr lang="en-US" sz="2000" dirty="0"/>
              <a:t>Repeats line 16 and 17 for the second text feature in the dataset.</a:t>
            </a:r>
          </a:p>
          <a:p>
            <a:pPr marL="0" indent="0">
              <a:buNone/>
            </a:pPr>
            <a:endParaRPr lang="en-US" sz="2000" dirty="0"/>
          </a:p>
        </p:txBody>
      </p:sp>
      <p:pic>
        <p:nvPicPr>
          <p:cNvPr id="12" name="Content Placeholder 11">
            <a:extLst>
              <a:ext uri="{FF2B5EF4-FFF2-40B4-BE49-F238E27FC236}">
                <a16:creationId xmlns:a16="http://schemas.microsoft.com/office/drawing/2014/main" id="{B29FB4EF-C275-45FD-A5D4-A9345D67368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19800" y="2380593"/>
            <a:ext cx="5944877" cy="2364828"/>
          </a:xfrm>
        </p:spPr>
      </p:pic>
    </p:spTree>
    <p:extLst>
      <p:ext uri="{BB962C8B-B14F-4D97-AF65-F5344CB8AC3E}">
        <p14:creationId xmlns:p14="http://schemas.microsoft.com/office/powerpoint/2010/main" val="22270443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6A18D-78D6-4A01-A142-7686C5F63527}"/>
              </a:ext>
            </a:extLst>
          </p:cNvPr>
          <p:cNvSpPr>
            <a:spLocks noGrp="1"/>
          </p:cNvSpPr>
          <p:nvPr>
            <p:ph type="title"/>
          </p:nvPr>
        </p:nvSpPr>
        <p:spPr/>
        <p:txBody>
          <a:bodyPr/>
          <a:lstStyle/>
          <a:p>
            <a:pPr algn="ctr"/>
            <a:r>
              <a:rPr lang="en-US" dirty="0"/>
              <a:t>Data Preprocessing </a:t>
            </a:r>
            <a:br>
              <a:rPr lang="en-US" dirty="0"/>
            </a:br>
            <a:r>
              <a:rPr lang="en-US" sz="3600" dirty="0"/>
              <a:t>Why do we need to one-hot encode?</a:t>
            </a:r>
          </a:p>
        </p:txBody>
      </p:sp>
      <p:sp>
        <p:nvSpPr>
          <p:cNvPr id="3" name="Content Placeholder 2">
            <a:extLst>
              <a:ext uri="{FF2B5EF4-FFF2-40B4-BE49-F238E27FC236}">
                <a16:creationId xmlns:a16="http://schemas.microsoft.com/office/drawing/2014/main" id="{AE769C62-BD43-42AB-AA85-4BB6EBAB2176}"/>
              </a:ext>
            </a:extLst>
          </p:cNvPr>
          <p:cNvSpPr>
            <a:spLocks noGrp="1"/>
          </p:cNvSpPr>
          <p:nvPr>
            <p:ph sz="half" idx="1"/>
          </p:nvPr>
        </p:nvSpPr>
        <p:spPr/>
        <p:txBody>
          <a:bodyPr>
            <a:normAutofit/>
          </a:bodyPr>
          <a:lstStyle/>
          <a:p>
            <a:r>
              <a:rPr lang="en-US" sz="2000" dirty="0"/>
              <a:t>Label encoding a text-valued categorical feature assigns a numerical value to each category.</a:t>
            </a:r>
          </a:p>
          <a:p>
            <a:r>
              <a:rPr lang="en-US" sz="2000" dirty="0"/>
              <a:t>If our categories are not </a:t>
            </a:r>
            <a:r>
              <a:rPr lang="en-US" sz="2000" b="1" dirty="0"/>
              <a:t>ordinal</a:t>
            </a:r>
            <a:r>
              <a:rPr lang="en-US" sz="2000" dirty="0"/>
              <a:t> i.e. there is no relational order in which the categories appear. Then we should one-hot encode. </a:t>
            </a:r>
          </a:p>
          <a:p>
            <a:r>
              <a:rPr lang="en-US" sz="2000" dirty="0"/>
              <a:t>One-hot encoding prevents the learning algorithm from placing importance on the manner in which the categorical values are listed. </a:t>
            </a:r>
          </a:p>
          <a:p>
            <a:r>
              <a:rPr lang="en-US" sz="2000" dirty="0"/>
              <a:t>When we one-hot encode, we take the categorical values and represent each one in its own column as a dummy variable.</a:t>
            </a:r>
          </a:p>
        </p:txBody>
      </p:sp>
      <p:pic>
        <p:nvPicPr>
          <p:cNvPr id="10" name="Content Placeholder 9">
            <a:extLst>
              <a:ext uri="{FF2B5EF4-FFF2-40B4-BE49-F238E27FC236}">
                <a16:creationId xmlns:a16="http://schemas.microsoft.com/office/drawing/2014/main" id="{C3AE3C93-4400-496D-AE57-3D3942E861D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486993" y="1825625"/>
            <a:ext cx="4485807" cy="2609939"/>
          </a:xfrm>
        </p:spPr>
      </p:pic>
      <p:pic>
        <p:nvPicPr>
          <p:cNvPr id="5" name="Picture 4">
            <a:extLst>
              <a:ext uri="{FF2B5EF4-FFF2-40B4-BE49-F238E27FC236}">
                <a16:creationId xmlns:a16="http://schemas.microsoft.com/office/drawing/2014/main" id="{801DECA5-BCCA-4D74-90BE-B7A162501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04388" y="4570501"/>
            <a:ext cx="3819525" cy="1219200"/>
          </a:xfrm>
          <a:prstGeom prst="rect">
            <a:avLst/>
          </a:prstGeom>
        </p:spPr>
      </p:pic>
      <p:sp>
        <p:nvSpPr>
          <p:cNvPr id="6" name="TextBox 5">
            <a:extLst>
              <a:ext uri="{FF2B5EF4-FFF2-40B4-BE49-F238E27FC236}">
                <a16:creationId xmlns:a16="http://schemas.microsoft.com/office/drawing/2014/main" id="{6EB4FDA5-9198-4B92-A226-034C004252EB}"/>
              </a:ext>
            </a:extLst>
          </p:cNvPr>
          <p:cNvSpPr txBox="1"/>
          <p:nvPr/>
        </p:nvSpPr>
        <p:spPr>
          <a:xfrm>
            <a:off x="6172202" y="5789701"/>
            <a:ext cx="4770858" cy="923330"/>
          </a:xfrm>
          <a:prstGeom prst="rect">
            <a:avLst/>
          </a:prstGeom>
          <a:noFill/>
        </p:spPr>
        <p:txBody>
          <a:bodyPr wrap="none" rtlCol="0">
            <a:spAutoFit/>
          </a:bodyPr>
          <a:lstStyle/>
          <a:p>
            <a:pPr algn="ctr"/>
            <a:r>
              <a:rPr lang="en-US" dirty="0"/>
              <a:t>Label encoded array. Notice that the Geography </a:t>
            </a:r>
          </a:p>
          <a:p>
            <a:pPr algn="ctr"/>
            <a:r>
              <a:rPr lang="en-US" dirty="0"/>
              <a:t>and Gender fields are now numbers</a:t>
            </a:r>
          </a:p>
          <a:p>
            <a:endParaRPr lang="en-US" dirty="0"/>
          </a:p>
        </p:txBody>
      </p:sp>
    </p:spTree>
    <p:extLst>
      <p:ext uri="{BB962C8B-B14F-4D97-AF65-F5344CB8AC3E}">
        <p14:creationId xmlns:p14="http://schemas.microsoft.com/office/powerpoint/2010/main" val="34973551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903B4-D5E4-40C9-BCB6-1C9ABB3767E1}"/>
              </a:ext>
            </a:extLst>
          </p:cNvPr>
          <p:cNvSpPr>
            <a:spLocks noGrp="1"/>
          </p:cNvSpPr>
          <p:nvPr>
            <p:ph type="title"/>
          </p:nvPr>
        </p:nvSpPr>
        <p:spPr/>
        <p:txBody>
          <a:bodyPr/>
          <a:lstStyle/>
          <a:p>
            <a:pPr algn="ctr"/>
            <a:r>
              <a:rPr lang="en-US" dirty="0"/>
              <a:t>Data Preprocessing </a:t>
            </a:r>
          </a:p>
        </p:txBody>
      </p:sp>
      <p:sp>
        <p:nvSpPr>
          <p:cNvPr id="4" name="Content Placeholder 3">
            <a:extLst>
              <a:ext uri="{FF2B5EF4-FFF2-40B4-BE49-F238E27FC236}">
                <a16:creationId xmlns:a16="http://schemas.microsoft.com/office/drawing/2014/main" id="{02FC71CC-CA16-459E-9F1D-D965AA31BAD1}"/>
              </a:ext>
            </a:extLst>
          </p:cNvPr>
          <p:cNvSpPr>
            <a:spLocks noGrp="1"/>
          </p:cNvSpPr>
          <p:nvPr>
            <p:ph sz="half" idx="1"/>
          </p:nvPr>
        </p:nvSpPr>
        <p:spPr/>
        <p:txBody>
          <a:bodyPr>
            <a:normAutofit/>
          </a:bodyPr>
          <a:lstStyle/>
          <a:p>
            <a:pPr marL="0" indent="0">
              <a:buNone/>
            </a:pPr>
            <a:r>
              <a:rPr lang="en-US" sz="2000" dirty="0"/>
              <a:t>#Encoding categorical data</a:t>
            </a:r>
          </a:p>
          <a:p>
            <a:pPr marL="0" indent="0">
              <a:buNone/>
            </a:pPr>
            <a:r>
              <a:rPr lang="en-US" sz="2000" dirty="0">
                <a:solidFill>
                  <a:srgbClr val="00B0F0"/>
                </a:solidFill>
              </a:rPr>
              <a:t>20: </a:t>
            </a:r>
            <a:r>
              <a:rPr lang="en-US" sz="2000" dirty="0"/>
              <a:t>Create the </a:t>
            </a:r>
            <a:r>
              <a:rPr lang="en-US" sz="2000" dirty="0" err="1"/>
              <a:t>onehotencoder</a:t>
            </a:r>
            <a:r>
              <a:rPr lang="en-US" sz="2000" dirty="0"/>
              <a:t>  object, the parameter “categorical_ features” specifies the index of the categorical feature in the dataset.</a:t>
            </a:r>
          </a:p>
          <a:p>
            <a:pPr marL="0" indent="0">
              <a:buNone/>
            </a:pPr>
            <a:r>
              <a:rPr lang="en-US" sz="2000" dirty="0">
                <a:solidFill>
                  <a:srgbClr val="00B0F0"/>
                </a:solidFill>
              </a:rPr>
              <a:t>21: </a:t>
            </a:r>
            <a:r>
              <a:rPr lang="en-US" sz="2000" dirty="0"/>
              <a:t>We </a:t>
            </a:r>
            <a:r>
              <a:rPr lang="en-US" sz="2000" dirty="0" err="1"/>
              <a:t>onehotencode</a:t>
            </a:r>
            <a:r>
              <a:rPr lang="en-US" sz="2000" dirty="0"/>
              <a:t> the ‘Geography’ feature at index 1. </a:t>
            </a:r>
          </a:p>
          <a:p>
            <a:pPr marL="0" indent="0">
              <a:buNone/>
            </a:pPr>
            <a:r>
              <a:rPr lang="en-US" sz="2000" dirty="0">
                <a:solidFill>
                  <a:srgbClr val="00B0F0"/>
                </a:solidFill>
              </a:rPr>
              <a:t>22: </a:t>
            </a:r>
            <a:r>
              <a:rPr lang="en-US" sz="2000" dirty="0"/>
              <a:t>We drop one of the newly created dummy variables at index 1. The final dataset has 11 features. </a:t>
            </a:r>
          </a:p>
        </p:txBody>
      </p:sp>
      <p:pic>
        <p:nvPicPr>
          <p:cNvPr id="12" name="Content Placeholder 11">
            <a:extLst>
              <a:ext uri="{FF2B5EF4-FFF2-40B4-BE49-F238E27FC236}">
                <a16:creationId xmlns:a16="http://schemas.microsoft.com/office/drawing/2014/main" id="{B29FB4EF-C275-45FD-A5D4-A9345D67368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19800" y="2380593"/>
            <a:ext cx="5944877" cy="2364828"/>
          </a:xfrm>
        </p:spPr>
      </p:pic>
    </p:spTree>
    <p:extLst>
      <p:ext uri="{BB962C8B-B14F-4D97-AF65-F5344CB8AC3E}">
        <p14:creationId xmlns:p14="http://schemas.microsoft.com/office/powerpoint/2010/main" val="1057931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6A18D-78D6-4A01-A142-7686C5F63527}"/>
              </a:ext>
            </a:extLst>
          </p:cNvPr>
          <p:cNvSpPr>
            <a:spLocks noGrp="1"/>
          </p:cNvSpPr>
          <p:nvPr>
            <p:ph type="title"/>
          </p:nvPr>
        </p:nvSpPr>
        <p:spPr/>
        <p:txBody>
          <a:bodyPr/>
          <a:lstStyle/>
          <a:p>
            <a:pPr algn="ctr"/>
            <a:r>
              <a:rPr lang="en-US" dirty="0"/>
              <a:t>Data Preprocessing </a:t>
            </a:r>
            <a:br>
              <a:rPr lang="en-US" dirty="0"/>
            </a:br>
            <a:r>
              <a:rPr lang="en-US" sz="3600" dirty="0"/>
              <a:t>The Dummy variable trap</a:t>
            </a:r>
          </a:p>
        </p:txBody>
      </p:sp>
      <p:sp>
        <p:nvSpPr>
          <p:cNvPr id="3" name="Content Placeholder 2">
            <a:extLst>
              <a:ext uri="{FF2B5EF4-FFF2-40B4-BE49-F238E27FC236}">
                <a16:creationId xmlns:a16="http://schemas.microsoft.com/office/drawing/2014/main" id="{AE769C62-BD43-42AB-AA85-4BB6EBAB2176}"/>
              </a:ext>
            </a:extLst>
          </p:cNvPr>
          <p:cNvSpPr>
            <a:spLocks noGrp="1"/>
          </p:cNvSpPr>
          <p:nvPr>
            <p:ph sz="half" idx="1"/>
          </p:nvPr>
        </p:nvSpPr>
        <p:spPr/>
        <p:txBody>
          <a:bodyPr>
            <a:normAutofit fontScale="85000" lnSpcReduction="10000"/>
          </a:bodyPr>
          <a:lstStyle/>
          <a:p>
            <a:r>
              <a:rPr lang="en-US" sz="2000" dirty="0"/>
              <a:t>The dummy variable trap is a scenario where two or more independent variables are multicollinear. </a:t>
            </a:r>
          </a:p>
          <a:p>
            <a:r>
              <a:rPr lang="en-US" sz="2000" dirty="0"/>
              <a:t>This means that if we know the value of one, we can estimate the value of the other quite accurately. </a:t>
            </a:r>
          </a:p>
          <a:p>
            <a:r>
              <a:rPr lang="en-US" sz="2000" dirty="0"/>
              <a:t>After executing line 21 in the source code, our dataset now contains three new dummy variables.  </a:t>
            </a:r>
          </a:p>
          <a:p>
            <a:r>
              <a:rPr lang="en-US" sz="2000" dirty="0"/>
              <a:t>Notice that each column represents a category, in this case a country. </a:t>
            </a:r>
          </a:p>
          <a:p>
            <a:r>
              <a:rPr lang="en-US" sz="2000" dirty="0"/>
              <a:t>If we know the value of the first two columns, we can accurately guess the value of the third. The 3 dummy variables are multicollinear.</a:t>
            </a:r>
          </a:p>
          <a:p>
            <a:r>
              <a:rPr lang="en-US" sz="2000" dirty="0"/>
              <a:t>This is why we drop one dummy variable in line 22 to avoid the dummy variable trap. It is for this same reason we do not </a:t>
            </a:r>
            <a:r>
              <a:rPr lang="en-US" sz="2000" dirty="0" err="1"/>
              <a:t>onehotencode</a:t>
            </a:r>
            <a:r>
              <a:rPr lang="en-US" sz="2000" dirty="0"/>
              <a:t> the “Gender” feature.</a:t>
            </a:r>
          </a:p>
        </p:txBody>
      </p:sp>
      <p:pic>
        <p:nvPicPr>
          <p:cNvPr id="14" name="Content Placeholder 13">
            <a:extLst>
              <a:ext uri="{FF2B5EF4-FFF2-40B4-BE49-F238E27FC236}">
                <a16:creationId xmlns:a16="http://schemas.microsoft.com/office/drawing/2014/main" id="{D5ED834E-E2B8-4596-ACA0-ABC71E4DD72A}"/>
              </a:ext>
            </a:extLst>
          </p:cNvPr>
          <p:cNvPicPr>
            <a:picLocks noGrp="1" noChangeAspect="1"/>
          </p:cNvPicPr>
          <p:nvPr>
            <p:ph sz="half" idx="2"/>
          </p:nvPr>
        </p:nvPicPr>
        <p:blipFill rotWithShape="1">
          <a:blip r:embed="rId2">
            <a:extLst>
              <a:ext uri="{28A0092B-C50C-407E-A947-70E740481C1C}">
                <a14:useLocalDpi xmlns:a14="http://schemas.microsoft.com/office/drawing/2010/main" val="0"/>
              </a:ext>
            </a:extLst>
          </a:blip>
          <a:srcRect r="20174"/>
          <a:stretch/>
        </p:blipFill>
        <p:spPr>
          <a:xfrm>
            <a:off x="6019800" y="1825625"/>
            <a:ext cx="6076273" cy="3978476"/>
          </a:xfrm>
        </p:spPr>
      </p:pic>
      <p:sp>
        <p:nvSpPr>
          <p:cNvPr id="15" name="TextBox 14">
            <a:extLst>
              <a:ext uri="{FF2B5EF4-FFF2-40B4-BE49-F238E27FC236}">
                <a16:creationId xmlns:a16="http://schemas.microsoft.com/office/drawing/2014/main" id="{5181BB59-5B91-4246-89BA-45DA56D63C3E}"/>
              </a:ext>
            </a:extLst>
          </p:cNvPr>
          <p:cNvSpPr txBox="1"/>
          <p:nvPr/>
        </p:nvSpPr>
        <p:spPr>
          <a:xfrm>
            <a:off x="6978133" y="5790726"/>
            <a:ext cx="5117940" cy="646331"/>
          </a:xfrm>
          <a:prstGeom prst="rect">
            <a:avLst/>
          </a:prstGeom>
          <a:noFill/>
        </p:spPr>
        <p:txBody>
          <a:bodyPr wrap="none" rtlCol="0">
            <a:spAutoFit/>
          </a:bodyPr>
          <a:lstStyle/>
          <a:p>
            <a:pPr algn="ctr"/>
            <a:r>
              <a:rPr lang="en-US" dirty="0"/>
              <a:t>Three Dummy variables have been added. This leads </a:t>
            </a:r>
          </a:p>
          <a:p>
            <a:pPr algn="ctr"/>
            <a:r>
              <a:rPr lang="en-US" dirty="0"/>
              <a:t>to the dummy variable trap</a:t>
            </a:r>
          </a:p>
        </p:txBody>
      </p:sp>
    </p:spTree>
    <p:extLst>
      <p:ext uri="{BB962C8B-B14F-4D97-AF65-F5344CB8AC3E}">
        <p14:creationId xmlns:p14="http://schemas.microsoft.com/office/powerpoint/2010/main" val="24050591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6A18D-78D6-4A01-A142-7686C5F63527}"/>
              </a:ext>
            </a:extLst>
          </p:cNvPr>
          <p:cNvSpPr>
            <a:spLocks noGrp="1"/>
          </p:cNvSpPr>
          <p:nvPr>
            <p:ph type="title"/>
          </p:nvPr>
        </p:nvSpPr>
        <p:spPr/>
        <p:txBody>
          <a:bodyPr/>
          <a:lstStyle/>
          <a:p>
            <a:pPr algn="ctr"/>
            <a:r>
              <a:rPr lang="en-US" dirty="0"/>
              <a:t>Data Preprocessing </a:t>
            </a:r>
            <a:br>
              <a:rPr lang="en-US" dirty="0"/>
            </a:br>
            <a:r>
              <a:rPr lang="en-US" sz="3600" dirty="0"/>
              <a:t>Cross validation</a:t>
            </a:r>
          </a:p>
        </p:txBody>
      </p:sp>
      <p:sp>
        <p:nvSpPr>
          <p:cNvPr id="3" name="Content Placeholder 2">
            <a:extLst>
              <a:ext uri="{FF2B5EF4-FFF2-40B4-BE49-F238E27FC236}">
                <a16:creationId xmlns:a16="http://schemas.microsoft.com/office/drawing/2014/main" id="{AE769C62-BD43-42AB-AA85-4BB6EBAB2176}"/>
              </a:ext>
            </a:extLst>
          </p:cNvPr>
          <p:cNvSpPr>
            <a:spLocks noGrp="1"/>
          </p:cNvSpPr>
          <p:nvPr>
            <p:ph sz="half" idx="1"/>
          </p:nvPr>
        </p:nvSpPr>
        <p:spPr>
          <a:xfrm>
            <a:off x="806668" y="1825625"/>
            <a:ext cx="5181600" cy="4351338"/>
          </a:xfrm>
        </p:spPr>
        <p:txBody>
          <a:bodyPr>
            <a:normAutofit fontScale="92500"/>
          </a:bodyPr>
          <a:lstStyle/>
          <a:p>
            <a:pPr marL="0" indent="0">
              <a:buNone/>
            </a:pPr>
            <a:r>
              <a:rPr lang="en-US" sz="2000" b="1" dirty="0"/>
              <a:t>Cross validation</a:t>
            </a:r>
            <a:r>
              <a:rPr lang="en-US" sz="2000" dirty="0"/>
              <a:t> is the practice of separating the training set from the test set, so that we can evaluate more accurately, the performance of a machine learning model. </a:t>
            </a:r>
            <a:endParaRPr lang="en-US" sz="2000" b="1" dirty="0"/>
          </a:p>
          <a:p>
            <a:pPr marL="0" indent="0">
              <a:buNone/>
            </a:pPr>
            <a:r>
              <a:rPr lang="en-US" sz="2000" dirty="0"/>
              <a:t>#Split the dataset into training and test set</a:t>
            </a:r>
          </a:p>
          <a:p>
            <a:pPr marL="0" indent="0">
              <a:buNone/>
            </a:pPr>
            <a:r>
              <a:rPr lang="en-US" sz="2000" dirty="0">
                <a:solidFill>
                  <a:srgbClr val="00B0F0"/>
                </a:solidFill>
              </a:rPr>
              <a:t>25: </a:t>
            </a:r>
            <a:r>
              <a:rPr lang="en-US" sz="2000" dirty="0"/>
              <a:t>Import the necessary class</a:t>
            </a:r>
          </a:p>
          <a:p>
            <a:pPr marL="0" indent="0">
              <a:buNone/>
            </a:pPr>
            <a:r>
              <a:rPr lang="en-US" sz="2000" dirty="0">
                <a:solidFill>
                  <a:srgbClr val="00B0F0"/>
                </a:solidFill>
              </a:rPr>
              <a:t>26: </a:t>
            </a:r>
            <a:r>
              <a:rPr lang="en-US" sz="2000" dirty="0"/>
              <a:t>The </a:t>
            </a:r>
            <a:r>
              <a:rPr lang="en-US" sz="2000" dirty="0" err="1"/>
              <a:t>train_test_split</a:t>
            </a:r>
            <a:r>
              <a:rPr lang="en-US" sz="2000" dirty="0"/>
              <a:t> class takes as parameters; </a:t>
            </a:r>
          </a:p>
          <a:p>
            <a:r>
              <a:rPr lang="en-US" sz="2000" dirty="0"/>
              <a:t>an array of the training features (X) </a:t>
            </a:r>
          </a:p>
          <a:p>
            <a:r>
              <a:rPr lang="en-US" sz="2000" dirty="0"/>
              <a:t>an array of the target variable (y) </a:t>
            </a:r>
          </a:p>
          <a:p>
            <a:r>
              <a:rPr lang="en-US" sz="2000" dirty="0" err="1"/>
              <a:t>test_size</a:t>
            </a:r>
            <a:r>
              <a:rPr lang="en-US" sz="2000" dirty="0"/>
              <a:t> specifies the ratio of the </a:t>
            </a:r>
            <a:r>
              <a:rPr lang="en-US" sz="2000" dirty="0" err="1"/>
              <a:t>traning</a:t>
            </a:r>
            <a:r>
              <a:rPr lang="en-US" sz="2000" dirty="0"/>
              <a:t> data to the test data. In this case 0.2 means 20% of the overall dataset is reserved as the test data, and of course 80% is used as the training data. </a:t>
            </a:r>
          </a:p>
        </p:txBody>
      </p:sp>
      <p:pic>
        <p:nvPicPr>
          <p:cNvPr id="11" name="Content Placeholder 10">
            <a:extLst>
              <a:ext uri="{FF2B5EF4-FFF2-40B4-BE49-F238E27FC236}">
                <a16:creationId xmlns:a16="http://schemas.microsoft.com/office/drawing/2014/main" id="{62D91E33-5A8F-449F-B666-CC1FB8AD8CD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2" y="1825625"/>
            <a:ext cx="5861603" cy="3305855"/>
          </a:xfrm>
        </p:spPr>
      </p:pic>
    </p:spTree>
    <p:extLst>
      <p:ext uri="{BB962C8B-B14F-4D97-AF65-F5344CB8AC3E}">
        <p14:creationId xmlns:p14="http://schemas.microsoft.com/office/powerpoint/2010/main" val="42387141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6A18D-78D6-4A01-A142-7686C5F63527}"/>
              </a:ext>
            </a:extLst>
          </p:cNvPr>
          <p:cNvSpPr>
            <a:spLocks noGrp="1"/>
          </p:cNvSpPr>
          <p:nvPr>
            <p:ph type="title"/>
          </p:nvPr>
        </p:nvSpPr>
        <p:spPr/>
        <p:txBody>
          <a:bodyPr/>
          <a:lstStyle/>
          <a:p>
            <a:pPr algn="ctr"/>
            <a:r>
              <a:rPr lang="en-US" dirty="0"/>
              <a:t>Data Preprocessing </a:t>
            </a:r>
            <a:br>
              <a:rPr lang="en-US" dirty="0"/>
            </a:br>
            <a:r>
              <a:rPr lang="en-US" sz="3600" dirty="0"/>
              <a:t>Feature scaling </a:t>
            </a:r>
          </a:p>
        </p:txBody>
      </p:sp>
      <p:sp>
        <p:nvSpPr>
          <p:cNvPr id="3" name="Content Placeholder 2">
            <a:extLst>
              <a:ext uri="{FF2B5EF4-FFF2-40B4-BE49-F238E27FC236}">
                <a16:creationId xmlns:a16="http://schemas.microsoft.com/office/drawing/2014/main" id="{AE769C62-BD43-42AB-AA85-4BB6EBAB2176}"/>
              </a:ext>
            </a:extLst>
          </p:cNvPr>
          <p:cNvSpPr>
            <a:spLocks noGrp="1"/>
          </p:cNvSpPr>
          <p:nvPr>
            <p:ph sz="half" idx="1"/>
          </p:nvPr>
        </p:nvSpPr>
        <p:spPr>
          <a:xfrm>
            <a:off x="806668" y="1825625"/>
            <a:ext cx="5181600" cy="4351338"/>
          </a:xfrm>
        </p:spPr>
        <p:txBody>
          <a:bodyPr>
            <a:normAutofit/>
          </a:bodyPr>
          <a:lstStyle/>
          <a:p>
            <a:pPr marL="0" indent="0">
              <a:buNone/>
            </a:pPr>
            <a:r>
              <a:rPr lang="en-US" sz="2000" b="1" dirty="0"/>
              <a:t>Feature scaling </a:t>
            </a:r>
            <a:r>
              <a:rPr lang="en-US" sz="2000" dirty="0"/>
              <a:t>ensures that the training and test set values are scaled to a uniform range so that the learning algorithm does not place a higher precedence on larger numerical values.</a:t>
            </a:r>
            <a:endParaRPr lang="en-US" sz="2000" b="1" dirty="0"/>
          </a:p>
          <a:p>
            <a:pPr marL="0" indent="0">
              <a:buNone/>
            </a:pPr>
            <a:r>
              <a:rPr lang="en-US" sz="2000" dirty="0"/>
              <a:t>#Feature Scaling</a:t>
            </a:r>
          </a:p>
          <a:p>
            <a:pPr marL="0" indent="0">
              <a:buNone/>
            </a:pPr>
            <a:r>
              <a:rPr lang="en-US" sz="2000" dirty="0">
                <a:solidFill>
                  <a:srgbClr val="00B0F0"/>
                </a:solidFill>
              </a:rPr>
              <a:t>29: </a:t>
            </a:r>
            <a:r>
              <a:rPr lang="en-US" sz="2000" dirty="0"/>
              <a:t>Import the </a:t>
            </a:r>
            <a:r>
              <a:rPr lang="en-US" sz="2000" dirty="0" err="1"/>
              <a:t>StandardScaler</a:t>
            </a:r>
            <a:endParaRPr lang="en-US" sz="2000" dirty="0"/>
          </a:p>
          <a:p>
            <a:pPr marL="0" indent="0">
              <a:buNone/>
            </a:pPr>
            <a:r>
              <a:rPr lang="en-US" sz="2000" dirty="0">
                <a:solidFill>
                  <a:srgbClr val="00B0F0"/>
                </a:solidFill>
              </a:rPr>
              <a:t>30: </a:t>
            </a:r>
            <a:r>
              <a:rPr lang="en-US" sz="2000" dirty="0"/>
              <a:t>Create object of the </a:t>
            </a:r>
            <a:r>
              <a:rPr lang="en-US" sz="2000" dirty="0" err="1"/>
              <a:t>StandardScaler</a:t>
            </a:r>
            <a:r>
              <a:rPr lang="en-US" sz="2000" dirty="0"/>
              <a:t> class</a:t>
            </a:r>
          </a:p>
          <a:p>
            <a:pPr marL="0" indent="0">
              <a:buNone/>
            </a:pPr>
            <a:r>
              <a:rPr lang="en-US" sz="2000" dirty="0">
                <a:solidFill>
                  <a:srgbClr val="00B0F0"/>
                </a:solidFill>
              </a:rPr>
              <a:t>31: </a:t>
            </a:r>
            <a:r>
              <a:rPr lang="en-US" sz="2000" dirty="0"/>
              <a:t>Fit and scale the training data using ‘</a:t>
            </a:r>
            <a:r>
              <a:rPr lang="en-US" sz="2000" dirty="0" err="1"/>
              <a:t>fit_transform</a:t>
            </a:r>
            <a:r>
              <a:rPr lang="en-US" sz="2000" dirty="0"/>
              <a:t>’</a:t>
            </a:r>
          </a:p>
          <a:p>
            <a:pPr marL="0" indent="0">
              <a:buNone/>
            </a:pPr>
            <a:r>
              <a:rPr lang="en-US" sz="2000" dirty="0">
                <a:solidFill>
                  <a:srgbClr val="00B0F0"/>
                </a:solidFill>
              </a:rPr>
              <a:t>32: </a:t>
            </a:r>
            <a:r>
              <a:rPr lang="en-US" sz="2000" dirty="0"/>
              <a:t>Scale the test data using the same object instance and the ‘transform’ method so that both training and test set are scaled uniformly.</a:t>
            </a:r>
          </a:p>
        </p:txBody>
      </p:sp>
      <p:pic>
        <p:nvPicPr>
          <p:cNvPr id="7" name="Content Placeholder 6">
            <a:extLst>
              <a:ext uri="{FF2B5EF4-FFF2-40B4-BE49-F238E27FC236}">
                <a16:creationId xmlns:a16="http://schemas.microsoft.com/office/drawing/2014/main" id="{9C12667C-652E-47B1-AC64-6EDBF57FB2F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746695" y="1868898"/>
            <a:ext cx="5914677" cy="1676428"/>
          </a:xfrm>
        </p:spPr>
      </p:pic>
    </p:spTree>
    <p:extLst>
      <p:ext uri="{BB962C8B-B14F-4D97-AF65-F5344CB8AC3E}">
        <p14:creationId xmlns:p14="http://schemas.microsoft.com/office/powerpoint/2010/main" val="22225532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0D767-B5F3-4902-902B-2DB117196A15}"/>
              </a:ext>
            </a:extLst>
          </p:cNvPr>
          <p:cNvSpPr>
            <a:spLocks noGrp="1"/>
          </p:cNvSpPr>
          <p:nvPr>
            <p:ph type="title"/>
          </p:nvPr>
        </p:nvSpPr>
        <p:spPr/>
        <p:txBody>
          <a:bodyPr/>
          <a:lstStyle/>
          <a:p>
            <a:pPr algn="ctr"/>
            <a:r>
              <a:rPr lang="en-US" dirty="0"/>
              <a:t>Data preprocessing</a:t>
            </a:r>
            <a:br>
              <a:rPr lang="en-US" dirty="0"/>
            </a:br>
            <a:r>
              <a:rPr lang="en-US" sz="3200" dirty="0"/>
              <a:t>(Recap)</a:t>
            </a:r>
          </a:p>
        </p:txBody>
      </p:sp>
      <p:sp>
        <p:nvSpPr>
          <p:cNvPr id="3" name="Content Placeholder 2">
            <a:extLst>
              <a:ext uri="{FF2B5EF4-FFF2-40B4-BE49-F238E27FC236}">
                <a16:creationId xmlns:a16="http://schemas.microsoft.com/office/drawing/2014/main" id="{7EAA8B42-6E8F-4776-A445-64CFCF6BD642}"/>
              </a:ext>
            </a:extLst>
          </p:cNvPr>
          <p:cNvSpPr>
            <a:spLocks noGrp="1"/>
          </p:cNvSpPr>
          <p:nvPr>
            <p:ph idx="1"/>
          </p:nvPr>
        </p:nvSpPr>
        <p:spPr/>
        <p:txBody>
          <a:bodyPr>
            <a:normAutofit/>
          </a:bodyPr>
          <a:lstStyle/>
          <a:p>
            <a:pPr marL="0" indent="0">
              <a:buNone/>
            </a:pPr>
            <a:r>
              <a:rPr lang="en-US" sz="2000" dirty="0"/>
              <a:t>Data preprocessing prepares our dataset before we feed it to the learning algorithm. In general the following are key data preprocessing practices;</a:t>
            </a:r>
          </a:p>
          <a:p>
            <a:r>
              <a:rPr lang="en-US" sz="2000" dirty="0"/>
              <a:t>Feature engineering</a:t>
            </a:r>
          </a:p>
          <a:p>
            <a:r>
              <a:rPr lang="en-US" sz="2000" dirty="0"/>
              <a:t>Label encoding and One-hot-encoding</a:t>
            </a:r>
          </a:p>
          <a:p>
            <a:r>
              <a:rPr lang="en-US" sz="2000" dirty="0"/>
              <a:t>Feature scaling (Standardization or Normalization)</a:t>
            </a:r>
          </a:p>
          <a:p>
            <a:r>
              <a:rPr lang="en-US" sz="2000" dirty="0"/>
              <a:t> Cross validation (Separating the training and test set)</a:t>
            </a:r>
          </a:p>
          <a:p>
            <a:pPr marL="0" indent="0">
              <a:buNone/>
            </a:pPr>
            <a:r>
              <a:rPr lang="en-US" sz="2000" dirty="0"/>
              <a:t>Other data preprocessing techniques exist for Computer vision and Natural language processing (NLP) machine learning problems.</a:t>
            </a:r>
          </a:p>
        </p:txBody>
      </p:sp>
    </p:spTree>
    <p:extLst>
      <p:ext uri="{BB962C8B-B14F-4D97-AF65-F5344CB8AC3E}">
        <p14:creationId xmlns:p14="http://schemas.microsoft.com/office/powerpoint/2010/main" val="1311851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6A3E3-F45C-4E27-B29B-29C83FAF82AD}"/>
              </a:ext>
            </a:extLst>
          </p:cNvPr>
          <p:cNvSpPr>
            <a:spLocks noGrp="1"/>
          </p:cNvSpPr>
          <p:nvPr>
            <p:ph type="title"/>
          </p:nvPr>
        </p:nvSpPr>
        <p:spPr/>
        <p:txBody>
          <a:bodyPr/>
          <a:lstStyle/>
          <a:p>
            <a:pPr algn="ctr"/>
            <a:r>
              <a:rPr lang="en-US" dirty="0"/>
              <a:t>Building the ANN</a:t>
            </a:r>
          </a:p>
        </p:txBody>
      </p:sp>
      <p:pic>
        <p:nvPicPr>
          <p:cNvPr id="5" name="Content Placeholder 4">
            <a:extLst>
              <a:ext uri="{FF2B5EF4-FFF2-40B4-BE49-F238E27FC236}">
                <a16:creationId xmlns:a16="http://schemas.microsoft.com/office/drawing/2014/main" id="{7D16DCE1-3385-4A5F-9349-465F47F465B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26059" y="1795644"/>
            <a:ext cx="5139882" cy="4035529"/>
          </a:xfrm>
        </p:spPr>
      </p:pic>
      <p:sp>
        <p:nvSpPr>
          <p:cNvPr id="6" name="TextBox 5">
            <a:extLst>
              <a:ext uri="{FF2B5EF4-FFF2-40B4-BE49-F238E27FC236}">
                <a16:creationId xmlns:a16="http://schemas.microsoft.com/office/drawing/2014/main" id="{2A688D52-B307-4527-A891-AA02B7C11FBD}"/>
              </a:ext>
            </a:extLst>
          </p:cNvPr>
          <p:cNvSpPr txBox="1"/>
          <p:nvPr/>
        </p:nvSpPr>
        <p:spPr>
          <a:xfrm>
            <a:off x="3312826" y="5936129"/>
            <a:ext cx="5830763" cy="369332"/>
          </a:xfrm>
          <a:prstGeom prst="rect">
            <a:avLst/>
          </a:prstGeom>
          <a:noFill/>
        </p:spPr>
        <p:txBody>
          <a:bodyPr wrap="none" rtlCol="0">
            <a:spAutoFit/>
          </a:bodyPr>
          <a:lstStyle/>
          <a:p>
            <a:r>
              <a:rPr lang="en-US" dirty="0"/>
              <a:t>We’ll be building a four layer deep artificial neural network</a:t>
            </a:r>
          </a:p>
        </p:txBody>
      </p:sp>
    </p:spTree>
    <p:extLst>
      <p:ext uri="{BB962C8B-B14F-4D97-AF65-F5344CB8AC3E}">
        <p14:creationId xmlns:p14="http://schemas.microsoft.com/office/powerpoint/2010/main" val="35282789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6A18D-78D6-4A01-A142-7686C5F63527}"/>
              </a:ext>
            </a:extLst>
          </p:cNvPr>
          <p:cNvSpPr>
            <a:spLocks noGrp="1"/>
          </p:cNvSpPr>
          <p:nvPr>
            <p:ph type="title"/>
          </p:nvPr>
        </p:nvSpPr>
        <p:spPr/>
        <p:txBody>
          <a:bodyPr/>
          <a:lstStyle/>
          <a:p>
            <a:pPr algn="ctr"/>
            <a:r>
              <a:rPr lang="en-US" dirty="0"/>
              <a:t>Building the ANN</a:t>
            </a:r>
            <a:endParaRPr lang="en-US" sz="3600" dirty="0"/>
          </a:p>
        </p:txBody>
      </p:sp>
      <p:sp>
        <p:nvSpPr>
          <p:cNvPr id="3" name="Content Placeholder 2">
            <a:extLst>
              <a:ext uri="{FF2B5EF4-FFF2-40B4-BE49-F238E27FC236}">
                <a16:creationId xmlns:a16="http://schemas.microsoft.com/office/drawing/2014/main" id="{AE769C62-BD43-42AB-AA85-4BB6EBAB2176}"/>
              </a:ext>
            </a:extLst>
          </p:cNvPr>
          <p:cNvSpPr>
            <a:spLocks noGrp="1"/>
          </p:cNvSpPr>
          <p:nvPr>
            <p:ph sz="half" idx="1"/>
          </p:nvPr>
        </p:nvSpPr>
        <p:spPr>
          <a:xfrm>
            <a:off x="806668" y="1825625"/>
            <a:ext cx="5181600" cy="4351338"/>
          </a:xfrm>
        </p:spPr>
        <p:txBody>
          <a:bodyPr>
            <a:normAutofit/>
          </a:bodyPr>
          <a:lstStyle/>
          <a:p>
            <a:pPr marL="0" indent="0">
              <a:buNone/>
            </a:pPr>
            <a:r>
              <a:rPr lang="en-US" sz="2000" dirty="0"/>
              <a:t>#Importing the Keras libraries and packages</a:t>
            </a:r>
          </a:p>
          <a:p>
            <a:pPr marL="0" indent="0">
              <a:buNone/>
            </a:pPr>
            <a:r>
              <a:rPr lang="en-US" sz="2000" dirty="0">
                <a:solidFill>
                  <a:srgbClr val="00B0F0"/>
                </a:solidFill>
              </a:rPr>
              <a:t>38: </a:t>
            </a:r>
            <a:r>
              <a:rPr lang="en-US" sz="2000" dirty="0"/>
              <a:t>Import the Sequential API from </a:t>
            </a:r>
            <a:r>
              <a:rPr lang="en-US" sz="2000" dirty="0" err="1"/>
              <a:t>Keras.models</a:t>
            </a:r>
            <a:r>
              <a:rPr lang="en-US" sz="2000" dirty="0"/>
              <a:t>. This enables us build the neural network graph by adding the layers (and its properties) sequentially, one of after the other. </a:t>
            </a:r>
          </a:p>
          <a:p>
            <a:pPr marL="0" indent="0">
              <a:buNone/>
            </a:pPr>
            <a:r>
              <a:rPr lang="en-US" sz="2000" dirty="0">
                <a:solidFill>
                  <a:srgbClr val="00B0F0"/>
                </a:solidFill>
              </a:rPr>
              <a:t>39: </a:t>
            </a:r>
            <a:r>
              <a:rPr lang="en-US" sz="2000" dirty="0"/>
              <a:t>Import the Dense class, this will enable us build fully connected layers where all the nodes are linked to each other. </a:t>
            </a:r>
          </a:p>
          <a:p>
            <a:pPr marL="0" indent="0">
              <a:buNone/>
            </a:pPr>
            <a:endParaRPr lang="en-US" sz="2000" dirty="0"/>
          </a:p>
          <a:p>
            <a:pPr marL="0" indent="0">
              <a:buNone/>
            </a:pPr>
            <a:r>
              <a:rPr lang="en-US" sz="2000" dirty="0">
                <a:hlinkClick r:id="rId2"/>
              </a:rPr>
              <a:t>Keras Documentation</a:t>
            </a:r>
            <a:endParaRPr lang="en-US" sz="2000" dirty="0"/>
          </a:p>
        </p:txBody>
      </p:sp>
      <p:pic>
        <p:nvPicPr>
          <p:cNvPr id="8" name="Content Placeholder 7">
            <a:extLst>
              <a:ext uri="{FF2B5EF4-FFF2-40B4-BE49-F238E27FC236}">
                <a16:creationId xmlns:a16="http://schemas.microsoft.com/office/drawing/2014/main" id="{E58ED7C6-70ED-44EF-B611-8A503FCA4313}"/>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859846" y="1825625"/>
            <a:ext cx="5957968" cy="2034108"/>
          </a:xfrm>
        </p:spPr>
      </p:pic>
    </p:spTree>
    <p:extLst>
      <p:ext uri="{BB962C8B-B14F-4D97-AF65-F5344CB8AC3E}">
        <p14:creationId xmlns:p14="http://schemas.microsoft.com/office/powerpoint/2010/main" val="9065961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6A18D-78D6-4A01-A142-7686C5F63527}"/>
              </a:ext>
            </a:extLst>
          </p:cNvPr>
          <p:cNvSpPr>
            <a:spLocks noGrp="1"/>
          </p:cNvSpPr>
          <p:nvPr>
            <p:ph type="title"/>
          </p:nvPr>
        </p:nvSpPr>
        <p:spPr/>
        <p:txBody>
          <a:bodyPr/>
          <a:lstStyle/>
          <a:p>
            <a:pPr algn="ctr"/>
            <a:r>
              <a:rPr lang="en-US" dirty="0"/>
              <a:t>Building the ANN</a:t>
            </a:r>
            <a:endParaRPr lang="en-US" sz="3600" dirty="0"/>
          </a:p>
        </p:txBody>
      </p:sp>
      <p:sp>
        <p:nvSpPr>
          <p:cNvPr id="3" name="Content Placeholder 2">
            <a:extLst>
              <a:ext uri="{FF2B5EF4-FFF2-40B4-BE49-F238E27FC236}">
                <a16:creationId xmlns:a16="http://schemas.microsoft.com/office/drawing/2014/main" id="{AE769C62-BD43-42AB-AA85-4BB6EBAB2176}"/>
              </a:ext>
            </a:extLst>
          </p:cNvPr>
          <p:cNvSpPr>
            <a:spLocks noGrp="1"/>
          </p:cNvSpPr>
          <p:nvPr>
            <p:ph sz="half" idx="1"/>
          </p:nvPr>
        </p:nvSpPr>
        <p:spPr>
          <a:xfrm>
            <a:off x="806668" y="1825625"/>
            <a:ext cx="5181600" cy="4351338"/>
          </a:xfrm>
        </p:spPr>
        <p:txBody>
          <a:bodyPr>
            <a:normAutofit/>
          </a:bodyPr>
          <a:lstStyle/>
          <a:p>
            <a:pPr marL="0" indent="0">
              <a:buNone/>
            </a:pPr>
            <a:r>
              <a:rPr lang="en-US" sz="1800" dirty="0"/>
              <a:t>#Adding the input layer and first hidden layer</a:t>
            </a:r>
          </a:p>
          <a:p>
            <a:pPr marL="0" indent="0">
              <a:buNone/>
            </a:pPr>
            <a:r>
              <a:rPr lang="en-US" sz="1800" dirty="0">
                <a:solidFill>
                  <a:srgbClr val="00B0F0"/>
                </a:solidFill>
              </a:rPr>
              <a:t>42: </a:t>
            </a:r>
            <a:r>
              <a:rPr lang="en-US" sz="1800" dirty="0"/>
              <a:t>Initialize the Sequential class by creating an object instance. We name it classifier because we are building a classifier.</a:t>
            </a:r>
          </a:p>
          <a:p>
            <a:pPr marL="0" indent="0">
              <a:buNone/>
            </a:pPr>
            <a:r>
              <a:rPr lang="en-US" sz="1800" dirty="0">
                <a:solidFill>
                  <a:srgbClr val="00B0F0"/>
                </a:solidFill>
              </a:rPr>
              <a:t>45: </a:t>
            </a:r>
            <a:r>
              <a:rPr lang="en-US" sz="1800" dirty="0"/>
              <a:t>You can use the add() method to each layer. Then we use the Dense class to structure the layer. The parameters are;</a:t>
            </a:r>
          </a:p>
          <a:p>
            <a:r>
              <a:rPr lang="en-US" sz="1800" dirty="0"/>
              <a:t>Units: the number of nodes in the layer</a:t>
            </a:r>
          </a:p>
          <a:p>
            <a:r>
              <a:rPr lang="en-US" sz="1800" dirty="0" err="1"/>
              <a:t>Kernel_initializer</a:t>
            </a:r>
            <a:r>
              <a:rPr lang="en-US" sz="1800" dirty="0"/>
              <a:t>: Set the initial random weights of the Keras layer</a:t>
            </a:r>
          </a:p>
          <a:p>
            <a:r>
              <a:rPr lang="en-US" sz="1800" dirty="0"/>
              <a:t>Activation: the activation function for the nodes</a:t>
            </a:r>
          </a:p>
          <a:p>
            <a:r>
              <a:rPr lang="en-US" sz="1800" dirty="0" err="1"/>
              <a:t>Input_dim</a:t>
            </a:r>
            <a:r>
              <a:rPr lang="en-US" sz="1800" dirty="0"/>
              <a:t>: The number of input nodes to the layer (Only defined for the first hidden layer).</a:t>
            </a:r>
          </a:p>
        </p:txBody>
      </p:sp>
      <p:pic>
        <p:nvPicPr>
          <p:cNvPr id="7" name="Content Placeholder 6">
            <a:extLst>
              <a:ext uri="{FF2B5EF4-FFF2-40B4-BE49-F238E27FC236}">
                <a16:creationId xmlns:a16="http://schemas.microsoft.com/office/drawing/2014/main" id="{580168D3-50F9-485B-AF56-FBD6CFD282F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842416" y="1825625"/>
            <a:ext cx="6164265" cy="3540879"/>
          </a:xfrm>
        </p:spPr>
      </p:pic>
    </p:spTree>
    <p:extLst>
      <p:ext uri="{BB962C8B-B14F-4D97-AF65-F5344CB8AC3E}">
        <p14:creationId xmlns:p14="http://schemas.microsoft.com/office/powerpoint/2010/main" val="31757807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6A18D-78D6-4A01-A142-7686C5F63527}"/>
              </a:ext>
            </a:extLst>
          </p:cNvPr>
          <p:cNvSpPr>
            <a:spLocks noGrp="1"/>
          </p:cNvSpPr>
          <p:nvPr>
            <p:ph type="title"/>
          </p:nvPr>
        </p:nvSpPr>
        <p:spPr/>
        <p:txBody>
          <a:bodyPr/>
          <a:lstStyle/>
          <a:p>
            <a:pPr algn="ctr"/>
            <a:r>
              <a:rPr lang="en-US" dirty="0"/>
              <a:t>Building the ANN</a:t>
            </a:r>
            <a:endParaRPr lang="en-US" sz="3600" dirty="0"/>
          </a:p>
        </p:txBody>
      </p:sp>
      <p:sp>
        <p:nvSpPr>
          <p:cNvPr id="3" name="Content Placeholder 2">
            <a:extLst>
              <a:ext uri="{FF2B5EF4-FFF2-40B4-BE49-F238E27FC236}">
                <a16:creationId xmlns:a16="http://schemas.microsoft.com/office/drawing/2014/main" id="{AE769C62-BD43-42AB-AA85-4BB6EBAB2176}"/>
              </a:ext>
            </a:extLst>
          </p:cNvPr>
          <p:cNvSpPr>
            <a:spLocks noGrp="1"/>
          </p:cNvSpPr>
          <p:nvPr>
            <p:ph sz="half" idx="1"/>
          </p:nvPr>
        </p:nvSpPr>
        <p:spPr>
          <a:xfrm>
            <a:off x="806668" y="1825625"/>
            <a:ext cx="5181600" cy="4351338"/>
          </a:xfrm>
        </p:spPr>
        <p:txBody>
          <a:bodyPr>
            <a:normAutofit/>
          </a:bodyPr>
          <a:lstStyle/>
          <a:p>
            <a:pPr marL="0" indent="0">
              <a:buNone/>
            </a:pPr>
            <a:r>
              <a:rPr lang="en-US" sz="1800" dirty="0"/>
              <a:t>#Adding the second hidden layer</a:t>
            </a:r>
          </a:p>
          <a:p>
            <a:pPr marL="0" indent="0">
              <a:buNone/>
            </a:pPr>
            <a:r>
              <a:rPr lang="en-US" sz="1800" dirty="0">
                <a:solidFill>
                  <a:srgbClr val="00B0F0"/>
                </a:solidFill>
              </a:rPr>
              <a:t>48: </a:t>
            </a:r>
            <a:r>
              <a:rPr lang="en-US" sz="1800" dirty="0"/>
              <a:t>Use the add() method again, to add the second hidden layer. The parameters used are the same as the first hidden layer except for the ‘</a:t>
            </a:r>
            <a:r>
              <a:rPr lang="en-US" sz="1800" dirty="0" err="1"/>
              <a:t>input_dim</a:t>
            </a:r>
            <a:r>
              <a:rPr lang="en-US" sz="1800" dirty="0"/>
              <a:t>’ parameter. </a:t>
            </a:r>
          </a:p>
          <a:p>
            <a:pPr marL="0" indent="0">
              <a:buNone/>
            </a:pPr>
            <a:r>
              <a:rPr lang="en-US" sz="1800" dirty="0"/>
              <a:t>#Adding the output layer</a:t>
            </a:r>
          </a:p>
          <a:p>
            <a:pPr marL="0" indent="0">
              <a:buNone/>
            </a:pPr>
            <a:r>
              <a:rPr lang="en-US" sz="1800" dirty="0">
                <a:solidFill>
                  <a:srgbClr val="00B0F0"/>
                </a:solidFill>
              </a:rPr>
              <a:t>45: </a:t>
            </a:r>
            <a:r>
              <a:rPr lang="en-US" sz="1800" dirty="0"/>
              <a:t>Finally we add the output layer. The output layer has only one node, and we use the sigmoid function for the classification task.</a:t>
            </a:r>
          </a:p>
        </p:txBody>
      </p:sp>
      <p:pic>
        <p:nvPicPr>
          <p:cNvPr id="8" name="Content Placeholder 7">
            <a:extLst>
              <a:ext uri="{FF2B5EF4-FFF2-40B4-BE49-F238E27FC236}">
                <a16:creationId xmlns:a16="http://schemas.microsoft.com/office/drawing/2014/main" id="{DE2E5F59-9C45-4C4C-B002-97F7BB15D31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96000" y="1825625"/>
            <a:ext cx="5566840" cy="3263868"/>
          </a:xfrm>
        </p:spPr>
      </p:pic>
    </p:spTree>
    <p:extLst>
      <p:ext uri="{BB962C8B-B14F-4D97-AF65-F5344CB8AC3E}">
        <p14:creationId xmlns:p14="http://schemas.microsoft.com/office/powerpoint/2010/main" val="10744713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6A18D-78D6-4A01-A142-7686C5F63527}"/>
              </a:ext>
            </a:extLst>
          </p:cNvPr>
          <p:cNvSpPr>
            <a:spLocks noGrp="1"/>
          </p:cNvSpPr>
          <p:nvPr>
            <p:ph type="title"/>
          </p:nvPr>
        </p:nvSpPr>
        <p:spPr/>
        <p:txBody>
          <a:bodyPr/>
          <a:lstStyle/>
          <a:p>
            <a:pPr algn="ctr"/>
            <a:r>
              <a:rPr lang="en-US" dirty="0"/>
              <a:t>Building the ANN</a:t>
            </a:r>
            <a:endParaRPr lang="en-US" sz="3600" dirty="0"/>
          </a:p>
        </p:txBody>
      </p:sp>
      <p:sp>
        <p:nvSpPr>
          <p:cNvPr id="3" name="Content Placeholder 2">
            <a:extLst>
              <a:ext uri="{FF2B5EF4-FFF2-40B4-BE49-F238E27FC236}">
                <a16:creationId xmlns:a16="http://schemas.microsoft.com/office/drawing/2014/main" id="{AE769C62-BD43-42AB-AA85-4BB6EBAB2176}"/>
              </a:ext>
            </a:extLst>
          </p:cNvPr>
          <p:cNvSpPr>
            <a:spLocks noGrp="1"/>
          </p:cNvSpPr>
          <p:nvPr>
            <p:ph sz="half" idx="1"/>
          </p:nvPr>
        </p:nvSpPr>
        <p:spPr>
          <a:xfrm>
            <a:off x="806668" y="1825625"/>
            <a:ext cx="5181600" cy="4351338"/>
          </a:xfrm>
        </p:spPr>
        <p:txBody>
          <a:bodyPr>
            <a:normAutofit/>
          </a:bodyPr>
          <a:lstStyle/>
          <a:p>
            <a:pPr marL="0" indent="0">
              <a:buNone/>
            </a:pPr>
            <a:r>
              <a:rPr lang="en-US" sz="1800" dirty="0"/>
              <a:t>#Compiling the ANN</a:t>
            </a:r>
          </a:p>
          <a:p>
            <a:pPr marL="0" indent="0">
              <a:buNone/>
            </a:pPr>
            <a:r>
              <a:rPr lang="en-US" sz="1800" dirty="0"/>
              <a:t>Use the compile() method to configure the network for training. </a:t>
            </a:r>
          </a:p>
          <a:p>
            <a:pPr marL="0" indent="0">
              <a:buNone/>
            </a:pPr>
            <a:r>
              <a:rPr lang="en-US" sz="1800" dirty="0">
                <a:solidFill>
                  <a:srgbClr val="00B0F0"/>
                </a:solidFill>
              </a:rPr>
              <a:t>48: </a:t>
            </a:r>
            <a:r>
              <a:rPr lang="en-US" sz="1800" dirty="0"/>
              <a:t>The parameters for the compile() method used are;</a:t>
            </a:r>
          </a:p>
          <a:p>
            <a:r>
              <a:rPr lang="en-US" sz="1800" dirty="0"/>
              <a:t>optimizer: an instance of the gradient descent optimizer</a:t>
            </a:r>
          </a:p>
          <a:p>
            <a:r>
              <a:rPr lang="en-US" sz="1800" dirty="0"/>
              <a:t>loss: The cost function or objective function for the network</a:t>
            </a:r>
          </a:p>
          <a:p>
            <a:r>
              <a:rPr lang="en-US" sz="1800" dirty="0"/>
              <a:t>metric: List of metrics to be evaluated by model during the training and testing.</a:t>
            </a:r>
          </a:p>
        </p:txBody>
      </p:sp>
      <p:pic>
        <p:nvPicPr>
          <p:cNvPr id="7" name="Content Placeholder 6">
            <a:extLst>
              <a:ext uri="{FF2B5EF4-FFF2-40B4-BE49-F238E27FC236}">
                <a16:creationId xmlns:a16="http://schemas.microsoft.com/office/drawing/2014/main" id="{7A9825CE-8A8C-4B9A-9EC9-8B1F1E0AF31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96000" y="1826058"/>
            <a:ext cx="5700010" cy="3525490"/>
          </a:xfrm>
        </p:spPr>
      </p:pic>
    </p:spTree>
    <p:extLst>
      <p:ext uri="{BB962C8B-B14F-4D97-AF65-F5344CB8AC3E}">
        <p14:creationId xmlns:p14="http://schemas.microsoft.com/office/powerpoint/2010/main" val="40561357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6A18D-78D6-4A01-A142-7686C5F63527}"/>
              </a:ext>
            </a:extLst>
          </p:cNvPr>
          <p:cNvSpPr>
            <a:spLocks noGrp="1"/>
          </p:cNvSpPr>
          <p:nvPr>
            <p:ph type="title"/>
          </p:nvPr>
        </p:nvSpPr>
        <p:spPr/>
        <p:txBody>
          <a:bodyPr>
            <a:normAutofit/>
          </a:bodyPr>
          <a:lstStyle/>
          <a:p>
            <a:pPr algn="ctr"/>
            <a:r>
              <a:rPr lang="en-US" dirty="0"/>
              <a:t>Training the ANN</a:t>
            </a:r>
          </a:p>
        </p:txBody>
      </p:sp>
      <p:sp>
        <p:nvSpPr>
          <p:cNvPr id="3" name="Content Placeholder 2">
            <a:extLst>
              <a:ext uri="{FF2B5EF4-FFF2-40B4-BE49-F238E27FC236}">
                <a16:creationId xmlns:a16="http://schemas.microsoft.com/office/drawing/2014/main" id="{AE769C62-BD43-42AB-AA85-4BB6EBAB2176}"/>
              </a:ext>
            </a:extLst>
          </p:cNvPr>
          <p:cNvSpPr>
            <a:spLocks noGrp="1"/>
          </p:cNvSpPr>
          <p:nvPr>
            <p:ph sz="half" idx="1"/>
          </p:nvPr>
        </p:nvSpPr>
        <p:spPr>
          <a:xfrm>
            <a:off x="806668" y="1825625"/>
            <a:ext cx="5181600" cy="4351338"/>
          </a:xfrm>
        </p:spPr>
        <p:txBody>
          <a:bodyPr>
            <a:normAutofit/>
          </a:bodyPr>
          <a:lstStyle/>
          <a:p>
            <a:pPr marL="0" indent="0">
              <a:buNone/>
            </a:pPr>
            <a:r>
              <a:rPr lang="en-US" sz="1800" dirty="0"/>
              <a:t>#Training the ANN</a:t>
            </a:r>
          </a:p>
          <a:p>
            <a:pPr marL="0" indent="0">
              <a:buNone/>
            </a:pPr>
            <a:r>
              <a:rPr lang="en-US" sz="1800" dirty="0"/>
              <a:t>When we train a machine learning model, we ‘fit’ the model to the training data. </a:t>
            </a:r>
          </a:p>
          <a:p>
            <a:pPr marL="0" indent="0">
              <a:buNone/>
            </a:pPr>
            <a:r>
              <a:rPr lang="en-US" sz="1800" dirty="0"/>
              <a:t>Use the fit() method to train the model</a:t>
            </a:r>
          </a:p>
          <a:p>
            <a:pPr marL="0" indent="0">
              <a:buNone/>
            </a:pPr>
            <a:r>
              <a:rPr lang="en-US" sz="1800" dirty="0">
                <a:solidFill>
                  <a:srgbClr val="00B0F0"/>
                </a:solidFill>
              </a:rPr>
              <a:t>48: </a:t>
            </a:r>
            <a:r>
              <a:rPr lang="en-US" sz="1800" dirty="0"/>
              <a:t>The parameters for the fit() method used are;</a:t>
            </a:r>
          </a:p>
          <a:p>
            <a:r>
              <a:rPr lang="en-US" sz="1800" dirty="0"/>
              <a:t>X: </a:t>
            </a:r>
            <a:r>
              <a:rPr lang="en-US" sz="1800" dirty="0" err="1"/>
              <a:t>Numpy</a:t>
            </a:r>
            <a:r>
              <a:rPr lang="en-US" sz="1800" dirty="0"/>
              <a:t> array of training data </a:t>
            </a:r>
          </a:p>
          <a:p>
            <a:r>
              <a:rPr lang="en-US" sz="1800" dirty="0"/>
              <a:t>Y: </a:t>
            </a:r>
            <a:r>
              <a:rPr lang="en-US" sz="1800" dirty="0" err="1"/>
              <a:t>Numpy</a:t>
            </a:r>
            <a:r>
              <a:rPr lang="en-US" sz="1800" dirty="0"/>
              <a:t> array of target data</a:t>
            </a:r>
          </a:p>
          <a:p>
            <a:r>
              <a:rPr lang="en-US" sz="1800" dirty="0" err="1"/>
              <a:t>batch_size</a:t>
            </a:r>
            <a:r>
              <a:rPr lang="en-US" sz="1800" dirty="0"/>
              <a:t>: Number of samples per gradient update</a:t>
            </a:r>
          </a:p>
          <a:p>
            <a:r>
              <a:rPr lang="en-US" sz="1800" dirty="0"/>
              <a:t>epochs: an epoch is the number of iterations over the entire X and Y data. This parameter specifies the number of epochs to train the model.</a:t>
            </a:r>
          </a:p>
        </p:txBody>
      </p:sp>
      <p:pic>
        <p:nvPicPr>
          <p:cNvPr id="7" name="Content Placeholder 6">
            <a:extLst>
              <a:ext uri="{FF2B5EF4-FFF2-40B4-BE49-F238E27FC236}">
                <a16:creationId xmlns:a16="http://schemas.microsoft.com/office/drawing/2014/main" id="{D2C41B11-046E-4A5C-B0EE-9D469B2F6BD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199" y="1690688"/>
            <a:ext cx="5473229" cy="3375987"/>
          </a:xfrm>
        </p:spPr>
      </p:pic>
    </p:spTree>
    <p:extLst>
      <p:ext uri="{BB962C8B-B14F-4D97-AF65-F5344CB8AC3E}">
        <p14:creationId xmlns:p14="http://schemas.microsoft.com/office/powerpoint/2010/main" val="42756542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6A18D-78D6-4A01-A142-7686C5F63527}"/>
              </a:ext>
            </a:extLst>
          </p:cNvPr>
          <p:cNvSpPr>
            <a:spLocks noGrp="1"/>
          </p:cNvSpPr>
          <p:nvPr>
            <p:ph type="title"/>
          </p:nvPr>
        </p:nvSpPr>
        <p:spPr/>
        <p:txBody>
          <a:bodyPr/>
          <a:lstStyle/>
          <a:p>
            <a:pPr algn="ctr"/>
            <a:r>
              <a:rPr lang="en-US" dirty="0"/>
              <a:t>Training the ANN</a:t>
            </a:r>
            <a:endParaRPr lang="en-US" sz="3600" dirty="0"/>
          </a:p>
        </p:txBody>
      </p:sp>
      <p:sp>
        <p:nvSpPr>
          <p:cNvPr id="3" name="TextBox 2">
            <a:extLst>
              <a:ext uri="{FF2B5EF4-FFF2-40B4-BE49-F238E27FC236}">
                <a16:creationId xmlns:a16="http://schemas.microsoft.com/office/drawing/2014/main" id="{7A7328EC-5BB8-4880-8D21-3D74D3F25A7C}"/>
              </a:ext>
            </a:extLst>
          </p:cNvPr>
          <p:cNvSpPr txBox="1"/>
          <p:nvPr/>
        </p:nvSpPr>
        <p:spPr>
          <a:xfrm>
            <a:off x="2490332" y="5386611"/>
            <a:ext cx="7211333" cy="369332"/>
          </a:xfrm>
          <a:prstGeom prst="rect">
            <a:avLst/>
          </a:prstGeom>
          <a:noFill/>
        </p:spPr>
        <p:txBody>
          <a:bodyPr wrap="none" rtlCol="0">
            <a:spAutoFit/>
          </a:bodyPr>
          <a:lstStyle/>
          <a:p>
            <a:r>
              <a:rPr lang="en-US" dirty="0"/>
              <a:t>Screenshot of the training procedure showing the epoch, loss and accuracy</a:t>
            </a:r>
          </a:p>
        </p:txBody>
      </p:sp>
      <p:pic>
        <p:nvPicPr>
          <p:cNvPr id="8" name="Content Placeholder 7">
            <a:extLst>
              <a:ext uri="{FF2B5EF4-FFF2-40B4-BE49-F238E27FC236}">
                <a16:creationId xmlns:a16="http://schemas.microsoft.com/office/drawing/2014/main" id="{8284E74F-7D6F-4180-A9A4-EF7BA77B49F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7405" y="2007111"/>
            <a:ext cx="7104260" cy="2843777"/>
          </a:xfrm>
        </p:spPr>
      </p:pic>
    </p:spTree>
    <p:extLst>
      <p:ext uri="{BB962C8B-B14F-4D97-AF65-F5344CB8AC3E}">
        <p14:creationId xmlns:p14="http://schemas.microsoft.com/office/powerpoint/2010/main" val="6750393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6A18D-78D6-4A01-A142-7686C5F63527}"/>
              </a:ext>
            </a:extLst>
          </p:cNvPr>
          <p:cNvSpPr>
            <a:spLocks noGrp="1"/>
          </p:cNvSpPr>
          <p:nvPr>
            <p:ph type="title"/>
          </p:nvPr>
        </p:nvSpPr>
        <p:spPr/>
        <p:txBody>
          <a:bodyPr/>
          <a:lstStyle/>
          <a:p>
            <a:pPr algn="ctr"/>
            <a:r>
              <a:rPr lang="en-US" sz="3200" dirty="0"/>
              <a:t>Training results </a:t>
            </a:r>
          </a:p>
        </p:txBody>
      </p:sp>
      <p:pic>
        <p:nvPicPr>
          <p:cNvPr id="9" name="Content Placeholder 8">
            <a:extLst>
              <a:ext uri="{FF2B5EF4-FFF2-40B4-BE49-F238E27FC236}">
                <a16:creationId xmlns:a16="http://schemas.microsoft.com/office/drawing/2014/main" id="{38DDB416-FC0F-4E5C-BBBA-E058291A25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12477" y="2309357"/>
            <a:ext cx="7767172" cy="2532466"/>
          </a:xfrm>
        </p:spPr>
      </p:pic>
      <p:sp>
        <p:nvSpPr>
          <p:cNvPr id="10" name="TextBox 9">
            <a:extLst>
              <a:ext uri="{FF2B5EF4-FFF2-40B4-BE49-F238E27FC236}">
                <a16:creationId xmlns:a16="http://schemas.microsoft.com/office/drawing/2014/main" id="{2CFA35EE-D8F3-476D-BC73-2F843C640C8B}"/>
              </a:ext>
            </a:extLst>
          </p:cNvPr>
          <p:cNvSpPr txBox="1"/>
          <p:nvPr/>
        </p:nvSpPr>
        <p:spPr>
          <a:xfrm>
            <a:off x="3537679" y="5275826"/>
            <a:ext cx="4644669" cy="369332"/>
          </a:xfrm>
          <a:prstGeom prst="rect">
            <a:avLst/>
          </a:prstGeom>
          <a:noFill/>
        </p:spPr>
        <p:txBody>
          <a:bodyPr wrap="none" rtlCol="0">
            <a:spAutoFit/>
          </a:bodyPr>
          <a:lstStyle/>
          <a:p>
            <a:r>
              <a:rPr lang="en-US" dirty="0"/>
              <a:t>Training Loss: 0.4001; Training Accuracy: 0.8346</a:t>
            </a:r>
          </a:p>
        </p:txBody>
      </p:sp>
    </p:spTree>
    <p:extLst>
      <p:ext uri="{BB962C8B-B14F-4D97-AF65-F5344CB8AC3E}">
        <p14:creationId xmlns:p14="http://schemas.microsoft.com/office/powerpoint/2010/main" val="28057166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6A18D-78D6-4A01-A142-7686C5F63527}"/>
              </a:ext>
            </a:extLst>
          </p:cNvPr>
          <p:cNvSpPr>
            <a:spLocks noGrp="1"/>
          </p:cNvSpPr>
          <p:nvPr>
            <p:ph type="title"/>
          </p:nvPr>
        </p:nvSpPr>
        <p:spPr/>
        <p:txBody>
          <a:bodyPr>
            <a:normAutofit/>
          </a:bodyPr>
          <a:lstStyle/>
          <a:p>
            <a:pPr algn="ctr"/>
            <a:r>
              <a:rPr lang="en-US" dirty="0"/>
              <a:t>Testing the ANN</a:t>
            </a:r>
          </a:p>
        </p:txBody>
      </p:sp>
      <p:sp>
        <p:nvSpPr>
          <p:cNvPr id="3" name="Content Placeholder 2">
            <a:extLst>
              <a:ext uri="{FF2B5EF4-FFF2-40B4-BE49-F238E27FC236}">
                <a16:creationId xmlns:a16="http://schemas.microsoft.com/office/drawing/2014/main" id="{AE769C62-BD43-42AB-AA85-4BB6EBAB2176}"/>
              </a:ext>
            </a:extLst>
          </p:cNvPr>
          <p:cNvSpPr>
            <a:spLocks noGrp="1"/>
          </p:cNvSpPr>
          <p:nvPr>
            <p:ph sz="half" idx="1"/>
          </p:nvPr>
        </p:nvSpPr>
        <p:spPr>
          <a:xfrm>
            <a:off x="806668" y="1825625"/>
            <a:ext cx="5181600" cy="4351338"/>
          </a:xfrm>
        </p:spPr>
        <p:txBody>
          <a:bodyPr>
            <a:normAutofit lnSpcReduction="10000"/>
          </a:bodyPr>
          <a:lstStyle/>
          <a:p>
            <a:pPr marL="0" indent="0">
              <a:buNone/>
            </a:pPr>
            <a:r>
              <a:rPr lang="en-US" sz="1800" dirty="0"/>
              <a:t>#Testing the model</a:t>
            </a:r>
          </a:p>
          <a:p>
            <a:pPr marL="0" indent="0">
              <a:buNone/>
            </a:pPr>
            <a:r>
              <a:rPr lang="en-US" sz="1800" dirty="0"/>
              <a:t>In order to  validate the performance of the model, we evaluate its performance on the test set. Use the predict() method to test the model on the test set (</a:t>
            </a:r>
            <a:r>
              <a:rPr lang="en-US" sz="1800" dirty="0" err="1"/>
              <a:t>X_test</a:t>
            </a:r>
            <a:r>
              <a:rPr lang="en-US" sz="1800" dirty="0"/>
              <a:t>)</a:t>
            </a:r>
          </a:p>
          <a:p>
            <a:pPr marL="0" indent="0">
              <a:buNone/>
            </a:pPr>
            <a:r>
              <a:rPr lang="en-US" sz="1800" dirty="0">
                <a:solidFill>
                  <a:srgbClr val="00B0F0"/>
                </a:solidFill>
              </a:rPr>
              <a:t>62: </a:t>
            </a:r>
            <a:r>
              <a:rPr lang="en-US" sz="1800" dirty="0"/>
              <a:t>The parameters for the predict() method is the test dataset stored in </a:t>
            </a:r>
            <a:r>
              <a:rPr lang="en-US" sz="1800" dirty="0" err="1"/>
              <a:t>X_test</a:t>
            </a:r>
            <a:r>
              <a:rPr lang="en-US" sz="1800" dirty="0"/>
              <a:t>. </a:t>
            </a:r>
          </a:p>
          <a:p>
            <a:pPr marL="0" indent="0">
              <a:buNone/>
            </a:pPr>
            <a:r>
              <a:rPr lang="en-US" sz="1800" dirty="0">
                <a:solidFill>
                  <a:srgbClr val="00B0F0"/>
                </a:solidFill>
              </a:rPr>
              <a:t>63: </a:t>
            </a:r>
            <a:r>
              <a:rPr lang="en-US" sz="1800" dirty="0"/>
              <a:t>The predicted values stored in </a:t>
            </a:r>
            <a:r>
              <a:rPr lang="en-US" sz="1800" dirty="0" err="1"/>
              <a:t>y_pred</a:t>
            </a:r>
            <a:r>
              <a:rPr lang="en-US" sz="1800" dirty="0"/>
              <a:t> range from 0 to 1. This is due to the fact that we made use of the sigmoid function in the output node. In line 63 we are simply saying, store any value greater than 0.5 as 1 and values less than 0.5 as 0. </a:t>
            </a:r>
          </a:p>
          <a:p>
            <a:pPr marL="0" indent="0">
              <a:buNone/>
            </a:pPr>
            <a:r>
              <a:rPr lang="en-US" sz="1800" dirty="0"/>
              <a:t>So a 1 represents a positive that the customer is likely to exit;</a:t>
            </a:r>
          </a:p>
          <a:p>
            <a:pPr marL="0" indent="0">
              <a:buNone/>
            </a:pPr>
            <a:r>
              <a:rPr lang="en-US" sz="1800" dirty="0"/>
              <a:t>And a 0 represents a negative that the customer is likely to exit. </a:t>
            </a:r>
          </a:p>
          <a:p>
            <a:pPr marL="0" indent="0">
              <a:buNone/>
            </a:pPr>
            <a:endParaRPr lang="en-US" sz="1800" dirty="0"/>
          </a:p>
        </p:txBody>
      </p:sp>
      <p:pic>
        <p:nvPicPr>
          <p:cNvPr id="7" name="Content Placeholder 6">
            <a:extLst>
              <a:ext uri="{FF2B5EF4-FFF2-40B4-BE49-F238E27FC236}">
                <a16:creationId xmlns:a16="http://schemas.microsoft.com/office/drawing/2014/main" id="{EC913B97-C630-4AB7-93BA-3200A917F9D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988268" y="1825625"/>
            <a:ext cx="5682880" cy="3228851"/>
          </a:xfrm>
        </p:spPr>
      </p:pic>
    </p:spTree>
    <p:extLst>
      <p:ext uri="{BB962C8B-B14F-4D97-AF65-F5344CB8AC3E}">
        <p14:creationId xmlns:p14="http://schemas.microsoft.com/office/powerpoint/2010/main" val="31310658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6A18D-78D6-4A01-A142-7686C5F63527}"/>
              </a:ext>
            </a:extLst>
          </p:cNvPr>
          <p:cNvSpPr>
            <a:spLocks noGrp="1"/>
          </p:cNvSpPr>
          <p:nvPr>
            <p:ph type="title"/>
          </p:nvPr>
        </p:nvSpPr>
        <p:spPr/>
        <p:txBody>
          <a:bodyPr>
            <a:normAutofit/>
          </a:bodyPr>
          <a:lstStyle/>
          <a:p>
            <a:pPr algn="ctr"/>
            <a:r>
              <a:rPr lang="en-US" dirty="0"/>
              <a:t>Testing the ANN</a:t>
            </a:r>
            <a:br>
              <a:rPr lang="en-US" dirty="0"/>
            </a:br>
            <a:r>
              <a:rPr lang="en-US" sz="3200" dirty="0"/>
              <a:t>Confusion matrix</a:t>
            </a:r>
            <a:endParaRPr lang="en-US" dirty="0"/>
          </a:p>
        </p:txBody>
      </p:sp>
      <p:sp>
        <p:nvSpPr>
          <p:cNvPr id="3" name="Content Placeholder 2">
            <a:extLst>
              <a:ext uri="{FF2B5EF4-FFF2-40B4-BE49-F238E27FC236}">
                <a16:creationId xmlns:a16="http://schemas.microsoft.com/office/drawing/2014/main" id="{AE769C62-BD43-42AB-AA85-4BB6EBAB2176}"/>
              </a:ext>
            </a:extLst>
          </p:cNvPr>
          <p:cNvSpPr>
            <a:spLocks noGrp="1"/>
          </p:cNvSpPr>
          <p:nvPr>
            <p:ph sz="half" idx="1"/>
          </p:nvPr>
        </p:nvSpPr>
        <p:spPr>
          <a:xfrm>
            <a:off x="806668" y="1825625"/>
            <a:ext cx="5181600" cy="4351338"/>
          </a:xfrm>
        </p:spPr>
        <p:txBody>
          <a:bodyPr>
            <a:normAutofit/>
          </a:bodyPr>
          <a:lstStyle/>
          <a:p>
            <a:pPr marL="0" indent="0">
              <a:buNone/>
            </a:pPr>
            <a:r>
              <a:rPr lang="en-US" sz="1800" dirty="0"/>
              <a:t>#Making the confusion matrix</a:t>
            </a:r>
          </a:p>
          <a:p>
            <a:pPr marL="0" indent="0">
              <a:buNone/>
            </a:pPr>
            <a:r>
              <a:rPr lang="en-US" sz="1800" dirty="0"/>
              <a:t>The confusion matrix provides a means of evaluating the accuracy of a  binary classification (See </a:t>
            </a:r>
            <a:r>
              <a:rPr lang="en-US" sz="1800" dirty="0">
                <a:hlinkClick r:id="rId2"/>
              </a:rPr>
              <a:t>sklearn documentation</a:t>
            </a:r>
            <a:r>
              <a:rPr lang="en-US" sz="1800" dirty="0"/>
              <a:t>)</a:t>
            </a:r>
          </a:p>
          <a:p>
            <a:pPr marL="0" indent="0">
              <a:buNone/>
            </a:pPr>
            <a:r>
              <a:rPr lang="en-US" sz="1800" dirty="0">
                <a:solidFill>
                  <a:srgbClr val="00B0F0"/>
                </a:solidFill>
              </a:rPr>
              <a:t>66: </a:t>
            </a:r>
            <a:r>
              <a:rPr lang="en-US" sz="1800" dirty="0"/>
              <a:t>Import the </a:t>
            </a:r>
            <a:r>
              <a:rPr lang="en-US" sz="1800" dirty="0" err="1"/>
              <a:t>confusion_matrix</a:t>
            </a:r>
            <a:r>
              <a:rPr lang="en-US" sz="1800" dirty="0"/>
              <a:t> class.  </a:t>
            </a:r>
          </a:p>
          <a:p>
            <a:pPr marL="0" indent="0">
              <a:buNone/>
            </a:pPr>
            <a:r>
              <a:rPr lang="en-US" sz="1800" dirty="0">
                <a:solidFill>
                  <a:srgbClr val="00B0F0"/>
                </a:solidFill>
              </a:rPr>
              <a:t>63: </a:t>
            </a:r>
            <a:r>
              <a:rPr lang="en-US" sz="1800" dirty="0"/>
              <a:t>The parameters for </a:t>
            </a:r>
            <a:r>
              <a:rPr lang="en-US" sz="1800" dirty="0" err="1"/>
              <a:t>confusion_matrix</a:t>
            </a:r>
            <a:r>
              <a:rPr lang="en-US" sz="1800" dirty="0"/>
              <a:t> are the ground truth (correct values, </a:t>
            </a:r>
            <a:r>
              <a:rPr lang="en-US" sz="1800" dirty="0" err="1"/>
              <a:t>y_test</a:t>
            </a:r>
            <a:r>
              <a:rPr lang="en-US" sz="1800" dirty="0"/>
              <a:t>) and the predicted values (</a:t>
            </a:r>
            <a:r>
              <a:rPr lang="en-US" sz="1800" dirty="0" err="1"/>
              <a:t>y_pred</a:t>
            </a:r>
            <a:r>
              <a:rPr lang="en-US" sz="1800" dirty="0"/>
              <a:t>). </a:t>
            </a:r>
          </a:p>
        </p:txBody>
      </p:sp>
      <p:pic>
        <p:nvPicPr>
          <p:cNvPr id="8" name="Content Placeholder 7">
            <a:extLst>
              <a:ext uri="{FF2B5EF4-FFF2-40B4-BE49-F238E27FC236}">
                <a16:creationId xmlns:a16="http://schemas.microsoft.com/office/drawing/2014/main" id="{C92D28A5-C179-4724-B078-1509026871D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462998" y="1825625"/>
            <a:ext cx="5181599" cy="3913023"/>
          </a:xfrm>
        </p:spPr>
      </p:pic>
    </p:spTree>
    <p:extLst>
      <p:ext uri="{BB962C8B-B14F-4D97-AF65-F5344CB8AC3E}">
        <p14:creationId xmlns:p14="http://schemas.microsoft.com/office/powerpoint/2010/main" val="29519826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6A18D-78D6-4A01-A142-7686C5F63527}"/>
              </a:ext>
            </a:extLst>
          </p:cNvPr>
          <p:cNvSpPr>
            <a:spLocks noGrp="1"/>
          </p:cNvSpPr>
          <p:nvPr>
            <p:ph type="title"/>
          </p:nvPr>
        </p:nvSpPr>
        <p:spPr/>
        <p:txBody>
          <a:bodyPr>
            <a:normAutofit/>
          </a:bodyPr>
          <a:lstStyle/>
          <a:p>
            <a:pPr algn="ctr"/>
            <a:r>
              <a:rPr lang="en-US" dirty="0"/>
              <a:t>Testing the ANN</a:t>
            </a:r>
            <a:br>
              <a:rPr lang="en-US" dirty="0"/>
            </a:br>
            <a:r>
              <a:rPr lang="en-US" sz="3200" dirty="0"/>
              <a:t>...more on the confusion matrix</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769C62-BD43-42AB-AA85-4BB6EBAB2176}"/>
                  </a:ext>
                </a:extLst>
              </p:cNvPr>
              <p:cNvSpPr>
                <a:spLocks noGrp="1"/>
              </p:cNvSpPr>
              <p:nvPr>
                <p:ph sz="half" idx="1"/>
              </p:nvPr>
            </p:nvSpPr>
            <p:spPr>
              <a:xfrm>
                <a:off x="806668" y="1825625"/>
                <a:ext cx="5181600" cy="4351338"/>
              </a:xfrm>
            </p:spPr>
            <p:txBody>
              <a:bodyPr>
                <a:normAutofit/>
              </a:bodyPr>
              <a:lstStyle/>
              <a:p>
                <a:pPr marL="0" indent="0">
                  <a:buNone/>
                </a:pPr>
                <a:r>
                  <a:rPr lang="en-US" sz="1800" dirty="0"/>
                  <a:t>In the figure on the right, we can see the values of the confusion matrix.</a:t>
                </a:r>
              </a:p>
              <a:p>
                <a:pPr marL="0" indent="0">
                  <a:buNone/>
                </a:pPr>
                <a:r>
                  <a:rPr lang="en-US" sz="1800" dirty="0"/>
                  <a:t>In the matrix; </a:t>
                </a:r>
              </a:p>
              <a:p>
                <a:r>
                  <a:rPr lang="en-US" sz="1800" dirty="0"/>
                  <a:t>Index 0,0 represents the number true negatives</a:t>
                </a:r>
              </a:p>
              <a:p>
                <a:r>
                  <a:rPr lang="en-US" sz="1800" dirty="0"/>
                  <a:t>Index 0,1 represents the number of false positives</a:t>
                </a:r>
              </a:p>
              <a:p>
                <a:r>
                  <a:rPr lang="en-US" sz="1800" dirty="0"/>
                  <a:t>Index 1,0 represents the number of false negatives</a:t>
                </a:r>
              </a:p>
              <a:p>
                <a:r>
                  <a:rPr lang="en-US" sz="1800" dirty="0"/>
                  <a:t>Index 1,1 represents the number of true positives</a:t>
                </a:r>
              </a:p>
              <a:p>
                <a:pPr marL="0" indent="0">
                  <a:buNone/>
                </a:pPr>
                <a:r>
                  <a:rPr lang="en-US" sz="1800" dirty="0"/>
                  <a:t>To get the accuracy,</a:t>
                </a:r>
              </a:p>
              <a:p>
                <a:pPr marL="0" indent="0">
                  <a:buNone/>
                </a:pPr>
                <a:endParaRPr lang="en-US" sz="1800" dirty="0"/>
              </a:p>
              <a:p>
                <a:pPr marL="0" indent="0">
                  <a:buNone/>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𝑎𝑐𝑐</m:t>
                      </m:r>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𝑡𝑟𝑢𝑒</m:t>
                          </m:r>
                          <m:r>
                            <a:rPr lang="en-US" sz="1400" b="0" i="1" smtClean="0">
                              <a:latin typeface="Cambria Math" panose="02040503050406030204" pitchFamily="18" charset="0"/>
                            </a:rPr>
                            <m:t> </m:t>
                          </m:r>
                          <m:r>
                            <a:rPr lang="en-US" sz="1400" b="0" i="1" smtClean="0">
                              <a:latin typeface="Cambria Math" panose="02040503050406030204" pitchFamily="18" charset="0"/>
                            </a:rPr>
                            <m:t>𝑛𝑒𝑔𝑎𝑡𝑖𝑣𝑒𝑠</m:t>
                          </m:r>
                          <m:r>
                            <a:rPr lang="en-US" sz="1400" b="0" i="1" smtClean="0">
                              <a:latin typeface="Cambria Math" panose="02040503050406030204" pitchFamily="18" charset="0"/>
                            </a:rPr>
                            <m:t>+</m:t>
                          </m:r>
                          <m:r>
                            <a:rPr lang="en-US" sz="1400" b="0" i="1" smtClean="0">
                              <a:latin typeface="Cambria Math" panose="02040503050406030204" pitchFamily="18" charset="0"/>
                            </a:rPr>
                            <m:t>𝑡𝑟𝑢𝑒</m:t>
                          </m:r>
                          <m:r>
                            <a:rPr lang="en-US" sz="1400" b="0" i="1" smtClean="0">
                              <a:latin typeface="Cambria Math" panose="02040503050406030204" pitchFamily="18" charset="0"/>
                            </a:rPr>
                            <m:t> </m:t>
                          </m:r>
                          <m:r>
                            <a:rPr lang="en-US" sz="1400" b="0" i="1" smtClean="0">
                              <a:latin typeface="Cambria Math" panose="02040503050406030204" pitchFamily="18" charset="0"/>
                            </a:rPr>
                            <m:t>𝑝𝑜𝑠𝑖𝑡𝑖𝑣𝑒𝑠</m:t>
                          </m:r>
                        </m:num>
                        <m:den>
                          <m:r>
                            <a:rPr lang="en-US" sz="1400" b="0" i="1" smtClean="0">
                              <a:latin typeface="Cambria Math" panose="02040503050406030204" pitchFamily="18" charset="0"/>
                            </a:rPr>
                            <m:t>𝑡𝑜𝑡𝑎𝑙</m:t>
                          </m:r>
                          <m:r>
                            <a:rPr lang="en-US" sz="1400" b="0" i="1" smtClean="0">
                              <a:latin typeface="Cambria Math" panose="02040503050406030204" pitchFamily="18" charset="0"/>
                            </a:rPr>
                            <m:t> </m:t>
                          </m:r>
                          <m:r>
                            <a:rPr lang="en-US" sz="1400" b="0" i="1" smtClean="0">
                              <a:latin typeface="Cambria Math" panose="02040503050406030204" pitchFamily="18" charset="0"/>
                            </a:rPr>
                            <m:t>𝑣𝑎𝑙𝑢𝑒𝑠</m:t>
                          </m:r>
                        </m:den>
                      </m:f>
                      <m:r>
                        <a:rPr lang="en-US" sz="1400" b="0" i="1" smtClean="0">
                          <a:latin typeface="Cambria Math" panose="02040503050406030204" pitchFamily="18" charset="0"/>
                        </a:rPr>
                        <m:t> </m:t>
                      </m:r>
                      <m:r>
                        <a:rPr lang="en-US" sz="1400" b="0" i="1" smtClean="0">
                          <a:latin typeface="Cambria Math" panose="02040503050406030204" pitchFamily="18" charset="0"/>
                          <a:ea typeface="Cambria Math" panose="02040503050406030204" pitchFamily="18" charset="0"/>
                        </a:rPr>
                        <m:t>×100</m:t>
                      </m:r>
                    </m:oMath>
                  </m:oMathPara>
                </a14:m>
                <a:endParaRPr lang="en-US" sz="1400" dirty="0"/>
              </a:p>
              <a:p>
                <a:pPr marL="0" indent="0">
                  <a:buNone/>
                </a:pPr>
                <a:endParaRPr lang="en-US" sz="1400" dirty="0"/>
              </a:p>
              <a:p>
                <a:pPr marL="0" indent="0">
                  <a:buNone/>
                </a:pPr>
                <a14:m>
                  <m:oMathPara xmlns:m="http://schemas.openxmlformats.org/officeDocument/2006/math">
                    <m:oMathParaPr>
                      <m:jc m:val="centerGroup"/>
                    </m:oMathParaPr>
                    <m:oMath xmlns:m="http://schemas.openxmlformats.org/officeDocument/2006/math">
                      <m:f>
                        <m:fPr>
                          <m:ctrlPr>
                            <a:rPr lang="en-US" sz="1400" i="1">
                              <a:latin typeface="Cambria Math" panose="02040503050406030204" pitchFamily="18" charset="0"/>
                            </a:rPr>
                          </m:ctrlPr>
                        </m:fPr>
                        <m:num>
                          <m:r>
                            <a:rPr lang="en-US" sz="1400" b="0" i="1" smtClean="0">
                              <a:latin typeface="Cambria Math" panose="02040503050406030204" pitchFamily="18" charset="0"/>
                            </a:rPr>
                            <m:t>1502+216</m:t>
                          </m:r>
                        </m:num>
                        <m:den>
                          <m:r>
                            <a:rPr lang="en-US" sz="1400" b="0" i="1" smtClean="0">
                              <a:latin typeface="Cambria Math" panose="02040503050406030204" pitchFamily="18" charset="0"/>
                            </a:rPr>
                            <m:t>2000</m:t>
                          </m:r>
                        </m:den>
                      </m:f>
                      <m:r>
                        <a:rPr lang="en-US" sz="1400" i="1">
                          <a:latin typeface="Cambria Math" panose="02040503050406030204" pitchFamily="18" charset="0"/>
                        </a:rPr>
                        <m:t> </m:t>
                      </m:r>
                      <m:r>
                        <a:rPr lang="en-US" sz="1400" i="1">
                          <a:latin typeface="Cambria Math" panose="02040503050406030204" pitchFamily="18" charset="0"/>
                          <a:ea typeface="Cambria Math" panose="02040503050406030204" pitchFamily="18" charset="0"/>
                        </a:rPr>
                        <m:t>×100</m:t>
                      </m:r>
                      <m:r>
                        <a:rPr lang="en-US" sz="1400" b="0" i="1" smtClean="0">
                          <a:latin typeface="Cambria Math" panose="02040503050406030204" pitchFamily="18" charset="0"/>
                          <a:ea typeface="Cambria Math" panose="02040503050406030204" pitchFamily="18" charset="0"/>
                        </a:rPr>
                        <m:t>=85.9%</m:t>
                      </m:r>
                    </m:oMath>
                  </m:oMathPara>
                </a14:m>
                <a:endParaRPr lang="en-US" sz="1400" dirty="0"/>
              </a:p>
              <a:p>
                <a:pPr marL="0" indent="0">
                  <a:buNone/>
                </a:pPr>
                <a:endParaRPr lang="en-US" sz="1400" dirty="0"/>
              </a:p>
            </p:txBody>
          </p:sp>
        </mc:Choice>
        <mc:Fallback xmlns="">
          <p:sp>
            <p:nvSpPr>
              <p:cNvPr id="3" name="Content Placeholder 2">
                <a:extLst>
                  <a:ext uri="{FF2B5EF4-FFF2-40B4-BE49-F238E27FC236}">
                    <a16:creationId xmlns:a16="http://schemas.microsoft.com/office/drawing/2014/main" id="{AE769C62-BD43-42AB-AA85-4BB6EBAB2176}"/>
                  </a:ext>
                </a:extLst>
              </p:cNvPr>
              <p:cNvSpPr>
                <a:spLocks noGrp="1" noRot="1" noChangeAspect="1" noMove="1" noResize="1" noEditPoints="1" noAdjustHandles="1" noChangeArrowheads="1" noChangeShapeType="1" noTextEdit="1"/>
              </p:cNvSpPr>
              <p:nvPr>
                <p:ph sz="half" idx="1"/>
              </p:nvPr>
            </p:nvSpPr>
            <p:spPr>
              <a:xfrm>
                <a:off x="806668" y="1825625"/>
                <a:ext cx="5181600" cy="4351338"/>
              </a:xfrm>
              <a:blipFill>
                <a:blip r:embed="rId2"/>
                <a:stretch>
                  <a:fillRect l="-941" t="-1261" r="-118"/>
                </a:stretch>
              </a:blipFill>
            </p:spPr>
            <p:txBody>
              <a:bodyPr/>
              <a:lstStyle/>
              <a:p>
                <a:r>
                  <a:rPr lang="en-US">
                    <a:noFill/>
                  </a:rPr>
                  <a:t> </a:t>
                </a:r>
              </a:p>
            </p:txBody>
          </p:sp>
        </mc:Fallback>
      </mc:AlternateContent>
      <p:pic>
        <p:nvPicPr>
          <p:cNvPr id="8" name="Content Placeholder 7">
            <a:extLst>
              <a:ext uri="{FF2B5EF4-FFF2-40B4-BE49-F238E27FC236}">
                <a16:creationId xmlns:a16="http://schemas.microsoft.com/office/drawing/2014/main" id="{1BD00B6E-E515-4B35-9A40-D62CE23938F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480596" y="3039584"/>
            <a:ext cx="4038095" cy="3323809"/>
          </a:xfrm>
        </p:spPr>
      </p:pic>
      <p:sp>
        <p:nvSpPr>
          <p:cNvPr id="10" name="TextBox 9">
            <a:extLst>
              <a:ext uri="{FF2B5EF4-FFF2-40B4-BE49-F238E27FC236}">
                <a16:creationId xmlns:a16="http://schemas.microsoft.com/office/drawing/2014/main" id="{472E50F3-0E90-4DCB-AE49-0F06B8740050}"/>
              </a:ext>
            </a:extLst>
          </p:cNvPr>
          <p:cNvSpPr txBox="1"/>
          <p:nvPr/>
        </p:nvSpPr>
        <p:spPr>
          <a:xfrm>
            <a:off x="7715437" y="4001294"/>
            <a:ext cx="1784206" cy="369332"/>
          </a:xfrm>
          <a:prstGeom prst="rect">
            <a:avLst/>
          </a:prstGeom>
          <a:noFill/>
        </p:spPr>
        <p:txBody>
          <a:bodyPr wrap="none" rtlCol="0">
            <a:spAutoFit/>
          </a:bodyPr>
          <a:lstStyle/>
          <a:p>
            <a:r>
              <a:rPr lang="en-US" dirty="0"/>
              <a:t>Confusion matrix</a:t>
            </a:r>
          </a:p>
        </p:txBody>
      </p:sp>
    </p:spTree>
    <p:extLst>
      <p:ext uri="{BB962C8B-B14F-4D97-AF65-F5344CB8AC3E}">
        <p14:creationId xmlns:p14="http://schemas.microsoft.com/office/powerpoint/2010/main" val="4949200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6A18D-78D6-4A01-A142-7686C5F63527}"/>
              </a:ext>
            </a:extLst>
          </p:cNvPr>
          <p:cNvSpPr>
            <a:spLocks noGrp="1"/>
          </p:cNvSpPr>
          <p:nvPr>
            <p:ph type="title"/>
          </p:nvPr>
        </p:nvSpPr>
        <p:spPr/>
        <p:txBody>
          <a:bodyPr>
            <a:normAutofit/>
          </a:bodyPr>
          <a:lstStyle/>
          <a:p>
            <a:pPr algn="ctr"/>
            <a:r>
              <a:rPr lang="en-US" dirty="0"/>
              <a:t>Plotting and Saving Keras model</a:t>
            </a:r>
          </a:p>
        </p:txBody>
      </p:sp>
      <p:sp>
        <p:nvSpPr>
          <p:cNvPr id="3" name="Content Placeholder 2">
            <a:extLst>
              <a:ext uri="{FF2B5EF4-FFF2-40B4-BE49-F238E27FC236}">
                <a16:creationId xmlns:a16="http://schemas.microsoft.com/office/drawing/2014/main" id="{AE769C62-BD43-42AB-AA85-4BB6EBAB2176}"/>
              </a:ext>
            </a:extLst>
          </p:cNvPr>
          <p:cNvSpPr>
            <a:spLocks noGrp="1"/>
          </p:cNvSpPr>
          <p:nvPr>
            <p:ph sz="half" idx="1"/>
          </p:nvPr>
        </p:nvSpPr>
        <p:spPr>
          <a:xfrm>
            <a:off x="806668" y="1825625"/>
            <a:ext cx="5181600" cy="4351338"/>
          </a:xfrm>
        </p:spPr>
        <p:txBody>
          <a:bodyPr>
            <a:normAutofit/>
          </a:bodyPr>
          <a:lstStyle/>
          <a:p>
            <a:pPr marL="0" indent="0">
              <a:buNone/>
            </a:pPr>
            <a:r>
              <a:rPr lang="en-US" sz="1800" dirty="0"/>
              <a:t>#Plotting (visualizing) the </a:t>
            </a:r>
            <a:r>
              <a:rPr lang="en-US" sz="1800" dirty="0" err="1"/>
              <a:t>keras</a:t>
            </a:r>
            <a:r>
              <a:rPr lang="en-US" sz="1800" dirty="0"/>
              <a:t> model</a:t>
            </a:r>
          </a:p>
          <a:p>
            <a:pPr marL="0" indent="0">
              <a:buNone/>
            </a:pPr>
            <a:r>
              <a:rPr lang="en-US" sz="1800" dirty="0">
                <a:solidFill>
                  <a:srgbClr val="00B0F0"/>
                </a:solidFill>
              </a:rPr>
              <a:t>72: </a:t>
            </a:r>
            <a:r>
              <a:rPr lang="en-US" sz="1800" dirty="0"/>
              <a:t>Import the </a:t>
            </a:r>
            <a:r>
              <a:rPr lang="en-US" sz="1800" dirty="0" err="1"/>
              <a:t>plot_model</a:t>
            </a:r>
            <a:r>
              <a:rPr lang="en-US" sz="1800" dirty="0"/>
              <a:t> class from </a:t>
            </a:r>
            <a:r>
              <a:rPr lang="en-US" sz="1800" dirty="0" err="1"/>
              <a:t>keras.utils</a:t>
            </a:r>
            <a:endParaRPr lang="en-US" sz="1800" dirty="0"/>
          </a:p>
          <a:p>
            <a:pPr marL="0" indent="0">
              <a:buNone/>
            </a:pPr>
            <a:r>
              <a:rPr lang="en-US" sz="1800" dirty="0">
                <a:solidFill>
                  <a:srgbClr val="00B0F0"/>
                </a:solidFill>
              </a:rPr>
              <a:t>73: </a:t>
            </a:r>
            <a:r>
              <a:rPr lang="en-US" sz="1800" dirty="0"/>
              <a:t>The parameters needed are the </a:t>
            </a:r>
            <a:r>
              <a:rPr lang="en-US" sz="1800" dirty="0" err="1"/>
              <a:t>keras</a:t>
            </a:r>
            <a:r>
              <a:rPr lang="en-US" sz="1800" dirty="0"/>
              <a:t> model instance, and the file name to save the plotted  model. </a:t>
            </a:r>
          </a:p>
          <a:p>
            <a:pPr marL="0" indent="0">
              <a:buNone/>
            </a:pPr>
            <a:r>
              <a:rPr lang="en-US" sz="1800" dirty="0"/>
              <a:t>#Saving the </a:t>
            </a:r>
            <a:r>
              <a:rPr lang="en-US" sz="1800" dirty="0" err="1"/>
              <a:t>keras</a:t>
            </a:r>
            <a:r>
              <a:rPr lang="en-US" sz="1800" dirty="0"/>
              <a:t> model</a:t>
            </a:r>
          </a:p>
          <a:p>
            <a:pPr marL="0" indent="0">
              <a:buNone/>
            </a:pPr>
            <a:r>
              <a:rPr lang="en-US" sz="1800" dirty="0">
                <a:solidFill>
                  <a:srgbClr val="00B0F0"/>
                </a:solidFill>
              </a:rPr>
              <a:t>77: </a:t>
            </a:r>
            <a:r>
              <a:rPr lang="en-US" sz="1800" dirty="0"/>
              <a:t>Use the </a:t>
            </a:r>
            <a:r>
              <a:rPr lang="en-US" sz="1800" dirty="0" err="1"/>
              <a:t>to_json</a:t>
            </a:r>
            <a:r>
              <a:rPr lang="en-US" sz="1800" dirty="0"/>
              <a:t>() method to return a representation of the model as a JSON string.</a:t>
            </a:r>
          </a:p>
          <a:p>
            <a:pPr marL="0" indent="0">
              <a:buNone/>
            </a:pPr>
            <a:r>
              <a:rPr lang="en-US" sz="1800" dirty="0">
                <a:solidFill>
                  <a:srgbClr val="00B0F0"/>
                </a:solidFill>
              </a:rPr>
              <a:t>78 &amp; 79: </a:t>
            </a:r>
            <a:r>
              <a:rPr lang="en-US" sz="1800" dirty="0"/>
              <a:t>Write the contents of </a:t>
            </a:r>
            <a:r>
              <a:rPr lang="en-US" sz="1800" dirty="0" err="1"/>
              <a:t>model_json</a:t>
            </a:r>
            <a:r>
              <a:rPr lang="en-US" sz="1800" dirty="0"/>
              <a:t> in line 77 to  file on disk ‘</a:t>
            </a:r>
            <a:r>
              <a:rPr lang="en-US" sz="1800" dirty="0" err="1"/>
              <a:t>model.json</a:t>
            </a:r>
            <a:r>
              <a:rPr lang="en-US" sz="1800" dirty="0"/>
              <a:t>’</a:t>
            </a:r>
          </a:p>
          <a:p>
            <a:pPr marL="0" indent="0">
              <a:buNone/>
            </a:pPr>
            <a:r>
              <a:rPr lang="en-US" sz="1800" dirty="0">
                <a:solidFill>
                  <a:srgbClr val="00B0F0"/>
                </a:solidFill>
              </a:rPr>
              <a:t>81: </a:t>
            </a:r>
            <a:r>
              <a:rPr lang="en-US" sz="1800" dirty="0"/>
              <a:t>Save the weights of the model as a HDF5 file.</a:t>
            </a:r>
          </a:p>
          <a:p>
            <a:pPr marL="0" indent="0">
              <a:buNone/>
            </a:pPr>
            <a:endParaRPr lang="en-US" sz="1800" dirty="0"/>
          </a:p>
        </p:txBody>
      </p:sp>
      <p:pic>
        <p:nvPicPr>
          <p:cNvPr id="5" name="Content Placeholder 4">
            <a:extLst>
              <a:ext uri="{FF2B5EF4-FFF2-40B4-BE49-F238E27FC236}">
                <a16:creationId xmlns:a16="http://schemas.microsoft.com/office/drawing/2014/main" id="{C8C81F77-52D4-4048-B65F-06E61B1C949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203734" y="1825625"/>
            <a:ext cx="5583423" cy="3031982"/>
          </a:xfrm>
        </p:spPr>
      </p:pic>
    </p:spTree>
    <p:extLst>
      <p:ext uri="{BB962C8B-B14F-4D97-AF65-F5344CB8AC3E}">
        <p14:creationId xmlns:p14="http://schemas.microsoft.com/office/powerpoint/2010/main" val="4122955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16A06-2548-4830-A9FC-3ACE91D02AF9}"/>
              </a:ext>
            </a:extLst>
          </p:cNvPr>
          <p:cNvSpPr>
            <a:spLocks noGrp="1"/>
          </p:cNvSpPr>
          <p:nvPr>
            <p:ph type="title"/>
          </p:nvPr>
        </p:nvSpPr>
        <p:spPr/>
        <p:txBody>
          <a:bodyPr/>
          <a:lstStyle/>
          <a:p>
            <a:pPr algn="ctr"/>
            <a:r>
              <a:rPr lang="en-US" dirty="0"/>
              <a:t>Plotting and Saving Keras model</a:t>
            </a:r>
          </a:p>
        </p:txBody>
      </p:sp>
      <p:pic>
        <p:nvPicPr>
          <p:cNvPr id="7" name="Content Placeholder 6">
            <a:extLst>
              <a:ext uri="{FF2B5EF4-FFF2-40B4-BE49-F238E27FC236}">
                <a16:creationId xmlns:a16="http://schemas.microsoft.com/office/drawing/2014/main" id="{F0C95322-85CB-47A3-B745-CC16E5E5868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087282" y="1825625"/>
            <a:ext cx="4683436" cy="4351338"/>
          </a:xfrm>
        </p:spPr>
      </p:pic>
      <p:pic>
        <p:nvPicPr>
          <p:cNvPr id="9" name="Content Placeholder 8">
            <a:extLst>
              <a:ext uri="{FF2B5EF4-FFF2-40B4-BE49-F238E27FC236}">
                <a16:creationId xmlns:a16="http://schemas.microsoft.com/office/drawing/2014/main" id="{C476C5B5-BE67-4032-96D9-7B1EF73B5608}"/>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677150" y="2324894"/>
            <a:ext cx="2171700" cy="3352800"/>
          </a:xfrm>
        </p:spPr>
      </p:pic>
      <p:sp>
        <p:nvSpPr>
          <p:cNvPr id="10" name="TextBox 9">
            <a:extLst>
              <a:ext uri="{FF2B5EF4-FFF2-40B4-BE49-F238E27FC236}">
                <a16:creationId xmlns:a16="http://schemas.microsoft.com/office/drawing/2014/main" id="{854B58BA-558A-48B0-BE27-E0058AFEA6C1}"/>
              </a:ext>
            </a:extLst>
          </p:cNvPr>
          <p:cNvSpPr txBox="1"/>
          <p:nvPr/>
        </p:nvSpPr>
        <p:spPr>
          <a:xfrm>
            <a:off x="1264369" y="6311900"/>
            <a:ext cx="4329262" cy="369332"/>
          </a:xfrm>
          <a:prstGeom prst="rect">
            <a:avLst/>
          </a:prstGeom>
          <a:noFill/>
        </p:spPr>
        <p:txBody>
          <a:bodyPr wrap="none" rtlCol="0">
            <a:spAutoFit/>
          </a:bodyPr>
          <a:lstStyle/>
          <a:p>
            <a:r>
              <a:rPr lang="en-US" dirty="0"/>
              <a:t>Conceptualized Neural network architecture</a:t>
            </a:r>
          </a:p>
        </p:txBody>
      </p:sp>
      <p:sp>
        <p:nvSpPr>
          <p:cNvPr id="11" name="TextBox 10">
            <a:extLst>
              <a:ext uri="{FF2B5EF4-FFF2-40B4-BE49-F238E27FC236}">
                <a16:creationId xmlns:a16="http://schemas.microsoft.com/office/drawing/2014/main" id="{A9FBB16C-6655-4C08-8051-64E79A3D35B9}"/>
              </a:ext>
            </a:extLst>
          </p:cNvPr>
          <p:cNvSpPr txBox="1"/>
          <p:nvPr/>
        </p:nvSpPr>
        <p:spPr>
          <a:xfrm>
            <a:off x="7377860" y="6176963"/>
            <a:ext cx="3394327" cy="369332"/>
          </a:xfrm>
          <a:prstGeom prst="rect">
            <a:avLst/>
          </a:prstGeom>
          <a:noFill/>
        </p:spPr>
        <p:txBody>
          <a:bodyPr wrap="none" rtlCol="0">
            <a:spAutoFit/>
          </a:bodyPr>
          <a:lstStyle/>
          <a:p>
            <a:r>
              <a:rPr lang="en-US" dirty="0"/>
              <a:t>Keras representation of the model</a:t>
            </a:r>
          </a:p>
        </p:txBody>
      </p:sp>
    </p:spTree>
    <p:extLst>
      <p:ext uri="{BB962C8B-B14F-4D97-AF65-F5344CB8AC3E}">
        <p14:creationId xmlns:p14="http://schemas.microsoft.com/office/powerpoint/2010/main" val="27629569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6A18D-78D6-4A01-A142-7686C5F63527}"/>
              </a:ext>
            </a:extLst>
          </p:cNvPr>
          <p:cNvSpPr>
            <a:spLocks noGrp="1"/>
          </p:cNvSpPr>
          <p:nvPr>
            <p:ph type="title"/>
          </p:nvPr>
        </p:nvSpPr>
        <p:spPr/>
        <p:txBody>
          <a:bodyPr>
            <a:normAutofit/>
          </a:bodyPr>
          <a:lstStyle/>
          <a:p>
            <a:pPr algn="ctr"/>
            <a:r>
              <a:rPr lang="en-US" dirty="0"/>
              <a:t>Loading Keras model</a:t>
            </a:r>
            <a:br>
              <a:rPr lang="en-US" dirty="0"/>
            </a:br>
            <a:r>
              <a:rPr lang="en-US" dirty="0"/>
              <a:t>(From disk)</a:t>
            </a:r>
          </a:p>
        </p:txBody>
      </p:sp>
      <p:sp>
        <p:nvSpPr>
          <p:cNvPr id="3" name="Content Placeholder 2">
            <a:extLst>
              <a:ext uri="{FF2B5EF4-FFF2-40B4-BE49-F238E27FC236}">
                <a16:creationId xmlns:a16="http://schemas.microsoft.com/office/drawing/2014/main" id="{AE769C62-BD43-42AB-AA85-4BB6EBAB2176}"/>
              </a:ext>
            </a:extLst>
          </p:cNvPr>
          <p:cNvSpPr>
            <a:spLocks noGrp="1"/>
          </p:cNvSpPr>
          <p:nvPr>
            <p:ph sz="half" idx="1"/>
          </p:nvPr>
        </p:nvSpPr>
        <p:spPr>
          <a:xfrm>
            <a:off x="806668" y="1825625"/>
            <a:ext cx="5181600" cy="4351338"/>
          </a:xfrm>
        </p:spPr>
        <p:txBody>
          <a:bodyPr>
            <a:normAutofit/>
          </a:bodyPr>
          <a:lstStyle/>
          <a:p>
            <a:pPr marL="0" indent="0">
              <a:buNone/>
            </a:pPr>
            <a:r>
              <a:rPr lang="en-US" sz="1800" dirty="0"/>
              <a:t>#Loading the </a:t>
            </a:r>
            <a:r>
              <a:rPr lang="en-US" sz="1800" dirty="0" err="1"/>
              <a:t>keras</a:t>
            </a:r>
            <a:r>
              <a:rPr lang="en-US" sz="1800" dirty="0"/>
              <a:t> model</a:t>
            </a:r>
          </a:p>
          <a:p>
            <a:pPr marL="0" indent="0">
              <a:buNone/>
            </a:pPr>
            <a:r>
              <a:rPr lang="en-US" sz="1800" dirty="0">
                <a:solidFill>
                  <a:srgbClr val="00B0F0"/>
                </a:solidFill>
              </a:rPr>
              <a:t>88: </a:t>
            </a:r>
            <a:r>
              <a:rPr lang="en-US" sz="1800" dirty="0"/>
              <a:t>Import the </a:t>
            </a:r>
            <a:r>
              <a:rPr lang="en-US" sz="1800" dirty="0" err="1"/>
              <a:t>model_from_json</a:t>
            </a:r>
            <a:r>
              <a:rPr lang="en-US" sz="1800" dirty="0"/>
              <a:t> class from </a:t>
            </a:r>
            <a:r>
              <a:rPr lang="en-US" sz="1800" dirty="0" err="1"/>
              <a:t>keras.models</a:t>
            </a:r>
            <a:endParaRPr lang="en-US" sz="1800" dirty="0"/>
          </a:p>
          <a:p>
            <a:pPr marL="0" indent="0">
              <a:buNone/>
            </a:pPr>
            <a:r>
              <a:rPr lang="en-US" sz="1800" dirty="0">
                <a:solidFill>
                  <a:srgbClr val="00B0F0"/>
                </a:solidFill>
              </a:rPr>
              <a:t>89-91: </a:t>
            </a:r>
            <a:r>
              <a:rPr lang="en-US" sz="1800" dirty="0"/>
              <a:t>Read the json file containing the model from disk and store in a variable.</a:t>
            </a:r>
          </a:p>
          <a:p>
            <a:pPr marL="0" indent="0">
              <a:buNone/>
            </a:pPr>
            <a:r>
              <a:rPr lang="en-US" sz="1800" dirty="0">
                <a:solidFill>
                  <a:srgbClr val="00B0F0"/>
                </a:solidFill>
              </a:rPr>
              <a:t>92: </a:t>
            </a:r>
            <a:r>
              <a:rPr lang="en-US" sz="1800" dirty="0"/>
              <a:t>Use </a:t>
            </a:r>
            <a:r>
              <a:rPr lang="en-US" sz="1800" dirty="0" err="1"/>
              <a:t>model_from_json</a:t>
            </a:r>
            <a:r>
              <a:rPr lang="en-US" sz="1800" dirty="0"/>
              <a:t> to process the json file and create an instance of the </a:t>
            </a:r>
            <a:r>
              <a:rPr lang="en-US" sz="1800" dirty="0" err="1"/>
              <a:t>keras</a:t>
            </a:r>
            <a:r>
              <a:rPr lang="en-US" sz="1800" dirty="0"/>
              <a:t> model</a:t>
            </a:r>
          </a:p>
          <a:p>
            <a:pPr marL="0" indent="0">
              <a:buNone/>
            </a:pPr>
            <a:r>
              <a:rPr lang="en-US" sz="1800" dirty="0">
                <a:solidFill>
                  <a:srgbClr val="00B0F0"/>
                </a:solidFill>
              </a:rPr>
              <a:t>94: </a:t>
            </a:r>
            <a:r>
              <a:rPr lang="en-US" sz="1800" dirty="0"/>
              <a:t>load the model weights using the </a:t>
            </a:r>
            <a:r>
              <a:rPr lang="en-US" sz="1800" dirty="0" err="1"/>
              <a:t>load_weights</a:t>
            </a:r>
            <a:r>
              <a:rPr lang="en-US" sz="1800" dirty="0"/>
              <a:t>() method.  </a:t>
            </a:r>
          </a:p>
          <a:p>
            <a:pPr marL="0" indent="0">
              <a:buNone/>
            </a:pPr>
            <a:r>
              <a:rPr lang="en-US" sz="1800" dirty="0">
                <a:solidFill>
                  <a:srgbClr val="00B0F0"/>
                </a:solidFill>
              </a:rPr>
              <a:t>98: </a:t>
            </a:r>
            <a:r>
              <a:rPr lang="en-US" sz="1800" dirty="0"/>
              <a:t>Compile the loaded model </a:t>
            </a:r>
          </a:p>
          <a:p>
            <a:pPr marL="0" indent="0">
              <a:buNone/>
            </a:pPr>
            <a:r>
              <a:rPr lang="en-US" sz="1800" dirty="0">
                <a:solidFill>
                  <a:srgbClr val="00B0F0"/>
                </a:solidFill>
              </a:rPr>
              <a:t>101: </a:t>
            </a:r>
            <a:r>
              <a:rPr lang="en-US" sz="1800" dirty="0"/>
              <a:t>Make predictions with the loaded model </a:t>
            </a:r>
          </a:p>
          <a:p>
            <a:pPr marL="0" indent="0">
              <a:buNone/>
            </a:pPr>
            <a:endParaRPr lang="en-US" sz="1800" dirty="0"/>
          </a:p>
        </p:txBody>
      </p:sp>
      <p:pic>
        <p:nvPicPr>
          <p:cNvPr id="12" name="Content Placeholder 11">
            <a:extLst>
              <a:ext uri="{FF2B5EF4-FFF2-40B4-BE49-F238E27FC236}">
                <a16:creationId xmlns:a16="http://schemas.microsoft.com/office/drawing/2014/main" id="{4B285698-2537-4C94-8302-CB83D1D611A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96000" y="1825625"/>
            <a:ext cx="5932161" cy="3198878"/>
          </a:xfrm>
        </p:spPr>
      </p:pic>
    </p:spTree>
    <p:extLst>
      <p:ext uri="{BB962C8B-B14F-4D97-AF65-F5344CB8AC3E}">
        <p14:creationId xmlns:p14="http://schemas.microsoft.com/office/powerpoint/2010/main" val="31687783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AA5BB-0167-4C1E-A4B0-6603EF70CB3E}"/>
              </a:ext>
            </a:extLst>
          </p:cNvPr>
          <p:cNvSpPr>
            <a:spLocks noGrp="1"/>
          </p:cNvSpPr>
          <p:nvPr>
            <p:ph type="title"/>
          </p:nvPr>
        </p:nvSpPr>
        <p:spPr/>
        <p:txBody>
          <a:bodyPr/>
          <a:lstStyle/>
          <a:p>
            <a:pPr algn="ctr"/>
            <a:r>
              <a:rPr lang="en-US" dirty="0"/>
              <a:t>Practical Session Recap</a:t>
            </a:r>
          </a:p>
        </p:txBody>
      </p:sp>
      <p:sp>
        <p:nvSpPr>
          <p:cNvPr id="3" name="Content Placeholder 2">
            <a:extLst>
              <a:ext uri="{FF2B5EF4-FFF2-40B4-BE49-F238E27FC236}">
                <a16:creationId xmlns:a16="http://schemas.microsoft.com/office/drawing/2014/main" id="{8D95E950-B2AD-4830-ADCE-0C6C6FAD1C74}"/>
              </a:ext>
            </a:extLst>
          </p:cNvPr>
          <p:cNvSpPr>
            <a:spLocks noGrp="1"/>
          </p:cNvSpPr>
          <p:nvPr>
            <p:ph idx="1"/>
          </p:nvPr>
        </p:nvSpPr>
        <p:spPr/>
        <p:txBody>
          <a:bodyPr>
            <a:normAutofit/>
          </a:bodyPr>
          <a:lstStyle/>
          <a:p>
            <a:r>
              <a:rPr lang="en-US" sz="2000" dirty="0"/>
              <a:t>Data preprocessing using Sci-kit </a:t>
            </a:r>
            <a:r>
              <a:rPr lang="en-US" sz="2000" dirty="0" err="1"/>
              <a:t>learn’s</a:t>
            </a:r>
            <a:r>
              <a:rPr lang="en-US" sz="2000" dirty="0"/>
              <a:t> </a:t>
            </a:r>
            <a:r>
              <a:rPr lang="en-US" sz="2000" b="1" dirty="0" err="1"/>
              <a:t>LabelEncoder</a:t>
            </a:r>
            <a:r>
              <a:rPr lang="en-US" sz="2000" dirty="0"/>
              <a:t> and </a:t>
            </a:r>
            <a:r>
              <a:rPr lang="en-US" sz="2000" b="1" dirty="0" err="1"/>
              <a:t>OneHotEncoder</a:t>
            </a:r>
            <a:r>
              <a:rPr lang="en-US" sz="2000" dirty="0"/>
              <a:t> class.</a:t>
            </a:r>
          </a:p>
          <a:p>
            <a:r>
              <a:rPr lang="en-US" sz="2000" dirty="0"/>
              <a:t>Cross validation using Sci-kit </a:t>
            </a:r>
            <a:r>
              <a:rPr lang="en-US" sz="2000" dirty="0" err="1"/>
              <a:t>learn’s</a:t>
            </a:r>
            <a:r>
              <a:rPr lang="en-US" sz="2000" dirty="0"/>
              <a:t> </a:t>
            </a:r>
            <a:r>
              <a:rPr lang="en-US" sz="2000" b="1" dirty="0" err="1"/>
              <a:t>train_test_split</a:t>
            </a:r>
            <a:r>
              <a:rPr lang="en-US" sz="2000" b="1" dirty="0"/>
              <a:t> </a:t>
            </a:r>
            <a:r>
              <a:rPr lang="en-US" sz="2000" dirty="0"/>
              <a:t>class.</a:t>
            </a:r>
          </a:p>
          <a:p>
            <a:r>
              <a:rPr lang="en-US" sz="2000" dirty="0"/>
              <a:t>Feature scaling using Sci-kit </a:t>
            </a:r>
            <a:r>
              <a:rPr lang="en-US" sz="2000" dirty="0" err="1"/>
              <a:t>learn’s</a:t>
            </a:r>
            <a:r>
              <a:rPr lang="en-US" sz="2000" dirty="0"/>
              <a:t> </a:t>
            </a:r>
            <a:r>
              <a:rPr lang="en-US" sz="2000" b="1" dirty="0" err="1"/>
              <a:t>StandardScaler</a:t>
            </a:r>
            <a:r>
              <a:rPr lang="en-US" sz="2000" dirty="0"/>
              <a:t> class.</a:t>
            </a:r>
          </a:p>
          <a:p>
            <a:r>
              <a:rPr lang="en-US" sz="2000" dirty="0"/>
              <a:t>Built the ANN using the </a:t>
            </a:r>
            <a:r>
              <a:rPr lang="en-US" sz="2000" b="1" dirty="0" err="1"/>
              <a:t>Keras.models.Sequential</a:t>
            </a:r>
            <a:r>
              <a:rPr lang="en-US" sz="2000" b="1" dirty="0"/>
              <a:t> </a:t>
            </a:r>
            <a:r>
              <a:rPr lang="en-US" sz="2000" dirty="0"/>
              <a:t>functional API and </a:t>
            </a:r>
            <a:r>
              <a:rPr lang="en-US" sz="2000" b="1" dirty="0" err="1"/>
              <a:t>Keras.layers.Dense</a:t>
            </a:r>
            <a:r>
              <a:rPr lang="en-US" sz="2000" b="1" dirty="0"/>
              <a:t> </a:t>
            </a:r>
            <a:r>
              <a:rPr lang="en-US" sz="2000" dirty="0"/>
              <a:t>class. </a:t>
            </a:r>
          </a:p>
          <a:p>
            <a:r>
              <a:rPr lang="en-US" sz="2000" dirty="0"/>
              <a:t>Evaluated the training results </a:t>
            </a:r>
          </a:p>
          <a:p>
            <a:r>
              <a:rPr lang="en-US" sz="2000" dirty="0"/>
              <a:t>Tested the model on a test set</a:t>
            </a:r>
          </a:p>
          <a:p>
            <a:r>
              <a:rPr lang="en-US" sz="2000" dirty="0"/>
              <a:t>Evaluated the test set performance using the </a:t>
            </a:r>
            <a:r>
              <a:rPr lang="en-US" sz="2000" b="1" dirty="0" err="1"/>
              <a:t>confusion_matrix</a:t>
            </a:r>
            <a:r>
              <a:rPr lang="en-US" sz="2000" b="1" dirty="0"/>
              <a:t> </a:t>
            </a:r>
            <a:r>
              <a:rPr lang="en-US" sz="2000" dirty="0"/>
              <a:t>class </a:t>
            </a:r>
          </a:p>
          <a:p>
            <a:r>
              <a:rPr lang="en-US" sz="2000" dirty="0"/>
              <a:t>Plotted and Saved the model using Keras </a:t>
            </a:r>
            <a:r>
              <a:rPr lang="en-US" sz="2000" b="1" dirty="0" err="1"/>
              <a:t>plot_model</a:t>
            </a:r>
            <a:r>
              <a:rPr lang="en-US" sz="2000" b="1" dirty="0"/>
              <a:t>() </a:t>
            </a:r>
            <a:r>
              <a:rPr lang="en-US" sz="2000" dirty="0"/>
              <a:t>and </a:t>
            </a:r>
            <a:r>
              <a:rPr lang="en-US" sz="2000" b="1" dirty="0" err="1"/>
              <a:t>to_json</a:t>
            </a:r>
            <a:r>
              <a:rPr lang="en-US" sz="2000" b="1" dirty="0"/>
              <a:t>() </a:t>
            </a:r>
            <a:r>
              <a:rPr lang="en-US" sz="2000" dirty="0"/>
              <a:t>methods</a:t>
            </a:r>
          </a:p>
          <a:p>
            <a:r>
              <a:rPr lang="en-US" sz="2000" dirty="0"/>
              <a:t>Loaded the model using Keras </a:t>
            </a:r>
            <a:r>
              <a:rPr lang="en-US" sz="2000" b="1" dirty="0" err="1"/>
              <a:t>model_from_json</a:t>
            </a:r>
            <a:r>
              <a:rPr lang="en-US" sz="2000" b="1" dirty="0"/>
              <a:t>() </a:t>
            </a:r>
            <a:r>
              <a:rPr lang="en-US" sz="2000" dirty="0"/>
              <a:t>and </a:t>
            </a:r>
            <a:r>
              <a:rPr lang="en-US" sz="2000" b="1" dirty="0" err="1"/>
              <a:t>load_weights</a:t>
            </a:r>
            <a:r>
              <a:rPr lang="en-US" sz="2000" b="1" dirty="0"/>
              <a:t>() </a:t>
            </a:r>
            <a:r>
              <a:rPr lang="en-US" sz="2000" dirty="0"/>
              <a:t>method.</a:t>
            </a:r>
          </a:p>
        </p:txBody>
      </p:sp>
    </p:spTree>
    <p:extLst>
      <p:ext uri="{BB962C8B-B14F-4D97-AF65-F5344CB8AC3E}">
        <p14:creationId xmlns:p14="http://schemas.microsoft.com/office/powerpoint/2010/main" val="16990305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79E37-085E-4406-B1D9-11523EE3F695}"/>
              </a:ext>
            </a:extLst>
          </p:cNvPr>
          <p:cNvSpPr>
            <a:spLocks noGrp="1"/>
          </p:cNvSpPr>
          <p:nvPr>
            <p:ph type="title"/>
          </p:nvPr>
        </p:nvSpPr>
        <p:spPr/>
        <p:txBody>
          <a:bodyPr/>
          <a:lstStyle/>
          <a:p>
            <a:pPr algn="ctr"/>
            <a:r>
              <a:rPr lang="en-US" dirty="0"/>
              <a:t>Home work</a:t>
            </a:r>
          </a:p>
        </p:txBody>
      </p:sp>
      <p:sp>
        <p:nvSpPr>
          <p:cNvPr id="3" name="Content Placeholder 2">
            <a:extLst>
              <a:ext uri="{FF2B5EF4-FFF2-40B4-BE49-F238E27FC236}">
                <a16:creationId xmlns:a16="http://schemas.microsoft.com/office/drawing/2014/main" id="{84D54D08-031F-4741-B86A-A9EF24D24626}"/>
              </a:ext>
            </a:extLst>
          </p:cNvPr>
          <p:cNvSpPr>
            <a:spLocks noGrp="1"/>
          </p:cNvSpPr>
          <p:nvPr>
            <p:ph idx="1"/>
          </p:nvPr>
        </p:nvSpPr>
        <p:spPr/>
        <p:txBody>
          <a:bodyPr>
            <a:normAutofit/>
          </a:bodyPr>
          <a:lstStyle/>
          <a:p>
            <a:pPr marL="0" indent="0">
              <a:buNone/>
            </a:pPr>
            <a:r>
              <a:rPr lang="en-US" sz="2000" dirty="0"/>
              <a:t>On your own, try to make a single prediction (on one customer) using the deep learning model you built. </a:t>
            </a:r>
          </a:p>
        </p:txBody>
      </p:sp>
    </p:spTree>
    <p:extLst>
      <p:ext uri="{BB962C8B-B14F-4D97-AF65-F5344CB8AC3E}">
        <p14:creationId xmlns:p14="http://schemas.microsoft.com/office/powerpoint/2010/main" val="20340179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E7ABE-466B-4BF7-8577-D964F71FFF52}"/>
              </a:ext>
            </a:extLst>
          </p:cNvPr>
          <p:cNvSpPr>
            <a:spLocks noGrp="1"/>
          </p:cNvSpPr>
          <p:nvPr>
            <p:ph type="title"/>
          </p:nvPr>
        </p:nvSpPr>
        <p:spPr/>
        <p:txBody>
          <a:bodyPr/>
          <a:lstStyle/>
          <a:p>
            <a:pPr algn="ctr"/>
            <a:r>
              <a:rPr lang="en-US" dirty="0"/>
              <a:t>Future work</a:t>
            </a:r>
          </a:p>
        </p:txBody>
      </p:sp>
      <p:sp>
        <p:nvSpPr>
          <p:cNvPr id="3" name="Content Placeholder 2">
            <a:extLst>
              <a:ext uri="{FF2B5EF4-FFF2-40B4-BE49-F238E27FC236}">
                <a16:creationId xmlns:a16="http://schemas.microsoft.com/office/drawing/2014/main" id="{4D7FB08D-42A7-4883-BA86-C45066EB469A}"/>
              </a:ext>
            </a:extLst>
          </p:cNvPr>
          <p:cNvSpPr>
            <a:spLocks noGrp="1"/>
          </p:cNvSpPr>
          <p:nvPr>
            <p:ph idx="1"/>
          </p:nvPr>
        </p:nvSpPr>
        <p:spPr/>
        <p:txBody>
          <a:bodyPr>
            <a:normAutofit/>
          </a:bodyPr>
          <a:lstStyle/>
          <a:p>
            <a:r>
              <a:rPr lang="en-US" sz="2000" dirty="0"/>
              <a:t>Try training the model for more epochs. Does this improve accuracy?</a:t>
            </a:r>
          </a:p>
          <a:p>
            <a:r>
              <a:rPr lang="en-US" sz="2000" dirty="0"/>
              <a:t>Try to improve the models performance by looking into regularization techniques e.g. Dropout.</a:t>
            </a:r>
          </a:p>
          <a:p>
            <a:r>
              <a:rPr lang="en-US" sz="2000" dirty="0"/>
              <a:t>Build a regression model using Keras!</a:t>
            </a:r>
          </a:p>
          <a:p>
            <a:r>
              <a:rPr lang="en-US" sz="2000" dirty="0"/>
              <a:t>Keras has multiple layers for Computer vision and Natural language tasks; try to implement a project in one of these applied areas</a:t>
            </a:r>
          </a:p>
          <a:p>
            <a:r>
              <a:rPr lang="en-US" sz="2000" dirty="0"/>
              <a:t>Further reading on the theoretical concepts behind deep learning.</a:t>
            </a:r>
          </a:p>
          <a:p>
            <a:pPr marL="0" indent="0">
              <a:buNone/>
            </a:pPr>
            <a:endParaRPr lang="en-US" sz="2000" dirty="0"/>
          </a:p>
          <a:p>
            <a:pPr marL="0" indent="0">
              <a:buNone/>
            </a:pPr>
            <a:r>
              <a:rPr lang="en-US" sz="2000" dirty="0"/>
              <a:t>Recommended Book on Deep learning with Python; </a:t>
            </a:r>
          </a:p>
          <a:p>
            <a:r>
              <a:rPr lang="en-US" sz="2000" dirty="0"/>
              <a:t>Deep learning with Python by François </a:t>
            </a:r>
            <a:r>
              <a:rPr lang="en-US" sz="2000" dirty="0" err="1"/>
              <a:t>Chollet</a:t>
            </a:r>
            <a:endParaRPr lang="en-US" sz="2000" dirty="0"/>
          </a:p>
        </p:txBody>
      </p:sp>
    </p:spTree>
    <p:extLst>
      <p:ext uri="{BB962C8B-B14F-4D97-AF65-F5344CB8AC3E}">
        <p14:creationId xmlns:p14="http://schemas.microsoft.com/office/powerpoint/2010/main" val="37365540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4FC3C-5481-49AD-B3D0-0C4732618B15}"/>
              </a:ext>
            </a:extLst>
          </p:cNvPr>
          <p:cNvSpPr>
            <a:spLocks noGrp="1"/>
          </p:cNvSpPr>
          <p:nvPr>
            <p:ph type="title"/>
          </p:nvPr>
        </p:nvSpPr>
        <p:spPr>
          <a:xfrm>
            <a:off x="958121" y="2538699"/>
            <a:ext cx="10515600" cy="1325563"/>
          </a:xfrm>
        </p:spPr>
        <p:txBody>
          <a:bodyPr/>
          <a:lstStyle/>
          <a:p>
            <a:pPr algn="ctr"/>
            <a:r>
              <a:rPr lang="en-US" dirty="0"/>
              <a:t>Thank you and Goodluck!</a:t>
            </a:r>
          </a:p>
        </p:txBody>
      </p:sp>
    </p:spTree>
    <p:extLst>
      <p:ext uri="{BB962C8B-B14F-4D97-AF65-F5344CB8AC3E}">
        <p14:creationId xmlns:p14="http://schemas.microsoft.com/office/powerpoint/2010/main" val="7485495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22646</TotalTime>
  <Words>4631</Words>
  <Application>Microsoft Office PowerPoint</Application>
  <PresentationFormat>Widescreen</PresentationFormat>
  <Paragraphs>467</Paragraphs>
  <Slides>68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68</vt:i4>
      </vt:variant>
    </vt:vector>
  </HeadingPairs>
  <TitlesOfParts>
    <vt:vector size="74" baseType="lpstr">
      <vt:lpstr>Arial</vt:lpstr>
      <vt:lpstr>Calibri</vt:lpstr>
      <vt:lpstr>Calibri Light</vt:lpstr>
      <vt:lpstr>Cambria Math</vt:lpstr>
      <vt:lpstr>Times New Roman</vt:lpstr>
      <vt:lpstr>Office Theme</vt:lpstr>
      <vt:lpstr>Getting Started with Deep Learning using Keras </vt:lpstr>
      <vt:lpstr>Outline </vt:lpstr>
      <vt:lpstr>Outline</vt:lpstr>
      <vt:lpstr>Theory Session </vt:lpstr>
      <vt:lpstr>Introduction</vt:lpstr>
      <vt:lpstr>What is Deep Learning?</vt:lpstr>
      <vt:lpstr>Deep Neural Network Architecture</vt:lpstr>
      <vt:lpstr>Applying Deep Neural Nets</vt:lpstr>
      <vt:lpstr>How do neural networks work?</vt:lpstr>
      <vt:lpstr>How do Neural Networks work?</vt:lpstr>
      <vt:lpstr>How do Neural Networks work?</vt:lpstr>
      <vt:lpstr>How do Neural Networks work?</vt:lpstr>
      <vt:lpstr>How do Neural Networks work?</vt:lpstr>
      <vt:lpstr>How do Neural Networks work?</vt:lpstr>
      <vt:lpstr>Activation functions and output nodes </vt:lpstr>
      <vt:lpstr>Activation functions</vt:lpstr>
      <vt:lpstr>How do Neural Networks Learn?</vt:lpstr>
      <vt:lpstr>How do Neural Networks Learn?</vt:lpstr>
      <vt:lpstr>Cost functions </vt:lpstr>
      <vt:lpstr>Backpropagation</vt:lpstr>
      <vt:lpstr>Backpropagation</vt:lpstr>
      <vt:lpstr>Backpropagation</vt:lpstr>
      <vt:lpstr>Backpropagation</vt:lpstr>
      <vt:lpstr>Backpropagation</vt:lpstr>
      <vt:lpstr>Backpropagation</vt:lpstr>
      <vt:lpstr>Backpropagation</vt:lpstr>
      <vt:lpstr>Backpropagation</vt:lpstr>
      <vt:lpstr>Gradient Descent </vt:lpstr>
      <vt:lpstr>Gradient Descent </vt:lpstr>
      <vt:lpstr>Gradient Descent </vt:lpstr>
      <vt:lpstr>How do Neural Networks learn? Revisited</vt:lpstr>
      <vt:lpstr>Modern practices in deep learning</vt:lpstr>
      <vt:lpstr>Deep learning and hardware requirements</vt:lpstr>
      <vt:lpstr>Limitations of Deep learning </vt:lpstr>
      <vt:lpstr>Theory Session Recap</vt:lpstr>
      <vt:lpstr>Further reading </vt:lpstr>
      <vt:lpstr>Practical Session</vt:lpstr>
      <vt:lpstr>Outline</vt:lpstr>
      <vt:lpstr>About Keras</vt:lpstr>
      <vt:lpstr>Data Preprocessing  Churn Modelling Dataset</vt:lpstr>
      <vt:lpstr>Data Preprocessing </vt:lpstr>
      <vt:lpstr>Data Preprocessing  Independent variables for training</vt:lpstr>
      <vt:lpstr>Data Preprocessing  Identifying and handling labels and categories</vt:lpstr>
      <vt:lpstr>Data Preprocessing </vt:lpstr>
      <vt:lpstr>Data Preprocessing  Why do we need to one-hot encode?</vt:lpstr>
      <vt:lpstr>Data Preprocessing </vt:lpstr>
      <vt:lpstr>Data Preprocessing  The Dummy variable trap</vt:lpstr>
      <vt:lpstr>Data Preprocessing  Cross validation</vt:lpstr>
      <vt:lpstr>Data Preprocessing  Feature scaling </vt:lpstr>
      <vt:lpstr>Data preprocessing (Recap)</vt:lpstr>
      <vt:lpstr>Building the ANN</vt:lpstr>
      <vt:lpstr>Building the ANN</vt:lpstr>
      <vt:lpstr>Building the ANN</vt:lpstr>
      <vt:lpstr>Building the ANN</vt:lpstr>
      <vt:lpstr>Building the ANN</vt:lpstr>
      <vt:lpstr>Training the ANN</vt:lpstr>
      <vt:lpstr>Training the ANN</vt:lpstr>
      <vt:lpstr>Training results </vt:lpstr>
      <vt:lpstr>Testing the ANN</vt:lpstr>
      <vt:lpstr>Testing the ANN Confusion matrix</vt:lpstr>
      <vt:lpstr>Testing the ANN ...more on the confusion matrix</vt:lpstr>
      <vt:lpstr>Plotting and Saving Keras model</vt:lpstr>
      <vt:lpstr>Plotting and Saving Keras model</vt:lpstr>
      <vt:lpstr>Loading Keras model (From disk)</vt:lpstr>
      <vt:lpstr>Practical Session Recap</vt:lpstr>
      <vt:lpstr>Home work</vt:lpstr>
      <vt:lpstr>Future work</vt:lpstr>
      <vt:lpstr>Thank you and Goodluck!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Getting Started with Deep Learning using Keras</dc:title>
  <dc:creator>Ugot</dc:creator>
  <cp:lastModifiedBy>Ugot</cp:lastModifiedBy>
  <cp:revision>287</cp:revision>
  <dcterms:created xsi:type="dcterms:W3CDTF">2018-07-26T13:41:07Z</dcterms:created>
  <dcterms:modified xsi:type="dcterms:W3CDTF">2018-09-03T01:23:26Z</dcterms:modified>
</cp:coreProperties>
</file>